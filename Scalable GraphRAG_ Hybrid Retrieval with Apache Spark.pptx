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Lst>
  <p:notesMasterIdLst>
    <p:notesMasterId r:id="rId3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88" r:id="rId16"/>
    <p:sldId id="289" r:id="rId17"/>
    <p:sldId id="290" r:id="rId18"/>
    <p:sldId id="293" r:id="rId19"/>
    <p:sldId id="292"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Lst>
  <p:sldSz cx="16256000" cy="9144000"/>
  <p:notesSz cx="9144000" cy="16256000"/>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11"/>
    <p:restoredTop sz="94610"/>
  </p:normalViewPr>
  <p:slideViewPr>
    <p:cSldViewPr snapToGrid="0" snapToObjects="1">
      <p:cViewPr varScale="1">
        <p:scale>
          <a:sx n="70" d="100"/>
          <a:sy n="70" d="100"/>
        </p:scale>
        <p:origin x="208" y="8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1"/>
  <c:style val="2"/>
  <c:chart>
    <c:autoTitleDeleted val="1"/>
    <c:plotArea>
      <c:layout/>
      <c:doughnutChart>
        <c:varyColors val="1"/>
        <c:ser>
          <c:idx val="0"/>
          <c:order val="0"/>
          <c:tx>
            <c:strRef>
              <c:f>sheet</c:f>
              <c:strCache>
                <c:ptCount val="1"/>
                <c:pt idx="0">
                  <c:v>value</c:v>
                </c:pt>
              </c:strCache>
            </c:strRef>
          </c:tx>
          <c:spPr>
            <a:solidFill>
              <a:schemeClr val="accent1"/>
            </a:solidFill>
            <a:ln w="9525" cap="flat">
              <a:solidFill>
                <a:srgbClr val="F9F9F9"/>
              </a:solidFill>
              <a:prstDash val="solid"/>
              <a:round/>
            </a:ln>
            <a:effectLst/>
          </c:spPr>
          <c:dPt>
            <c:idx val="0"/>
            <c:bubble3D val="0"/>
            <c:spPr>
              <a:solidFill>
                <a:srgbClr val="1A4A7A"/>
              </a:solidFill>
              <a:effectLst/>
            </c:spPr>
            <c:extLst>
              <c:ext xmlns:c16="http://schemas.microsoft.com/office/drawing/2014/chart" uri="{C3380CC4-5D6E-409C-BE32-E72D297353CC}">
                <c16:uniqueId val="{00000001-18FA-5241-8D54-848ED5CC1550}"/>
              </c:ext>
            </c:extLst>
          </c:dPt>
          <c:dPt>
            <c:idx val="1"/>
            <c:bubble3D val="0"/>
            <c:spPr>
              <a:solidFill>
                <a:srgbClr val="5B9BD5"/>
              </a:solidFill>
              <a:effectLst/>
            </c:spPr>
            <c:extLst>
              <c:ext xmlns:c16="http://schemas.microsoft.com/office/drawing/2014/chart" uri="{C3380CC4-5D6E-409C-BE32-E72D297353CC}">
                <c16:uniqueId val="{00000003-18FA-5241-8D54-848ED5CC1550}"/>
              </c:ext>
            </c:extLst>
          </c:dPt>
          <c:dLbls>
            <c:dLbl>
              <c:idx val="0"/>
              <c:numFmt formatCode="0%" sourceLinked="0"/>
              <c:spPr/>
              <c:txPr>
                <a:bodyPr/>
                <a:lstStyle/>
                <a:p>
                  <a:pPr>
                    <a:defRPr sz="1200" b="0" i="0" u="none" strike="noStrike">
                      <a:solidFill>
                        <a:srgbClr val="000000"/>
                      </a:solidFill>
                      <a:latin typeface="Arial"/>
                    </a:defRPr>
                  </a:pPr>
                  <a:endParaRPr lang="zh-HK"/>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8FA-5241-8D54-848ED5CC1550}"/>
                </c:ext>
              </c:extLst>
            </c:dLbl>
            <c:dLbl>
              <c:idx val="1"/>
              <c:numFmt formatCode="0%" sourceLinked="0"/>
              <c:spPr/>
              <c:txPr>
                <a:bodyPr/>
                <a:lstStyle/>
                <a:p>
                  <a:pPr>
                    <a:defRPr sz="1200" b="0" i="0" u="none" strike="noStrike">
                      <a:solidFill>
                        <a:srgbClr val="000000"/>
                      </a:solidFill>
                      <a:latin typeface="Arial"/>
                    </a:defRPr>
                  </a:pPr>
                  <a:endParaRPr lang="zh-HK"/>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18FA-5241-8D54-848ED5CC1550}"/>
                </c:ext>
              </c:extLst>
            </c:dLbl>
            <c:numFmt formatCode="0%" sourceLinked="0"/>
            <c:spPr>
              <a:noFill/>
              <a:ln>
                <a:noFill/>
              </a:ln>
              <a:effectLst/>
            </c:spPr>
            <c:txPr>
              <a:bodyPr/>
              <a:lstStyle/>
              <a:p>
                <a:pPr>
                  <a:defRPr sz="1800" b="0" i="0" u="none" strike="noStrike">
                    <a:solidFill>
                      <a:srgbClr val="000000"/>
                    </a:solidFill>
                    <a:latin typeface="Arial"/>
                  </a:defRPr>
                </a:pPr>
                <a:endParaRPr lang="zh-HK"/>
              </a:p>
            </c:txPr>
            <c:showLegendKey val="0"/>
            <c:showVal val="0"/>
            <c:showCatName val="1"/>
            <c:showSerName val="0"/>
            <c:showPercent val="1"/>
            <c:showBubbleSize val="0"/>
            <c:showLeaderLines val="0"/>
            <c:extLst>
              <c:ext xmlns:c15="http://schemas.microsoft.com/office/drawing/2012/chart" uri="{CE6537A1-D6FC-4f65-9D91-7224C49458BB}"/>
            </c:extLst>
          </c:dLbls>
          <c:cat>
            <c:strRef>
              <c:f>sheet</c:f>
              <c:strCache>
                <c:ptCount val="2"/>
                <c:pt idx="0">
                  <c:v>DBpedia Structured</c:v>
                </c:pt>
                <c:pt idx="1">
                  <c:v>Text Extraction</c:v>
                </c:pt>
              </c:strCache>
            </c:strRef>
          </c:cat>
          <c:val>
            <c:numRef>
              <c:f>sheet</c:f>
              <c:numCache>
                <c:formatCode>General</c:formatCode>
                <c:ptCount val="2"/>
                <c:pt idx="0">
                  <c:v>99.082999999999998</c:v>
                </c:pt>
                <c:pt idx="1">
                  <c:v>15.813000000000001</c:v>
                </c:pt>
              </c:numCache>
            </c:numRef>
          </c:val>
          <c:extLst>
            <c:ext xmlns:c16="http://schemas.microsoft.com/office/drawing/2014/chart" uri="{C3380CC4-5D6E-409C-BE32-E72D297353CC}">
              <c16:uniqueId val="{00000004-18FA-5241-8D54-848ED5CC1550}"/>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legend>
    <c:plotVisOnly val="1"/>
    <c:dispBlanksAs val="span"/>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4/28/26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lide Image Placeholder 1"/>
          <p:cNvSpPr>
            <a:spLocks noGrp="1" noRot="1" noChangeAspect="1"/>
          </p:cNvSpPr>
          <p:nvPr>
            <p:ph type="sldImg"/>
          </p:nvPr>
        </p:nvSpPr>
        <p:spPr/>
        <p:txBody>
          <a:bodyPr/>
          <a:lstStyle/>
          <a:p>
            <a:endParaRPr/>
          </a:p>
        </p:txBody>
      </p:sp>
      <p:sp>
        <p:nvSpPr>
          <p:cNvPr id="43" name="Notes Placeholder 2"/>
          <p:cNvSpPr>
            <a:spLocks noGrp="1"/>
          </p:cNvSpPr>
          <p:nvPr>
            <p:ph type="body" idx="1"/>
          </p:nvPr>
        </p:nvSpPr>
        <p:spPr/>
        <p:txBody>
          <a:bodyPr/>
          <a:lstStyle/>
          <a:p>
            <a:endParaRPr lang="en-US" dirty="0"/>
          </a:p>
        </p:txBody>
      </p:sp>
      <p:sp>
        <p:nvSpPr>
          <p:cNvPr id="4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lide Image Placeholder 1"/>
          <p:cNvSpPr>
            <a:spLocks noGrp="1" noRot="1" noChangeAspect="1"/>
          </p:cNvSpPr>
          <p:nvPr>
            <p:ph type="sldImg"/>
          </p:nvPr>
        </p:nvSpPr>
        <p:spPr/>
        <p:txBody>
          <a:bodyPr/>
          <a:lstStyle/>
          <a:p>
            <a:endParaRPr/>
          </a:p>
        </p:txBody>
      </p:sp>
      <p:sp>
        <p:nvSpPr>
          <p:cNvPr id="85" name="Notes Placeholder 2"/>
          <p:cNvSpPr>
            <a:spLocks noGrp="1"/>
          </p:cNvSpPr>
          <p:nvPr>
            <p:ph type="body" idx="1"/>
          </p:nvPr>
        </p:nvSpPr>
        <p:spPr/>
        <p:txBody>
          <a:bodyPr/>
          <a:lstStyle/>
          <a:p>
            <a:endParaRPr lang="en-US" dirty="0"/>
          </a:p>
        </p:txBody>
      </p:sp>
      <p:sp>
        <p:nvSpPr>
          <p:cNvPr id="86"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Slide Image Placeholder 1"/>
          <p:cNvSpPr>
            <a:spLocks noGrp="1" noRot="1" noChangeAspect="1"/>
          </p:cNvSpPr>
          <p:nvPr>
            <p:ph type="sldImg"/>
          </p:nvPr>
        </p:nvSpPr>
        <p:spPr/>
        <p:txBody>
          <a:bodyPr/>
          <a:lstStyle/>
          <a:p>
            <a:endParaRPr/>
          </a:p>
        </p:txBody>
      </p:sp>
      <p:sp>
        <p:nvSpPr>
          <p:cNvPr id="103" name="Notes Placeholder 2"/>
          <p:cNvSpPr>
            <a:spLocks noGrp="1"/>
          </p:cNvSpPr>
          <p:nvPr>
            <p:ph type="body" idx="1"/>
          </p:nvPr>
        </p:nvSpPr>
        <p:spPr/>
        <p:txBody>
          <a:bodyPr/>
          <a:lstStyle/>
          <a:p>
            <a:endParaRPr lang="en-US" dirty="0"/>
          </a:p>
        </p:txBody>
      </p:sp>
      <p:sp>
        <p:nvSpPr>
          <p:cNvPr id="10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Slide Image Placeholder 1"/>
          <p:cNvSpPr>
            <a:spLocks noGrp="1" noRot="1" noChangeAspect="1"/>
          </p:cNvSpPr>
          <p:nvPr>
            <p:ph type="sldImg"/>
          </p:nvPr>
        </p:nvSpPr>
        <p:spPr/>
        <p:txBody>
          <a:bodyPr/>
          <a:lstStyle/>
          <a:p>
            <a:endParaRPr/>
          </a:p>
        </p:txBody>
      </p:sp>
      <p:sp>
        <p:nvSpPr>
          <p:cNvPr id="107" name="Notes Placeholder 2"/>
          <p:cNvSpPr>
            <a:spLocks noGrp="1"/>
          </p:cNvSpPr>
          <p:nvPr>
            <p:ph type="body" idx="1"/>
          </p:nvPr>
        </p:nvSpPr>
        <p:spPr/>
        <p:txBody>
          <a:bodyPr/>
          <a:lstStyle/>
          <a:p>
            <a:endParaRPr lang="en-US" dirty="0"/>
          </a:p>
        </p:txBody>
      </p:sp>
      <p:sp>
        <p:nvSpPr>
          <p:cNvPr id="108"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Slide Image Placeholder 1"/>
          <p:cNvSpPr>
            <a:spLocks noGrp="1" noRot="1" noChangeAspect="1"/>
          </p:cNvSpPr>
          <p:nvPr>
            <p:ph type="sldImg"/>
          </p:nvPr>
        </p:nvSpPr>
        <p:spPr/>
        <p:txBody>
          <a:bodyPr/>
          <a:lstStyle/>
          <a:p>
            <a:endParaRPr/>
          </a:p>
        </p:txBody>
      </p:sp>
      <p:sp>
        <p:nvSpPr>
          <p:cNvPr id="111" name="Notes Placeholder 2"/>
          <p:cNvSpPr>
            <a:spLocks noGrp="1"/>
          </p:cNvSpPr>
          <p:nvPr>
            <p:ph type="body" idx="1"/>
          </p:nvPr>
        </p:nvSpPr>
        <p:spPr/>
        <p:txBody>
          <a:bodyPr/>
          <a:lstStyle/>
          <a:p>
            <a:endParaRPr lang="en-US" dirty="0"/>
          </a:p>
        </p:txBody>
      </p:sp>
      <p:sp>
        <p:nvSpPr>
          <p:cNvPr id="112"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Slide Image Placeholder 1"/>
          <p:cNvSpPr>
            <a:spLocks noGrp="1" noRot="1" noChangeAspect="1"/>
          </p:cNvSpPr>
          <p:nvPr>
            <p:ph type="sldImg"/>
          </p:nvPr>
        </p:nvSpPr>
        <p:spPr/>
        <p:txBody>
          <a:bodyPr/>
          <a:lstStyle/>
          <a:p>
            <a:endParaRPr/>
          </a:p>
        </p:txBody>
      </p:sp>
      <p:sp>
        <p:nvSpPr>
          <p:cNvPr id="115" name="Notes Placeholder 2"/>
          <p:cNvSpPr>
            <a:spLocks noGrp="1"/>
          </p:cNvSpPr>
          <p:nvPr>
            <p:ph type="body" idx="1"/>
          </p:nvPr>
        </p:nvSpPr>
        <p:spPr/>
        <p:txBody>
          <a:bodyPr/>
          <a:lstStyle/>
          <a:p>
            <a:endParaRPr lang="en-US" dirty="0"/>
          </a:p>
        </p:txBody>
      </p:sp>
      <p:sp>
        <p:nvSpPr>
          <p:cNvPr id="116"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Slide Image Placeholder 1"/>
          <p:cNvSpPr>
            <a:spLocks noGrp="1" noRot="1" noChangeAspect="1"/>
          </p:cNvSpPr>
          <p:nvPr>
            <p:ph type="sldImg"/>
          </p:nvPr>
        </p:nvSpPr>
        <p:spPr/>
        <p:txBody>
          <a:bodyPr/>
          <a:lstStyle/>
          <a:p>
            <a:endParaRPr/>
          </a:p>
        </p:txBody>
      </p:sp>
      <p:sp>
        <p:nvSpPr>
          <p:cNvPr id="119" name="Notes Placeholder 2"/>
          <p:cNvSpPr>
            <a:spLocks noGrp="1"/>
          </p:cNvSpPr>
          <p:nvPr>
            <p:ph type="body" idx="1"/>
          </p:nvPr>
        </p:nvSpPr>
        <p:spPr/>
        <p:txBody>
          <a:bodyPr/>
          <a:lstStyle/>
          <a:p>
            <a:endParaRPr lang="en-US" dirty="0"/>
          </a:p>
        </p:txBody>
      </p:sp>
      <p:sp>
        <p:nvSpPr>
          <p:cNvPr id="120"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lide Image Placeholder 1"/>
          <p:cNvSpPr>
            <a:spLocks noGrp="1" noRot="1" noChangeAspect="1"/>
          </p:cNvSpPr>
          <p:nvPr>
            <p:ph type="sldImg"/>
          </p:nvPr>
        </p:nvSpPr>
        <p:spPr/>
        <p:txBody>
          <a:bodyPr/>
          <a:lstStyle/>
          <a:p>
            <a:endParaRPr/>
          </a:p>
        </p:txBody>
      </p:sp>
      <p:sp>
        <p:nvSpPr>
          <p:cNvPr id="123" name="Notes Placeholder 2"/>
          <p:cNvSpPr>
            <a:spLocks noGrp="1"/>
          </p:cNvSpPr>
          <p:nvPr>
            <p:ph type="body" idx="1"/>
          </p:nvPr>
        </p:nvSpPr>
        <p:spPr/>
        <p:txBody>
          <a:bodyPr/>
          <a:lstStyle/>
          <a:p>
            <a:endParaRPr lang="en-US" dirty="0"/>
          </a:p>
        </p:txBody>
      </p:sp>
      <p:sp>
        <p:nvSpPr>
          <p:cNvPr id="12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Image Placeholder 1"/>
          <p:cNvSpPr>
            <a:spLocks noGrp="1" noRot="1" noChangeAspect="1"/>
          </p:cNvSpPr>
          <p:nvPr>
            <p:ph type="sldImg"/>
          </p:nvPr>
        </p:nvSpPr>
        <p:spPr/>
        <p:txBody>
          <a:bodyPr/>
          <a:lstStyle/>
          <a:p>
            <a:endParaRPr/>
          </a:p>
        </p:txBody>
      </p:sp>
      <p:sp>
        <p:nvSpPr>
          <p:cNvPr id="7" name="Notes Placeholder 2"/>
          <p:cNvSpPr>
            <a:spLocks noGrp="1"/>
          </p:cNvSpPr>
          <p:nvPr>
            <p:ph type="body" idx="1"/>
          </p:nvPr>
        </p:nvSpPr>
        <p:spPr/>
        <p:txBody>
          <a:bodyPr/>
          <a:lstStyle/>
          <a:p>
            <a:endParaRPr lang="en-US" dirty="0"/>
          </a:p>
        </p:txBody>
      </p:sp>
      <p:sp>
        <p:nvSpPr>
          <p:cNvPr id="8"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Image Placeholder 1"/>
          <p:cNvSpPr>
            <a:spLocks noGrp="1" noRot="1" noChangeAspect="1"/>
          </p:cNvSpPr>
          <p:nvPr>
            <p:ph type="sldImg"/>
          </p:nvPr>
        </p:nvSpPr>
        <p:spPr/>
        <p:txBody>
          <a:bodyPr/>
          <a:lstStyle/>
          <a:p>
            <a:endParaRPr/>
          </a:p>
        </p:txBody>
      </p:sp>
      <p:sp>
        <p:nvSpPr>
          <p:cNvPr id="11" name="Notes Placeholder 2"/>
          <p:cNvSpPr>
            <a:spLocks noGrp="1"/>
          </p:cNvSpPr>
          <p:nvPr>
            <p:ph type="body" idx="1"/>
          </p:nvPr>
        </p:nvSpPr>
        <p:spPr/>
        <p:txBody>
          <a:bodyPr/>
          <a:lstStyle/>
          <a:p>
            <a:endParaRPr lang="en-US" dirty="0"/>
          </a:p>
        </p:txBody>
      </p:sp>
      <p:sp>
        <p:nvSpPr>
          <p:cNvPr id="12"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Image Placeholder 1"/>
          <p:cNvSpPr>
            <a:spLocks noGrp="1" noRot="1" noChangeAspect="1"/>
          </p:cNvSpPr>
          <p:nvPr>
            <p:ph type="sldImg"/>
          </p:nvPr>
        </p:nvSpPr>
        <p:spPr/>
        <p:txBody>
          <a:bodyPr/>
          <a:lstStyle/>
          <a:p>
            <a:endParaRPr/>
          </a:p>
        </p:txBody>
      </p:sp>
      <p:sp>
        <p:nvSpPr>
          <p:cNvPr id="15" name="Notes Placeholder 2"/>
          <p:cNvSpPr>
            <a:spLocks noGrp="1"/>
          </p:cNvSpPr>
          <p:nvPr>
            <p:ph type="body" idx="1"/>
          </p:nvPr>
        </p:nvSpPr>
        <p:spPr/>
        <p:txBody>
          <a:bodyPr/>
          <a:lstStyle/>
          <a:p>
            <a:endParaRPr lang="en-US" dirty="0"/>
          </a:p>
        </p:txBody>
      </p:sp>
      <p:sp>
        <p:nvSpPr>
          <p:cNvPr id="16"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 Image Placeholder 1"/>
          <p:cNvSpPr>
            <a:spLocks noGrp="1" noRot="1" noChangeAspect="1"/>
          </p:cNvSpPr>
          <p:nvPr>
            <p:ph type="sldImg"/>
          </p:nvPr>
        </p:nvSpPr>
        <p:spPr/>
        <p:txBody>
          <a:bodyPr/>
          <a:lstStyle/>
          <a:p>
            <a:endParaRPr/>
          </a:p>
        </p:txBody>
      </p:sp>
      <p:sp>
        <p:nvSpPr>
          <p:cNvPr id="19" name="Notes Placeholder 2"/>
          <p:cNvSpPr>
            <a:spLocks noGrp="1"/>
          </p:cNvSpPr>
          <p:nvPr>
            <p:ph type="body" idx="1"/>
          </p:nvPr>
        </p:nvSpPr>
        <p:spPr/>
        <p:txBody>
          <a:bodyPr/>
          <a:lstStyle/>
          <a:p>
            <a:endParaRPr lang="en-US" dirty="0"/>
          </a:p>
        </p:txBody>
      </p:sp>
      <p:sp>
        <p:nvSpPr>
          <p:cNvPr id="20"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lide Image Placeholder 1"/>
          <p:cNvSpPr>
            <a:spLocks noGrp="1" noRot="1" noChangeAspect="1"/>
          </p:cNvSpPr>
          <p:nvPr>
            <p:ph type="sldImg"/>
          </p:nvPr>
        </p:nvSpPr>
        <p:spPr/>
        <p:txBody>
          <a:bodyPr/>
          <a:lstStyle/>
          <a:p>
            <a:endParaRPr/>
          </a:p>
        </p:txBody>
      </p:sp>
      <p:sp>
        <p:nvSpPr>
          <p:cNvPr id="47" name="Notes Placeholder 2"/>
          <p:cNvSpPr>
            <a:spLocks noGrp="1"/>
          </p:cNvSpPr>
          <p:nvPr>
            <p:ph type="body" idx="1"/>
          </p:nvPr>
        </p:nvSpPr>
        <p:spPr/>
        <p:txBody>
          <a:bodyPr/>
          <a:lstStyle/>
          <a:p>
            <a:endParaRPr lang="en-US" dirty="0"/>
          </a:p>
        </p:txBody>
      </p:sp>
      <p:sp>
        <p:nvSpPr>
          <p:cNvPr id="48"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lide Image Placeholder 1"/>
          <p:cNvSpPr>
            <a:spLocks noGrp="1" noRot="1" noChangeAspect="1"/>
          </p:cNvSpPr>
          <p:nvPr>
            <p:ph type="sldImg"/>
          </p:nvPr>
        </p:nvSpPr>
        <p:spPr/>
        <p:txBody>
          <a:bodyPr/>
          <a:lstStyle/>
          <a:p>
            <a:endParaRPr/>
          </a:p>
        </p:txBody>
      </p:sp>
      <p:sp>
        <p:nvSpPr>
          <p:cNvPr id="51" name="Notes Placeholder 2"/>
          <p:cNvSpPr>
            <a:spLocks noGrp="1"/>
          </p:cNvSpPr>
          <p:nvPr>
            <p:ph type="body" idx="1"/>
          </p:nvPr>
        </p:nvSpPr>
        <p:spPr/>
        <p:txBody>
          <a:bodyPr/>
          <a:lstStyle/>
          <a:p>
            <a:endParaRPr lang="en-US" dirty="0"/>
          </a:p>
        </p:txBody>
      </p:sp>
      <p:sp>
        <p:nvSpPr>
          <p:cNvPr id="52" name="Slide Number Placeholder 3"/>
          <p:cNvSpPr>
            <a:spLocks noGrp="1"/>
          </p:cNvSpPr>
          <p:nvPr>
            <p:ph type="sldNum" sz="quarter" idx="10"/>
          </p:nvPr>
        </p:nvSpPr>
        <p:spPr/>
        <p:txBody>
          <a:bodyPr/>
          <a:lstStyle/>
          <a:p>
            <a:fld id="{F7021451-1387-4CA6-816F-3879F97B5CBC}" type="slidenum">
              <a:rPr lang="en-US"/>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lide Image Placeholder 1"/>
          <p:cNvSpPr>
            <a:spLocks noGrp="1" noRot="1" noChangeAspect="1"/>
          </p:cNvSpPr>
          <p:nvPr>
            <p:ph type="sldImg"/>
          </p:nvPr>
        </p:nvSpPr>
        <p:spPr/>
        <p:txBody>
          <a:bodyPr/>
          <a:lstStyle/>
          <a:p>
            <a:endParaRPr/>
          </a:p>
        </p:txBody>
      </p:sp>
      <p:sp>
        <p:nvSpPr>
          <p:cNvPr id="55" name="Notes Placeholder 2"/>
          <p:cNvSpPr>
            <a:spLocks noGrp="1"/>
          </p:cNvSpPr>
          <p:nvPr>
            <p:ph type="body" idx="1"/>
          </p:nvPr>
        </p:nvSpPr>
        <p:spPr/>
        <p:txBody>
          <a:bodyPr/>
          <a:lstStyle/>
          <a:p>
            <a:endParaRPr lang="en-US" dirty="0"/>
          </a:p>
        </p:txBody>
      </p:sp>
      <p:sp>
        <p:nvSpPr>
          <p:cNvPr id="56"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Image Placeholder 1"/>
          <p:cNvSpPr>
            <a:spLocks noGrp="1" noRot="1" noChangeAspect="1"/>
          </p:cNvSpPr>
          <p:nvPr>
            <p:ph type="sldImg"/>
          </p:nvPr>
        </p:nvSpPr>
        <p:spPr/>
        <p:txBody>
          <a:bodyPr/>
          <a:lstStyle/>
          <a:p>
            <a:endParaRPr/>
          </a:p>
        </p:txBody>
      </p:sp>
      <p:sp>
        <p:nvSpPr>
          <p:cNvPr id="59" name="Notes Placeholder 2"/>
          <p:cNvSpPr>
            <a:spLocks noGrp="1"/>
          </p:cNvSpPr>
          <p:nvPr>
            <p:ph type="body" idx="1"/>
          </p:nvPr>
        </p:nvSpPr>
        <p:spPr/>
        <p:txBody>
          <a:bodyPr/>
          <a:lstStyle/>
          <a:p>
            <a:endParaRPr lang="en-US" dirty="0"/>
          </a:p>
        </p:txBody>
      </p:sp>
      <p:sp>
        <p:nvSpPr>
          <p:cNvPr id="60" name="Slide Number Placeholder 3"/>
          <p:cNvSpPr>
            <a:spLocks noGrp="1"/>
          </p:cNvSpPr>
          <p:nvPr>
            <p:ph type="sldNum" sz="quarter" idx="10"/>
          </p:nvPr>
        </p:nvSpPr>
        <p:spPr/>
        <p:txBody>
          <a:bodyPr/>
          <a:lstStyle/>
          <a:p>
            <a:fld id="{F7021451-1387-4CA6-816F-3879F97B5CBC}" type="slidenum">
              <a:rPr lang="en-US"/>
              <a:t>22</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Slide Image Placeholder 1"/>
          <p:cNvSpPr>
            <a:spLocks noGrp="1" noRot="1" noChangeAspect="1"/>
          </p:cNvSpPr>
          <p:nvPr>
            <p:ph type="sldImg"/>
          </p:nvPr>
        </p:nvSpPr>
        <p:spPr/>
        <p:txBody>
          <a:bodyPr/>
          <a:lstStyle/>
          <a:p>
            <a:endParaRPr/>
          </a:p>
        </p:txBody>
      </p:sp>
      <p:sp>
        <p:nvSpPr>
          <p:cNvPr id="63" name="Notes Placeholder 2"/>
          <p:cNvSpPr>
            <a:spLocks noGrp="1"/>
          </p:cNvSpPr>
          <p:nvPr>
            <p:ph type="body" idx="1"/>
          </p:nvPr>
        </p:nvSpPr>
        <p:spPr/>
        <p:txBody>
          <a:bodyPr/>
          <a:lstStyle/>
          <a:p>
            <a:endParaRPr lang="en-US" dirty="0"/>
          </a:p>
        </p:txBody>
      </p:sp>
      <p:sp>
        <p:nvSpPr>
          <p:cNvPr id="64" name="Slide Number Placeholder 3"/>
          <p:cNvSpPr>
            <a:spLocks noGrp="1"/>
          </p:cNvSpPr>
          <p:nvPr>
            <p:ph type="sldNum" sz="quarter" idx="10"/>
          </p:nvPr>
        </p:nvSpPr>
        <p:spPr/>
        <p:txBody>
          <a:bodyPr/>
          <a:lstStyle/>
          <a:p>
            <a:fld id="{F7021451-1387-4CA6-816F-3879F97B5CBC}" type="slidenum">
              <a:rPr lang="en-US"/>
              <a:t>23</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Slide Image Placeholder 1"/>
          <p:cNvSpPr>
            <a:spLocks noGrp="1" noRot="1" noChangeAspect="1"/>
          </p:cNvSpPr>
          <p:nvPr>
            <p:ph type="sldImg"/>
          </p:nvPr>
        </p:nvSpPr>
        <p:spPr/>
        <p:txBody>
          <a:bodyPr/>
          <a:lstStyle/>
          <a:p>
            <a:endParaRPr/>
          </a:p>
        </p:txBody>
      </p:sp>
      <p:sp>
        <p:nvSpPr>
          <p:cNvPr id="67" name="Notes Placeholder 2"/>
          <p:cNvSpPr>
            <a:spLocks noGrp="1"/>
          </p:cNvSpPr>
          <p:nvPr>
            <p:ph type="body" idx="1"/>
          </p:nvPr>
        </p:nvSpPr>
        <p:spPr/>
        <p:txBody>
          <a:bodyPr/>
          <a:lstStyle/>
          <a:p>
            <a:endParaRPr lang="en-US" dirty="0"/>
          </a:p>
        </p:txBody>
      </p:sp>
      <p:sp>
        <p:nvSpPr>
          <p:cNvPr id="68" name="Slide Number Placeholder 3"/>
          <p:cNvSpPr>
            <a:spLocks noGrp="1"/>
          </p:cNvSpPr>
          <p:nvPr>
            <p:ph type="sldNum" sz="quarter" idx="10"/>
          </p:nvPr>
        </p:nvSpPr>
        <p:spPr/>
        <p:txBody>
          <a:bodyPr/>
          <a:lstStyle/>
          <a:p>
            <a:fld id="{F7021451-1387-4CA6-816F-3879F97B5CBC}" type="slidenum">
              <a:rPr lang="en-US"/>
              <a:t>24</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Image Placeholder 1"/>
          <p:cNvSpPr>
            <a:spLocks noGrp="1" noRot="1" noChangeAspect="1"/>
          </p:cNvSpPr>
          <p:nvPr>
            <p:ph type="sldImg"/>
          </p:nvPr>
        </p:nvSpPr>
        <p:spPr/>
        <p:txBody>
          <a:bodyPr/>
          <a:lstStyle/>
          <a:p>
            <a:endParaRPr/>
          </a:p>
        </p:txBody>
      </p:sp>
      <p:sp>
        <p:nvSpPr>
          <p:cNvPr id="71" name="Notes Placeholder 2"/>
          <p:cNvSpPr>
            <a:spLocks noGrp="1"/>
          </p:cNvSpPr>
          <p:nvPr>
            <p:ph type="body" idx="1"/>
          </p:nvPr>
        </p:nvSpPr>
        <p:spPr/>
        <p:txBody>
          <a:bodyPr/>
          <a:lstStyle/>
          <a:p>
            <a:endParaRPr lang="en-US" dirty="0"/>
          </a:p>
        </p:txBody>
      </p:sp>
      <p:sp>
        <p:nvSpPr>
          <p:cNvPr id="72" name="Slide Number Placeholder 3"/>
          <p:cNvSpPr>
            <a:spLocks noGrp="1"/>
          </p:cNvSpPr>
          <p:nvPr>
            <p:ph type="sldNum" sz="quarter" idx="10"/>
          </p:nvPr>
        </p:nvSpPr>
        <p:spPr/>
        <p:txBody>
          <a:bodyPr/>
          <a:lstStyle/>
          <a:p>
            <a:fld id="{F7021451-1387-4CA6-816F-3879F97B5CBC}" type="slidenum">
              <a:rPr lang="en-US"/>
              <a:t>25</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lide Image Placeholder 1"/>
          <p:cNvSpPr>
            <a:spLocks noGrp="1" noRot="1" noChangeAspect="1"/>
          </p:cNvSpPr>
          <p:nvPr>
            <p:ph type="sldImg"/>
          </p:nvPr>
        </p:nvSpPr>
        <p:spPr/>
        <p:txBody>
          <a:bodyPr/>
          <a:lstStyle/>
          <a:p>
            <a:endParaRPr/>
          </a:p>
        </p:txBody>
      </p:sp>
      <p:sp>
        <p:nvSpPr>
          <p:cNvPr id="75" name="Notes Placeholder 2"/>
          <p:cNvSpPr>
            <a:spLocks noGrp="1"/>
          </p:cNvSpPr>
          <p:nvPr>
            <p:ph type="body" idx="1"/>
          </p:nvPr>
        </p:nvSpPr>
        <p:spPr/>
        <p:txBody>
          <a:bodyPr/>
          <a:lstStyle/>
          <a:p>
            <a:endParaRPr lang="en-US" dirty="0"/>
          </a:p>
        </p:txBody>
      </p:sp>
      <p:sp>
        <p:nvSpPr>
          <p:cNvPr id="76" name="Slide Number Placeholder 3"/>
          <p:cNvSpPr>
            <a:spLocks noGrp="1"/>
          </p:cNvSpPr>
          <p:nvPr>
            <p:ph type="sldNum" sz="quarter" idx="10"/>
          </p:nvPr>
        </p:nvSpPr>
        <p:spPr/>
        <p:txBody>
          <a:bodyPr/>
          <a:lstStyle/>
          <a:p>
            <a:fld id="{F7021451-1387-4CA6-816F-3879F97B5CBC}" type="slidenum">
              <a:rPr lang="en-US"/>
              <a:t>26</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Google Shape;81;g3d9b4cf5c9f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 name="Google Shape;82;g3d9b4cf5c9f_2_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Google Shape;11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114;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Google Shape;137;g3d9b4cf5c9f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138;g3d9b4cf5c9f_4_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Google Shape;181;g3d9b4cf5c9f_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182;g3d9b4cf5c9f_6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lide Image Placeholder 1"/>
          <p:cNvSpPr>
            <a:spLocks noGrp="1" noRot="1" noChangeAspect="1"/>
          </p:cNvSpPr>
          <p:nvPr>
            <p:ph type="sldImg"/>
          </p:nvPr>
        </p:nvSpPr>
        <p:spPr/>
        <p:txBody>
          <a:bodyPr/>
          <a:lstStyle/>
          <a:p>
            <a:endParaRPr/>
          </a:p>
        </p:txBody>
      </p:sp>
      <p:sp>
        <p:nvSpPr>
          <p:cNvPr id="95" name="Notes Placeholder 2"/>
          <p:cNvSpPr>
            <a:spLocks noGrp="1"/>
          </p:cNvSpPr>
          <p:nvPr>
            <p:ph type="body" idx="1"/>
          </p:nvPr>
        </p:nvSpPr>
        <p:spPr/>
        <p:txBody>
          <a:bodyPr/>
          <a:lstStyle/>
          <a:p>
            <a:endParaRPr lang="en-US" dirty="0"/>
          </a:p>
        </p:txBody>
      </p:sp>
      <p:sp>
        <p:nvSpPr>
          <p:cNvPr id="96" name="Slide Number Placeholder 3"/>
          <p:cNvSpPr>
            <a:spLocks noGrp="1"/>
          </p:cNvSpPr>
          <p:nvPr>
            <p:ph type="sldNum" sz="quarter" idx="10"/>
          </p:nvPr>
        </p:nvSpPr>
        <p:spPr/>
        <p:txBody>
          <a:bodyPr/>
          <a:lstStyle/>
          <a:p>
            <a:fld id="{F7021451-1387-4CA6-816F-3879F97B5CBC}" type="slidenum">
              <a:rPr lang="en-US"/>
              <a:t>31</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Slide Image Placeholder 1"/>
          <p:cNvSpPr>
            <a:spLocks noGrp="1" noRot="1" noChangeAspect="1"/>
          </p:cNvSpPr>
          <p:nvPr>
            <p:ph type="sldImg"/>
          </p:nvPr>
        </p:nvSpPr>
        <p:spPr/>
        <p:txBody>
          <a:bodyPr/>
          <a:lstStyle/>
          <a:p>
            <a:endParaRPr/>
          </a:p>
        </p:txBody>
      </p:sp>
      <p:sp>
        <p:nvSpPr>
          <p:cNvPr id="99" name="Notes Placeholder 2"/>
          <p:cNvSpPr>
            <a:spLocks noGrp="1"/>
          </p:cNvSpPr>
          <p:nvPr>
            <p:ph type="body" idx="1"/>
          </p:nvPr>
        </p:nvSpPr>
        <p:spPr/>
        <p:txBody>
          <a:bodyPr/>
          <a:lstStyle/>
          <a:p>
            <a:endParaRPr lang="en-US" dirty="0"/>
          </a:p>
        </p:txBody>
      </p:sp>
      <p:sp>
        <p:nvSpPr>
          <p:cNvPr id="100" name="Slide Number Placeholder 3"/>
          <p:cNvSpPr>
            <a:spLocks noGrp="1"/>
          </p:cNvSpPr>
          <p:nvPr>
            <p:ph type="sldNum" sz="quarter" idx="10"/>
          </p:nvPr>
        </p:nvSpPr>
        <p:spPr/>
        <p:txBody>
          <a:bodyPr/>
          <a:lstStyle/>
          <a:p>
            <a:fld id="{F7021451-1387-4CA6-816F-3879F97B5CBC}" type="slidenum">
              <a:rPr lang="en-US"/>
              <a:t>32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4" name="Google Shape;12;p2"/>
          <p:cNvSpPr txBox="1">
            <a:spLocks noGrp="1"/>
          </p:cNvSpPr>
          <p:nvPr>
            <p:ph type="dt" idx="10"/>
          </p:nvPr>
        </p:nvSpPr>
        <p:spPr>
          <a:xfrm>
            <a:off x="609600" y="8475133"/>
            <a:ext cx="284480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 name="Google Shape;13;p2"/>
          <p:cNvSpPr txBox="1">
            <a:spLocks noGrp="1"/>
          </p:cNvSpPr>
          <p:nvPr>
            <p:ph type="ftr" idx="11"/>
          </p:nvPr>
        </p:nvSpPr>
        <p:spPr>
          <a:xfrm>
            <a:off x="4165600" y="8475133"/>
            <a:ext cx="3860800"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 name="Google Shape;14;p2"/>
          <p:cNvSpPr txBox="1">
            <a:spLocks noGrp="1"/>
          </p:cNvSpPr>
          <p:nvPr>
            <p:ph type="sldNum" idx="12"/>
          </p:nvPr>
        </p:nvSpPr>
        <p:spPr>
          <a:xfrm>
            <a:off x="8737600" y="8475133"/>
            <a:ext cx="284480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 name="Google Shape;6;p1"/>
          <p:cNvSpPr txBox="1">
            <a:spLocks noGrp="1"/>
          </p:cNvSpPr>
          <p:nvPr>
            <p:ph type="title"/>
          </p:nvPr>
        </p:nvSpPr>
        <p:spPr>
          <a:xfrm>
            <a:off x="609600" y="366184"/>
            <a:ext cx="10972800" cy="1524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 name="Google Shape;7;p1"/>
          <p:cNvSpPr txBox="1">
            <a:spLocks noGrp="1"/>
          </p:cNvSpPr>
          <p:nvPr>
            <p:ph type="body" idx="1"/>
          </p:nvPr>
        </p:nvSpPr>
        <p:spPr>
          <a:xfrm>
            <a:off x="609600" y="2133600"/>
            <a:ext cx="10972800" cy="6034617"/>
          </a:xfrm>
          <a:prstGeom prst="rect">
            <a:avLst/>
          </a:prstGeom>
          <a:noFill/>
          <a:ln>
            <a:noFill/>
          </a:ln>
        </p:spPr>
        <p:txBody>
          <a:bodyPr spcFirstLastPara="1" wrap="square" lIns="91425" tIns="45700" rIns="91425" bIns="45700" anchor="t" anchorCtr="0">
            <a:normAutofit/>
          </a:bodyPr>
          <a:lstStyle>
            <a:lvl1pPr marL="609600" marR="0" lvl="0" indent="-575733"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1219200" marR="0" lvl="1" indent="-541866"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828800" marR="0" lvl="2" indent="-508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2438400" marR="0" lvl="3" indent="-474133"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3048000" marR="0" lvl="4" indent="-474133"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3657600" marR="0" lvl="5" indent="-474133"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4267200" marR="0" lvl="6" indent="-474133"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4876800" marR="0" lvl="7" indent="-474133"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5486400" marR="0" lvl="8" indent="-474133"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 name="Google Shape;8;p1"/>
          <p:cNvSpPr txBox="1">
            <a:spLocks noGrp="1"/>
          </p:cNvSpPr>
          <p:nvPr>
            <p:ph type="dt" idx="10"/>
          </p:nvPr>
        </p:nvSpPr>
        <p:spPr>
          <a:xfrm>
            <a:off x="609600" y="8475133"/>
            <a:ext cx="2844800" cy="48683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 name="Google Shape;9;p1"/>
          <p:cNvSpPr txBox="1">
            <a:spLocks noGrp="1"/>
          </p:cNvSpPr>
          <p:nvPr>
            <p:ph type="ftr" idx="11"/>
          </p:nvPr>
        </p:nvSpPr>
        <p:spPr>
          <a:xfrm>
            <a:off x="4165600" y="8475133"/>
            <a:ext cx="3860800" cy="48683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 name="Google Shape;10;p1"/>
          <p:cNvSpPr txBox="1">
            <a:spLocks noGrp="1"/>
          </p:cNvSpPr>
          <p:nvPr>
            <p:ph type="sldNum" idx="12"/>
          </p:nvPr>
        </p:nvSpPr>
        <p:spPr>
          <a:xfrm>
            <a:off x="8737600" y="8475133"/>
            <a:ext cx="2844800" cy="48683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2"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2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3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9FC"/>
        </a:solidFill>
        <a:effectLst/>
      </p:bgPr>
    </p:bg>
    <p:spTree>
      <p:nvGrpSpPr>
        <p:cNvPr id="1" name=""/>
        <p:cNvGrpSpPr/>
        <p:nvPr/>
      </p:nvGrpSpPr>
      <p:grpSpPr>
        <a:xfrm>
          <a:off x="0" y="0"/>
          <a:ext cx="0" cy="0"/>
          <a:chOff x="0" y="0"/>
          <a:chExt cx="0" cy="0"/>
        </a:xfrm>
      </p:grpSpPr>
      <p:sp>
        <p:nvSpPr>
          <p:cNvPr id="186" name="Shape 0"/>
          <p:cNvSpPr/>
          <p:nvPr/>
        </p:nvSpPr>
        <p:spPr>
          <a:xfrm>
            <a:off x="0" y="0"/>
            <a:ext cx="76200" cy="9144000"/>
          </a:xfrm>
          <a:prstGeom prst="rect">
            <a:avLst/>
          </a:prstGeom>
          <a:solidFill>
            <a:srgbClr val="1A4A7A"/>
          </a:solidFill>
          <a:ln/>
        </p:spPr>
        <p:txBody>
          <a:bodyPr/>
          <a:lstStyle/>
          <a:p>
            <a:endParaRPr/>
          </a:p>
        </p:txBody>
      </p:sp>
      <p:sp>
        <p:nvSpPr>
          <p:cNvPr id="187" name="Text 2"/>
          <p:cNvSpPr/>
          <p:nvPr/>
        </p:nvSpPr>
        <p:spPr>
          <a:xfrm>
            <a:off x="10400592" y="546100"/>
            <a:ext cx="5093407" cy="304800"/>
          </a:xfrm>
          <a:prstGeom prst="rect">
            <a:avLst/>
          </a:prstGeom>
          <a:noFill/>
          <a:ln/>
        </p:spPr>
        <p:txBody>
          <a:bodyPr wrap="none" lIns="0" tIns="0" rIns="0" bIns="0" rtlCol="0" anchor="ctr"/>
          <a:lstStyle/>
          <a:p>
            <a:pPr algn="r">
              <a:lnSpc>
                <a:spcPct val="100000"/>
              </a:lnSpc>
            </a:pPr>
            <a:r>
              <a:rPr lang="en-US" sz="2400">
                <a:solidFill>
                  <a:srgbClr val="888888">
                    <a:alpha val="100000"/>
                  </a:srgbClr>
                </a:solidFill>
                <a:latin typeface="Quattrocento Sans"/>
                <a:ea typeface="Quattrocento Sans"/>
                <a:cs typeface="Quattrocento Sans"/>
              </a:rPr>
              <a:t>Group 6</a:t>
            </a:r>
            <a:endParaRPr/>
          </a:p>
        </p:txBody>
      </p:sp>
      <p:sp>
        <p:nvSpPr>
          <p:cNvPr id="188" name="Text 3"/>
          <p:cNvSpPr/>
          <p:nvPr/>
        </p:nvSpPr>
        <p:spPr>
          <a:xfrm>
            <a:off x="762000" y="1778000"/>
            <a:ext cx="6350000" cy="355600"/>
          </a:xfrm>
          <a:prstGeom prst="rect">
            <a:avLst/>
          </a:prstGeom>
          <a:noFill/>
          <a:ln/>
        </p:spPr>
        <p:txBody>
          <a:bodyPr wrap="none" lIns="0" tIns="0" rIns="0" bIns="0" rtlCol="0" anchor="ctr"/>
          <a:lstStyle/>
          <a:p>
            <a:pPr>
              <a:lnSpc>
                <a:spcPct val="100000"/>
              </a:lnSpc>
            </a:pPr>
            <a:r>
              <a:rPr lang="en-US" sz="1600" kern="0" spc="300" dirty="0">
                <a:solidFill>
                  <a:srgbClr val="5B9BD5"/>
                </a:solidFill>
                <a:latin typeface="Quattrocento Sans" pitchFamily="34" charset="0"/>
                <a:ea typeface="Quattrocento Sans" pitchFamily="34" charset="-122"/>
                <a:cs typeface="Quattrocento Sans" pitchFamily="34" charset="-120"/>
              </a:rPr>
              <a:t>RESEARCH PROJECT PRESENTATION</a:t>
            </a:r>
            <a:endParaRPr lang="en-US" sz="1600" dirty="0"/>
          </a:p>
        </p:txBody>
      </p:sp>
      <p:sp>
        <p:nvSpPr>
          <p:cNvPr id="189" name="Text 4"/>
          <p:cNvSpPr/>
          <p:nvPr/>
        </p:nvSpPr>
        <p:spPr>
          <a:xfrm>
            <a:off x="762000" y="2311400"/>
            <a:ext cx="13970000" cy="965200"/>
          </a:xfrm>
          <a:prstGeom prst="rect">
            <a:avLst/>
          </a:prstGeom>
          <a:noFill/>
          <a:ln/>
        </p:spPr>
        <p:txBody>
          <a:bodyPr wrap="none" lIns="0" tIns="0" rIns="0" bIns="0" rtlCol="0" anchor="t"/>
          <a:lstStyle/>
          <a:p>
            <a:pPr>
              <a:lnSpc>
                <a:spcPct val="100000"/>
              </a:lnSpc>
            </a:pPr>
            <a:r>
              <a:rPr lang="en-US" sz="4400" b="1" dirty="0">
                <a:solidFill>
                  <a:srgbClr val="1A4A7A"/>
                </a:solidFill>
                <a:latin typeface="Quattrocento Sans" pitchFamily="34" charset="0"/>
                <a:ea typeface="Quattrocento Sans" pitchFamily="34" charset="-122"/>
                <a:cs typeface="Quattrocento Sans" pitchFamily="34" charset="-120"/>
              </a:rPr>
              <a:t>Scalable GraphRAG: Hybrid Retrieval with Apache Spark</a:t>
            </a:r>
            <a:endParaRPr lang="en-US" sz="1600" dirty="0"/>
          </a:p>
        </p:txBody>
      </p:sp>
      <p:sp>
        <p:nvSpPr>
          <p:cNvPr id="190" name="Text 5"/>
          <p:cNvSpPr/>
          <p:nvPr/>
        </p:nvSpPr>
        <p:spPr>
          <a:xfrm>
            <a:off x="762000" y="3403600"/>
            <a:ext cx="12700000" cy="381000"/>
          </a:xfrm>
          <a:prstGeom prst="rect">
            <a:avLst/>
          </a:prstGeom>
          <a:noFill/>
          <a:ln/>
        </p:spPr>
        <p:txBody>
          <a:bodyPr wrap="none" lIns="0" tIns="0" rIns="0" bIns="0" rtlCol="0" anchor="ctr"/>
          <a:lstStyle/>
          <a:p>
            <a:pPr>
              <a:lnSpc>
                <a:spcPct val="100000"/>
              </a:lnSpc>
            </a:pPr>
            <a:r>
              <a:rPr lang="en-US" sz="1800" dirty="0">
                <a:solidFill>
                  <a:srgbClr val="888888"/>
                </a:solidFill>
                <a:latin typeface="Quattrocento Sans" pitchFamily="34" charset="0"/>
                <a:ea typeface="Quattrocento Sans" pitchFamily="34" charset="-122"/>
                <a:cs typeface="Quattrocento Sans" pitchFamily="34" charset="-120"/>
              </a:rPr>
              <a:t>Integrating Knowledge Graph Topology with LLM Generation for Multi-Hop Question Answering</a:t>
            </a:r>
            <a:endParaRPr lang="en-US" sz="1600" dirty="0"/>
          </a:p>
        </p:txBody>
      </p:sp>
      <p:sp>
        <p:nvSpPr>
          <p:cNvPr id="191" name="Shape 6"/>
          <p:cNvSpPr/>
          <p:nvPr/>
        </p:nvSpPr>
        <p:spPr>
          <a:xfrm>
            <a:off x="762000" y="4013200"/>
            <a:ext cx="14732000" cy="12700"/>
          </a:xfrm>
          <a:prstGeom prst="rect">
            <a:avLst/>
          </a:prstGeom>
          <a:solidFill>
            <a:srgbClr val="E0E0E0"/>
          </a:solidFill>
          <a:ln/>
        </p:spPr>
        <p:txBody>
          <a:bodyPr/>
          <a:lstStyle/>
          <a:p>
            <a:endParaRPr/>
          </a:p>
        </p:txBody>
      </p:sp>
      <p:sp>
        <p:nvSpPr>
          <p:cNvPr id="192" name="Shape 7"/>
          <p:cNvSpPr/>
          <p:nvPr/>
        </p:nvSpPr>
        <p:spPr>
          <a:xfrm>
            <a:off x="0" y="5461000"/>
            <a:ext cx="16256000" cy="3683000"/>
          </a:xfrm>
          <a:prstGeom prst="rect">
            <a:avLst/>
          </a:prstGeom>
          <a:solidFill>
            <a:srgbClr val="1A4A7A"/>
          </a:solidFill>
          <a:ln/>
        </p:spPr>
        <p:txBody>
          <a:bodyPr/>
          <a:lstStyle/>
          <a:p>
            <a:endParaRPr/>
          </a:p>
        </p:txBody>
      </p:sp>
      <p:sp>
        <p:nvSpPr>
          <p:cNvPr id="193" name="Text 8"/>
          <p:cNvSpPr/>
          <p:nvPr/>
        </p:nvSpPr>
        <p:spPr>
          <a:xfrm>
            <a:off x="762000" y="6070600"/>
            <a:ext cx="5080000" cy="355600"/>
          </a:xfrm>
          <a:prstGeom prst="rect">
            <a:avLst/>
          </a:prstGeom>
          <a:noFill/>
          <a:ln/>
        </p:spPr>
        <p:txBody>
          <a:bodyPr wrap="none" lIns="0" tIns="0" rIns="0" bIns="0" rtlCol="0" anchor="ctr"/>
          <a:lstStyle/>
          <a:p>
            <a:pPr>
              <a:lnSpc>
                <a:spcPct val="100000"/>
              </a:lnSpc>
            </a:pPr>
            <a:r>
              <a:rPr lang="en-US" sz="1800">
                <a:solidFill>
                  <a:srgbClr val="FFFFFF">
                    <a:alpha val="100000"/>
                  </a:srgbClr>
                </a:solidFill>
                <a:latin typeface="Quattrocento Sans"/>
                <a:ea typeface="Quattrocento Sans"/>
                <a:cs typeface="Quattrocento Sans"/>
              </a:rPr>
              <a:t>Project Team: Group 6</a:t>
            </a:r>
            <a:endParaRPr/>
          </a:p>
        </p:txBody>
      </p:sp>
      <p:sp>
        <p:nvSpPr>
          <p:cNvPr id="194" name="Text 9"/>
          <p:cNvSpPr/>
          <p:nvPr/>
        </p:nvSpPr>
        <p:spPr>
          <a:xfrm>
            <a:off x="762000" y="6553200"/>
            <a:ext cx="6350000" cy="355600"/>
          </a:xfrm>
          <a:prstGeom prst="rect">
            <a:avLst/>
          </a:prstGeom>
          <a:noFill/>
          <a:ln/>
        </p:spPr>
        <p:txBody>
          <a:bodyPr wrap="none" lIns="0" tIns="0" rIns="0" bIns="0" rtlCol="0" anchor="ctr"/>
          <a:lstStyle/>
          <a:p>
            <a:pPr>
              <a:lnSpc>
                <a:spcPct val="100000"/>
              </a:lnSpc>
            </a:pPr>
            <a:r>
              <a:rPr lang="en-US" sz="1800">
                <a:solidFill>
                  <a:srgbClr val="FFFFFF">
                    <a:alpha val="100000"/>
                  </a:srgbClr>
                </a:solidFill>
                <a:latin typeface="Quattrocento Sans"/>
                <a:ea typeface="Quattrocento Sans"/>
                <a:cs typeface="Quattrocento Sans"/>
              </a:rPr>
              <a:t>Course: MSBD 5003</a:t>
            </a:r>
            <a:endParaRPr/>
          </a:p>
        </p:txBody>
      </p:sp>
      <p:sp>
        <p:nvSpPr>
          <p:cNvPr id="195" name="Text 11"/>
          <p:cNvSpPr/>
          <p:nvPr/>
        </p:nvSpPr>
        <p:spPr>
          <a:xfrm>
            <a:off x="762000" y="7035800"/>
            <a:ext cx="3810000" cy="304800"/>
          </a:xfrm>
          <a:prstGeom prst="rect">
            <a:avLst/>
          </a:prstGeom>
          <a:noFill/>
          <a:ln/>
        </p:spPr>
        <p:txBody>
          <a:bodyPr wrap="none" lIns="0" tIns="0" rIns="0" bIns="0" rtlCol="0" anchor="ctr"/>
          <a:lstStyle/>
          <a:p>
            <a:pPr>
              <a:lnSpc>
                <a:spcPct val="100000"/>
              </a:lnSpc>
            </a:pPr>
            <a:r>
              <a:rPr lang="en-US" sz="1400" dirty="0">
                <a:solidFill>
                  <a:srgbClr val="FFFFFF">
                    <a:alpha val="53333"/>
                  </a:srgbClr>
                </a:solidFill>
                <a:latin typeface="Quattrocento Sans" pitchFamily="34" charset="0"/>
                <a:ea typeface="Quattrocento Sans" pitchFamily="34" charset="-122"/>
                <a:cs typeface="Quattrocento Sans" pitchFamily="34" charset="-120"/>
              </a:rPr>
              <a:t>April 2026</a:t>
            </a:r>
            <a:endParaRPr lang="en-US" sz="1600" dirty="0"/>
          </a:p>
        </p:txBody>
      </p:sp>
      <p:sp>
        <p:nvSpPr>
          <p:cNvPr id="196" name="Text 12"/>
          <p:cNvSpPr/>
          <p:nvPr/>
        </p:nvSpPr>
        <p:spPr>
          <a:xfrm>
            <a:off x="10160000" y="7950200"/>
            <a:ext cx="5334000" cy="762000"/>
          </a:xfrm>
          <a:prstGeom prst="rect">
            <a:avLst/>
          </a:prstGeom>
          <a:noFill/>
          <a:ln/>
        </p:spPr>
        <p:txBody>
          <a:bodyPr wrap="none" lIns="0" tIns="0" rIns="0" bIns="0" rtlCol="0" anchor="ctr"/>
          <a:lstStyle/>
          <a:p>
            <a:pPr algn="r">
              <a:lnSpc>
                <a:spcPct val="100000"/>
              </a:lnSpc>
            </a:pPr>
            <a:r>
              <a:rPr lang="en-US" sz="4800" dirty="0">
                <a:solidFill>
                  <a:srgbClr val="FFFFFF">
                    <a:alpha val="3137"/>
                  </a:srgbClr>
                </a:solidFill>
                <a:latin typeface="Quattrocento Sans" pitchFamily="34" charset="0"/>
                <a:ea typeface="Quattrocento Sans" pitchFamily="34" charset="-122"/>
                <a:cs typeface="Quattrocento Sans" pitchFamily="34" charset="-120"/>
              </a:rPr>
              <a:t>GRAPHRAG</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C"/>
        </a:solidFill>
        <a:effectLst/>
      </p:bgPr>
    </p:bg>
    <p:spTree>
      <p:nvGrpSpPr>
        <p:cNvPr id="1" name=""/>
        <p:cNvGrpSpPr/>
        <p:nvPr/>
      </p:nvGrpSpPr>
      <p:grpSpPr>
        <a:xfrm>
          <a:off x="0" y="0"/>
          <a:ext cx="0" cy="0"/>
          <a:chOff x="0" y="0"/>
          <a:chExt cx="0" cy="0"/>
        </a:xfrm>
      </p:grpSpPr>
      <p:sp>
        <p:nvSpPr>
          <p:cNvPr id="442" name="Shape 0"/>
          <p:cNvSpPr/>
          <p:nvPr/>
        </p:nvSpPr>
        <p:spPr>
          <a:xfrm>
            <a:off x="0" y="0"/>
            <a:ext cx="76200" cy="9144000"/>
          </a:xfrm>
          <a:prstGeom prst="rect">
            <a:avLst/>
          </a:prstGeom>
          <a:solidFill>
            <a:srgbClr val="1A4A7A"/>
          </a:solidFill>
          <a:ln/>
        </p:spPr>
        <p:txBody>
          <a:bodyPr/>
          <a:lstStyle/>
          <a:p>
            <a:endParaRPr/>
          </a:p>
        </p:txBody>
      </p:sp>
      <p:sp>
        <p:nvSpPr>
          <p:cNvPr id="443" name="Text 1"/>
          <p:cNvSpPr/>
          <p:nvPr/>
        </p:nvSpPr>
        <p:spPr>
          <a:xfrm>
            <a:off x="762000" y="635000"/>
            <a:ext cx="3810000" cy="635000"/>
          </a:xfrm>
          <a:prstGeom prst="rect">
            <a:avLst/>
          </a:prstGeom>
          <a:noFill/>
          <a:ln/>
        </p:spPr>
        <p:txBody>
          <a:bodyPr wrap="none" lIns="0" tIns="0" rIns="0" bIns="0" rtlCol="0" anchor="ctr"/>
          <a:lstStyle/>
          <a:p>
            <a:pPr>
              <a:lnSpc>
                <a:spcPct val="100000"/>
              </a:lnSpc>
            </a:pPr>
            <a:r>
              <a:rPr lang="en-US" sz="3600" b="1" dirty="0">
                <a:solidFill>
                  <a:srgbClr val="1A4A7A"/>
                </a:solidFill>
                <a:latin typeface="Quattrocento Sans" pitchFamily="34" charset="0"/>
                <a:ea typeface="Quattrocento Sans" pitchFamily="34" charset="-122"/>
                <a:cs typeface="Quattrocento Sans" pitchFamily="34" charset="-120"/>
              </a:rPr>
              <a:t>Agenda</a:t>
            </a:r>
            <a:endParaRPr lang="en-US" sz="1600" dirty="0"/>
          </a:p>
        </p:txBody>
      </p:sp>
      <p:sp>
        <p:nvSpPr>
          <p:cNvPr id="444" name="Text 2"/>
          <p:cNvSpPr/>
          <p:nvPr/>
        </p:nvSpPr>
        <p:spPr>
          <a:xfrm>
            <a:off x="762000" y="1320800"/>
            <a:ext cx="3810000" cy="304800"/>
          </a:xfrm>
          <a:prstGeom prst="rect">
            <a:avLst/>
          </a:prstGeom>
          <a:noFill/>
          <a:ln/>
        </p:spPr>
        <p:txBody>
          <a:bodyPr wrap="none" lIns="0" tIns="0" rIns="0" bIns="0" rtlCol="0" anchor="ctr"/>
          <a:lstStyle/>
          <a:p>
            <a:pPr>
              <a:lnSpc>
                <a:spcPct val="100000"/>
              </a:lnSpc>
            </a:pPr>
            <a:r>
              <a:rPr lang="en-US" sz="1400" kern="0" spc="400" dirty="0">
                <a:solidFill>
                  <a:srgbClr val="5B9BD5"/>
                </a:solidFill>
                <a:latin typeface="Quattrocento Sans" pitchFamily="34" charset="0"/>
                <a:ea typeface="Quattrocento Sans" pitchFamily="34" charset="-122"/>
                <a:cs typeface="Quattrocento Sans" pitchFamily="34" charset="-120"/>
              </a:rPr>
              <a:t>TABLE OF CONTENTS</a:t>
            </a:r>
            <a:endParaRPr lang="en-US" sz="1600" dirty="0"/>
          </a:p>
        </p:txBody>
      </p:sp>
      <p:sp>
        <p:nvSpPr>
          <p:cNvPr id="445" name="Shape 3"/>
          <p:cNvSpPr/>
          <p:nvPr/>
        </p:nvSpPr>
        <p:spPr>
          <a:xfrm>
            <a:off x="762000" y="1752600"/>
            <a:ext cx="14732000" cy="12700"/>
          </a:xfrm>
          <a:prstGeom prst="rect">
            <a:avLst/>
          </a:prstGeom>
          <a:solidFill>
            <a:srgbClr val="E0E0E0"/>
          </a:solidFill>
          <a:ln/>
        </p:spPr>
        <p:txBody>
          <a:bodyPr/>
          <a:lstStyle/>
          <a:p>
            <a:endParaRPr/>
          </a:p>
        </p:txBody>
      </p:sp>
      <p:sp>
        <p:nvSpPr>
          <p:cNvPr id="446" name="Text 4"/>
          <p:cNvSpPr/>
          <p:nvPr/>
        </p:nvSpPr>
        <p:spPr>
          <a:xfrm>
            <a:off x="762000" y="2006600"/>
            <a:ext cx="762000" cy="635000"/>
          </a:xfrm>
          <a:prstGeom prst="rect">
            <a:avLst/>
          </a:prstGeom>
          <a:noFill/>
          <a:ln/>
        </p:spPr>
        <p:txBody>
          <a:bodyPr wrap="none" lIns="0" tIns="0" rIns="0" bIns="0" rtlCol="0" anchor="ctr"/>
          <a:lstStyle/>
          <a:p>
            <a:pPr>
              <a:lnSpc>
                <a:spcPct val="100000"/>
              </a:lnSpc>
            </a:pPr>
            <a:r>
              <a:rPr lang="en-US" sz="2800" dirty="0">
                <a:solidFill>
                  <a:srgbClr val="5B9BD5"/>
                </a:solidFill>
                <a:latin typeface="Quattrocento Sans" pitchFamily="34" charset="0"/>
                <a:ea typeface="Quattrocento Sans" pitchFamily="34" charset="-122"/>
                <a:cs typeface="Quattrocento Sans" pitchFamily="34" charset="-120"/>
              </a:rPr>
              <a:t>01</a:t>
            </a:r>
            <a:endParaRPr lang="en-US" sz="1600" dirty="0"/>
          </a:p>
        </p:txBody>
      </p:sp>
      <p:sp>
        <p:nvSpPr>
          <p:cNvPr id="447" name="Text 5"/>
          <p:cNvSpPr/>
          <p:nvPr/>
        </p:nvSpPr>
        <p:spPr>
          <a:xfrm>
            <a:off x="1651000" y="2070100"/>
            <a:ext cx="8890000" cy="355600"/>
          </a:xfrm>
          <a:prstGeom prst="rect">
            <a:avLst/>
          </a:prstGeom>
          <a:noFill/>
          <a:ln/>
        </p:spPr>
        <p:txBody>
          <a:bodyPr wrap="none" lIns="0" tIns="0" rIns="0" bIns="0" rtlCol="0" anchor="ctr"/>
          <a:lstStyle/>
          <a:p>
            <a:pPr>
              <a:lnSpc>
                <a:spcPct val="100000"/>
              </a:lnSpc>
            </a:pPr>
            <a:r>
              <a:rPr lang="en-US" sz="2000" b="1" dirty="0">
                <a:solidFill>
                  <a:srgbClr val="2C2C2C"/>
                </a:solidFill>
                <a:latin typeface="Quattrocento Sans" pitchFamily="34" charset="0"/>
                <a:ea typeface="Quattrocento Sans" pitchFamily="34" charset="-122"/>
                <a:cs typeface="Quattrocento Sans" pitchFamily="34" charset="-120"/>
              </a:rPr>
              <a:t>Background &amp; Motivation</a:t>
            </a:r>
            <a:endParaRPr lang="en-US" sz="1600" dirty="0"/>
          </a:p>
        </p:txBody>
      </p:sp>
      <p:sp>
        <p:nvSpPr>
          <p:cNvPr id="448" name="Text 6"/>
          <p:cNvSpPr/>
          <p:nvPr/>
        </p:nvSpPr>
        <p:spPr>
          <a:xfrm>
            <a:off x="1651000" y="2451100"/>
            <a:ext cx="8890000" cy="254000"/>
          </a:xfrm>
          <a:prstGeom prst="rect">
            <a:avLst/>
          </a:prstGeom>
          <a:noFill/>
          <a:ln/>
        </p:spPr>
        <p:txBody>
          <a:bodyPr wrap="none" lIns="0" tIns="0" rIns="0" bIns="0" rtlCol="0" anchor="ctr"/>
          <a:lstStyle/>
          <a:p>
            <a:pPr>
              <a:lnSpc>
                <a:spcPct val="100000"/>
              </a:lnSpc>
            </a:pPr>
            <a:r>
              <a:rPr lang="en-US" sz="1300" dirty="0">
                <a:solidFill>
                  <a:srgbClr val="AAAAAA"/>
                </a:solidFill>
                <a:latin typeface="Quattrocento Sans" pitchFamily="34" charset="0"/>
                <a:ea typeface="Quattrocento Sans" pitchFamily="34" charset="-122"/>
                <a:cs typeface="Quattrocento Sans" pitchFamily="34" charset="-120"/>
              </a:rPr>
              <a:t>From Vector RAG to GraphRAG</a:t>
            </a:r>
            <a:endParaRPr lang="en-US" sz="1600" dirty="0"/>
          </a:p>
        </p:txBody>
      </p:sp>
      <p:sp>
        <p:nvSpPr>
          <p:cNvPr id="449" name="Shape 7"/>
          <p:cNvSpPr/>
          <p:nvPr/>
        </p:nvSpPr>
        <p:spPr>
          <a:xfrm>
            <a:off x="762000" y="2844800"/>
            <a:ext cx="14732000" cy="12700"/>
          </a:xfrm>
          <a:prstGeom prst="rect">
            <a:avLst/>
          </a:prstGeom>
          <a:solidFill>
            <a:srgbClr val="E0E0E0"/>
          </a:solidFill>
          <a:ln/>
        </p:spPr>
        <p:txBody>
          <a:bodyPr/>
          <a:lstStyle/>
          <a:p>
            <a:endParaRPr/>
          </a:p>
        </p:txBody>
      </p:sp>
      <p:sp>
        <p:nvSpPr>
          <p:cNvPr id="450" name="Text 8"/>
          <p:cNvSpPr/>
          <p:nvPr/>
        </p:nvSpPr>
        <p:spPr>
          <a:xfrm>
            <a:off x="762000" y="3048000"/>
            <a:ext cx="762000" cy="635000"/>
          </a:xfrm>
          <a:prstGeom prst="rect">
            <a:avLst/>
          </a:prstGeom>
          <a:noFill/>
          <a:ln/>
        </p:spPr>
        <p:txBody>
          <a:bodyPr wrap="none" lIns="0" tIns="0" rIns="0" bIns="0" rtlCol="0" anchor="ctr"/>
          <a:lstStyle/>
          <a:p>
            <a:pPr>
              <a:lnSpc>
                <a:spcPct val="100000"/>
              </a:lnSpc>
            </a:pPr>
            <a:r>
              <a:rPr lang="en-US" sz="2800" dirty="0">
                <a:solidFill>
                  <a:srgbClr val="5B9BD5"/>
                </a:solidFill>
                <a:latin typeface="Quattrocento Sans" pitchFamily="34" charset="0"/>
                <a:ea typeface="Quattrocento Sans" pitchFamily="34" charset="-122"/>
                <a:cs typeface="Quattrocento Sans" pitchFamily="34" charset="-120"/>
              </a:rPr>
              <a:t>02</a:t>
            </a:r>
            <a:endParaRPr lang="en-US" sz="1600" dirty="0"/>
          </a:p>
        </p:txBody>
      </p:sp>
      <p:sp>
        <p:nvSpPr>
          <p:cNvPr id="451" name="Text 9"/>
          <p:cNvSpPr/>
          <p:nvPr/>
        </p:nvSpPr>
        <p:spPr>
          <a:xfrm>
            <a:off x="1651000" y="3111500"/>
            <a:ext cx="8890000" cy="355600"/>
          </a:xfrm>
          <a:prstGeom prst="rect">
            <a:avLst/>
          </a:prstGeom>
          <a:noFill/>
          <a:ln/>
        </p:spPr>
        <p:txBody>
          <a:bodyPr wrap="none" lIns="0" tIns="0" rIns="0" bIns="0" rtlCol="0" anchor="ctr"/>
          <a:lstStyle/>
          <a:p>
            <a:pPr>
              <a:lnSpc>
                <a:spcPct val="100000"/>
              </a:lnSpc>
            </a:pPr>
            <a:r>
              <a:rPr lang="en-US" sz="2000" b="1">
                <a:solidFill>
                  <a:srgbClr val="2C2C2C">
                    <a:alpha val="100000"/>
                  </a:srgbClr>
                </a:solidFill>
                <a:latin typeface="Quattrocento Sans"/>
                <a:ea typeface="Quattrocento Sans"/>
                <a:cs typeface="Quattrocento Sans"/>
              </a:rPr>
              <a:t>Data Processing &amp; Knowledge Graph Construction</a:t>
            </a:r>
            <a:endParaRPr/>
          </a:p>
        </p:txBody>
      </p:sp>
      <p:sp>
        <p:nvSpPr>
          <p:cNvPr id="452" name="Text 10"/>
          <p:cNvSpPr/>
          <p:nvPr/>
        </p:nvSpPr>
        <p:spPr>
          <a:xfrm>
            <a:off x="1651000" y="3492500"/>
            <a:ext cx="8890000" cy="254000"/>
          </a:xfrm>
          <a:prstGeom prst="rect">
            <a:avLst/>
          </a:prstGeom>
          <a:noFill/>
          <a:ln/>
        </p:spPr>
        <p:txBody>
          <a:bodyPr wrap="none" lIns="0" tIns="0" rIns="0" bIns="0" rtlCol="0" anchor="ctr"/>
          <a:lstStyle/>
          <a:p>
            <a:pPr>
              <a:lnSpc>
                <a:spcPct val="100000"/>
              </a:lnSpc>
            </a:pPr>
            <a:r>
              <a:rPr lang="en-US" sz="1300" dirty="0">
                <a:solidFill>
                  <a:srgbClr val="AAAAAA"/>
                </a:solidFill>
                <a:latin typeface="Quattrocento Sans" pitchFamily="34" charset="0"/>
                <a:ea typeface="Quattrocento Sans" pitchFamily="34" charset="-122"/>
                <a:cs typeface="Quattrocento Sans" pitchFamily="34" charset="-120"/>
              </a:rPr>
              <a:t>Wikipedia + DBpedia to Unified Knowledge Graph</a:t>
            </a:r>
            <a:endParaRPr lang="en-US" sz="1600" dirty="0"/>
          </a:p>
        </p:txBody>
      </p:sp>
      <p:sp>
        <p:nvSpPr>
          <p:cNvPr id="453" name="Shape 11"/>
          <p:cNvSpPr/>
          <p:nvPr/>
        </p:nvSpPr>
        <p:spPr>
          <a:xfrm>
            <a:off x="762000" y="3886200"/>
            <a:ext cx="14732000" cy="12700"/>
          </a:xfrm>
          <a:prstGeom prst="rect">
            <a:avLst/>
          </a:prstGeom>
          <a:solidFill>
            <a:srgbClr val="E0E0E0"/>
          </a:solidFill>
          <a:ln/>
        </p:spPr>
        <p:txBody>
          <a:bodyPr/>
          <a:lstStyle/>
          <a:p>
            <a:endParaRPr/>
          </a:p>
        </p:txBody>
      </p:sp>
      <p:sp>
        <p:nvSpPr>
          <p:cNvPr id="454" name="Text 12"/>
          <p:cNvSpPr/>
          <p:nvPr/>
        </p:nvSpPr>
        <p:spPr>
          <a:xfrm>
            <a:off x="762000" y="4089400"/>
            <a:ext cx="762000" cy="635000"/>
          </a:xfrm>
          <a:prstGeom prst="rect">
            <a:avLst/>
          </a:prstGeom>
          <a:noFill/>
          <a:ln/>
        </p:spPr>
        <p:txBody>
          <a:bodyPr wrap="none" lIns="0" tIns="0" rIns="0" bIns="0" rtlCol="0" anchor="ctr"/>
          <a:lstStyle/>
          <a:p>
            <a:pPr>
              <a:lnSpc>
                <a:spcPct val="100000"/>
              </a:lnSpc>
            </a:pPr>
            <a:r>
              <a:rPr lang="en-US" sz="2800" dirty="0">
                <a:solidFill>
                  <a:srgbClr val="5B9BD5"/>
                </a:solidFill>
                <a:latin typeface="Quattrocento Sans" pitchFamily="34" charset="0"/>
                <a:ea typeface="Quattrocento Sans" pitchFamily="34" charset="-122"/>
                <a:cs typeface="Quattrocento Sans" pitchFamily="34" charset="-120"/>
              </a:rPr>
              <a:t>03</a:t>
            </a:r>
            <a:endParaRPr lang="en-US" sz="1600" dirty="0"/>
          </a:p>
        </p:txBody>
      </p:sp>
      <p:sp>
        <p:nvSpPr>
          <p:cNvPr id="455" name="Text 13"/>
          <p:cNvSpPr/>
          <p:nvPr/>
        </p:nvSpPr>
        <p:spPr>
          <a:xfrm>
            <a:off x="1651000" y="4152900"/>
            <a:ext cx="8890000" cy="355600"/>
          </a:xfrm>
          <a:prstGeom prst="rect">
            <a:avLst/>
          </a:prstGeom>
          <a:noFill/>
          <a:ln/>
        </p:spPr>
        <p:txBody>
          <a:bodyPr wrap="none" lIns="0" tIns="0" rIns="0" bIns="0" rtlCol="0" anchor="ctr"/>
          <a:lstStyle/>
          <a:p>
            <a:pPr>
              <a:lnSpc>
                <a:spcPct val="100000"/>
              </a:lnSpc>
            </a:pPr>
            <a:r>
              <a:rPr lang="en-US" sz="2000" b="1" dirty="0">
                <a:solidFill>
                  <a:srgbClr val="2C2C2C"/>
                </a:solidFill>
                <a:latin typeface="Quattrocento Sans" pitchFamily="34" charset="0"/>
                <a:ea typeface="Quattrocento Sans" pitchFamily="34" charset="-122"/>
                <a:cs typeface="Quattrocento Sans" pitchFamily="34" charset="-120"/>
              </a:rPr>
              <a:t>Graph Analytics</a:t>
            </a:r>
            <a:endParaRPr lang="en-US" sz="1600" dirty="0"/>
          </a:p>
        </p:txBody>
      </p:sp>
      <p:sp>
        <p:nvSpPr>
          <p:cNvPr id="456" name="Text 14"/>
          <p:cNvSpPr/>
          <p:nvPr/>
        </p:nvSpPr>
        <p:spPr>
          <a:xfrm>
            <a:off x="1651000" y="4533900"/>
            <a:ext cx="8890000" cy="254000"/>
          </a:xfrm>
          <a:prstGeom prst="rect">
            <a:avLst/>
          </a:prstGeom>
          <a:noFill/>
          <a:ln/>
        </p:spPr>
        <p:txBody>
          <a:bodyPr wrap="none" lIns="0" tIns="0" rIns="0" bIns="0" rtlCol="0" anchor="ctr"/>
          <a:lstStyle/>
          <a:p>
            <a:pPr>
              <a:lnSpc>
                <a:spcPct val="100000"/>
              </a:lnSpc>
            </a:pPr>
            <a:r>
              <a:rPr lang="en-US" sz="1300" dirty="0">
                <a:solidFill>
                  <a:srgbClr val="AAAAAA"/>
                </a:solidFill>
                <a:latin typeface="Quattrocento Sans" pitchFamily="34" charset="0"/>
                <a:ea typeface="Quattrocento Sans" pitchFamily="34" charset="-122"/>
                <a:cs typeface="Quattrocento Sans" pitchFamily="34" charset="-120"/>
              </a:rPr>
              <a:t>PageRank, Louvain &amp; Scalability Validation</a:t>
            </a:r>
            <a:endParaRPr lang="en-US" sz="1600" dirty="0"/>
          </a:p>
        </p:txBody>
      </p:sp>
      <p:sp>
        <p:nvSpPr>
          <p:cNvPr id="457" name="Shape 15"/>
          <p:cNvSpPr/>
          <p:nvPr/>
        </p:nvSpPr>
        <p:spPr>
          <a:xfrm>
            <a:off x="762000" y="4927600"/>
            <a:ext cx="14732000" cy="12700"/>
          </a:xfrm>
          <a:prstGeom prst="rect">
            <a:avLst/>
          </a:prstGeom>
          <a:solidFill>
            <a:srgbClr val="E0E0E0"/>
          </a:solidFill>
          <a:ln/>
        </p:spPr>
        <p:txBody>
          <a:bodyPr/>
          <a:lstStyle/>
          <a:p>
            <a:endParaRPr/>
          </a:p>
        </p:txBody>
      </p:sp>
      <p:sp>
        <p:nvSpPr>
          <p:cNvPr id="458" name="Text 16"/>
          <p:cNvSpPr/>
          <p:nvPr/>
        </p:nvSpPr>
        <p:spPr>
          <a:xfrm>
            <a:off x="762000" y="5130800"/>
            <a:ext cx="762000" cy="635000"/>
          </a:xfrm>
          <a:prstGeom prst="rect">
            <a:avLst/>
          </a:prstGeom>
          <a:noFill/>
          <a:ln/>
        </p:spPr>
        <p:txBody>
          <a:bodyPr wrap="none" lIns="0" tIns="0" rIns="0" bIns="0" rtlCol="0" anchor="ctr"/>
          <a:lstStyle/>
          <a:p>
            <a:pPr>
              <a:lnSpc>
                <a:spcPct val="100000"/>
              </a:lnSpc>
            </a:pPr>
            <a:r>
              <a:rPr lang="en-US" sz="2800" dirty="0">
                <a:solidFill>
                  <a:srgbClr val="5B9BD5"/>
                </a:solidFill>
                <a:latin typeface="Quattrocento Sans" pitchFamily="34" charset="0"/>
                <a:ea typeface="Quattrocento Sans" pitchFamily="34" charset="-122"/>
                <a:cs typeface="Quattrocento Sans" pitchFamily="34" charset="-120"/>
              </a:rPr>
              <a:t>04</a:t>
            </a:r>
            <a:endParaRPr lang="en-US" sz="1600" dirty="0"/>
          </a:p>
        </p:txBody>
      </p:sp>
      <p:sp>
        <p:nvSpPr>
          <p:cNvPr id="459" name="Text 17"/>
          <p:cNvSpPr/>
          <p:nvPr/>
        </p:nvSpPr>
        <p:spPr>
          <a:xfrm>
            <a:off x="1651000" y="5194300"/>
            <a:ext cx="8890000" cy="355600"/>
          </a:xfrm>
          <a:prstGeom prst="rect">
            <a:avLst/>
          </a:prstGeom>
          <a:noFill/>
          <a:ln/>
        </p:spPr>
        <p:txBody>
          <a:bodyPr wrap="none" lIns="0" tIns="0" rIns="0" bIns="0" rtlCol="0" anchor="ctr"/>
          <a:lstStyle/>
          <a:p>
            <a:pPr>
              <a:lnSpc>
                <a:spcPct val="100000"/>
              </a:lnSpc>
            </a:pPr>
            <a:r>
              <a:rPr lang="en-US" sz="2000" b="1" dirty="0">
                <a:solidFill>
                  <a:srgbClr val="2C2C2C"/>
                </a:solidFill>
                <a:latin typeface="Quattrocento Sans" pitchFamily="34" charset="0"/>
                <a:ea typeface="Quattrocento Sans" pitchFamily="34" charset="-122"/>
                <a:cs typeface="Quattrocento Sans" pitchFamily="34" charset="-120"/>
              </a:rPr>
              <a:t>RAG System — Hybrid Retrieval</a:t>
            </a:r>
            <a:endParaRPr lang="en-US" sz="1600" dirty="0"/>
          </a:p>
        </p:txBody>
      </p:sp>
      <p:sp>
        <p:nvSpPr>
          <p:cNvPr id="460" name="Text 18"/>
          <p:cNvSpPr/>
          <p:nvPr/>
        </p:nvSpPr>
        <p:spPr>
          <a:xfrm>
            <a:off x="1651000" y="5575300"/>
            <a:ext cx="8890000" cy="254000"/>
          </a:xfrm>
          <a:prstGeom prst="rect">
            <a:avLst/>
          </a:prstGeom>
          <a:noFill/>
          <a:ln/>
        </p:spPr>
        <p:txBody>
          <a:bodyPr wrap="none" lIns="0" tIns="0" rIns="0" bIns="0" rtlCol="0" anchor="ctr"/>
          <a:lstStyle/>
          <a:p>
            <a:pPr>
              <a:lnSpc>
                <a:spcPct val="100000"/>
              </a:lnSpc>
            </a:pPr>
            <a:r>
              <a:rPr lang="en-US" sz="1300" dirty="0">
                <a:solidFill>
                  <a:srgbClr val="AAAAAA"/>
                </a:solidFill>
                <a:latin typeface="Quattrocento Sans" pitchFamily="34" charset="0"/>
                <a:ea typeface="Quattrocento Sans" pitchFamily="34" charset="-122"/>
                <a:cs typeface="Quattrocento Sans" pitchFamily="34" charset="-120"/>
              </a:rPr>
              <a:t>Graph-Guided Evidence Retrieval</a:t>
            </a:r>
            <a:endParaRPr lang="en-US" sz="1600" dirty="0"/>
          </a:p>
        </p:txBody>
      </p:sp>
      <p:sp>
        <p:nvSpPr>
          <p:cNvPr id="461" name="Shape 19"/>
          <p:cNvSpPr/>
          <p:nvPr/>
        </p:nvSpPr>
        <p:spPr>
          <a:xfrm>
            <a:off x="762000" y="5969000"/>
            <a:ext cx="14732000" cy="12700"/>
          </a:xfrm>
          <a:prstGeom prst="rect">
            <a:avLst/>
          </a:prstGeom>
          <a:solidFill>
            <a:srgbClr val="E0E0E0"/>
          </a:solidFill>
          <a:ln/>
        </p:spPr>
        <p:txBody>
          <a:bodyPr/>
          <a:lstStyle/>
          <a:p>
            <a:endParaRPr/>
          </a:p>
        </p:txBody>
      </p:sp>
      <p:sp>
        <p:nvSpPr>
          <p:cNvPr id="462" name="Text 20"/>
          <p:cNvSpPr/>
          <p:nvPr/>
        </p:nvSpPr>
        <p:spPr>
          <a:xfrm>
            <a:off x="762000" y="6172200"/>
            <a:ext cx="762000" cy="635000"/>
          </a:xfrm>
          <a:prstGeom prst="rect">
            <a:avLst/>
          </a:prstGeom>
          <a:noFill/>
          <a:ln/>
        </p:spPr>
        <p:txBody>
          <a:bodyPr wrap="none" lIns="0" tIns="0" rIns="0" bIns="0" rtlCol="0" anchor="ctr"/>
          <a:lstStyle/>
          <a:p>
            <a:pPr>
              <a:lnSpc>
                <a:spcPct val="100000"/>
              </a:lnSpc>
            </a:pPr>
            <a:r>
              <a:rPr lang="en-US" sz="2800" dirty="0">
                <a:solidFill>
                  <a:srgbClr val="5B9BD5"/>
                </a:solidFill>
                <a:latin typeface="Quattrocento Sans" pitchFamily="34" charset="0"/>
                <a:ea typeface="Quattrocento Sans" pitchFamily="34" charset="-122"/>
                <a:cs typeface="Quattrocento Sans" pitchFamily="34" charset="-120"/>
              </a:rPr>
              <a:t>05</a:t>
            </a:r>
            <a:endParaRPr lang="en-US" sz="1600" dirty="0"/>
          </a:p>
        </p:txBody>
      </p:sp>
      <p:sp>
        <p:nvSpPr>
          <p:cNvPr id="463" name="Text 21"/>
          <p:cNvSpPr/>
          <p:nvPr/>
        </p:nvSpPr>
        <p:spPr>
          <a:xfrm>
            <a:off x="1651000" y="6235700"/>
            <a:ext cx="8890000" cy="355600"/>
          </a:xfrm>
          <a:prstGeom prst="rect">
            <a:avLst/>
          </a:prstGeom>
          <a:noFill/>
          <a:ln/>
        </p:spPr>
        <p:txBody>
          <a:bodyPr wrap="none" lIns="0" tIns="0" rIns="0" bIns="0" rtlCol="0" anchor="ctr"/>
          <a:lstStyle/>
          <a:p>
            <a:pPr>
              <a:lnSpc>
                <a:spcPct val="100000"/>
              </a:lnSpc>
            </a:pPr>
            <a:r>
              <a:rPr lang="en-US" sz="2000" b="1" dirty="0">
                <a:solidFill>
                  <a:srgbClr val="2C2C2C"/>
                </a:solidFill>
                <a:latin typeface="Quattrocento Sans" pitchFamily="34" charset="0"/>
                <a:ea typeface="Quattrocento Sans" pitchFamily="34" charset="-122"/>
                <a:cs typeface="Quattrocento Sans" pitchFamily="34" charset="-120"/>
              </a:rPr>
              <a:t>Evaluation Framework</a:t>
            </a:r>
            <a:endParaRPr lang="en-US" sz="1600" dirty="0"/>
          </a:p>
        </p:txBody>
      </p:sp>
      <p:sp>
        <p:nvSpPr>
          <p:cNvPr id="464" name="Text 22"/>
          <p:cNvSpPr/>
          <p:nvPr/>
        </p:nvSpPr>
        <p:spPr>
          <a:xfrm>
            <a:off x="1651000" y="6616700"/>
            <a:ext cx="8890000" cy="254000"/>
          </a:xfrm>
          <a:prstGeom prst="rect">
            <a:avLst/>
          </a:prstGeom>
          <a:noFill/>
          <a:ln/>
        </p:spPr>
        <p:txBody>
          <a:bodyPr wrap="none" lIns="0" tIns="0" rIns="0" bIns="0" rtlCol="0" anchor="ctr"/>
          <a:lstStyle/>
          <a:p>
            <a:pPr>
              <a:lnSpc>
                <a:spcPct val="100000"/>
              </a:lnSpc>
            </a:pPr>
            <a:r>
              <a:rPr lang="en-US" sz="1300" dirty="0">
                <a:solidFill>
                  <a:srgbClr val="AAAAAA"/>
                </a:solidFill>
                <a:latin typeface="Quattrocento Sans" pitchFamily="34" charset="0"/>
                <a:ea typeface="Quattrocento Sans" pitchFamily="34" charset="-122"/>
                <a:cs typeface="Quattrocento Sans" pitchFamily="34" charset="-120"/>
              </a:rPr>
              <a:t>HotpotQA Benchmark &amp; Ablation Study</a:t>
            </a:r>
            <a:endParaRPr lang="en-US" sz="1600" dirty="0"/>
          </a:p>
        </p:txBody>
      </p:sp>
      <p:sp>
        <p:nvSpPr>
          <p:cNvPr id="465" name="Shape 23"/>
          <p:cNvSpPr/>
          <p:nvPr/>
        </p:nvSpPr>
        <p:spPr>
          <a:xfrm>
            <a:off x="762000" y="7010400"/>
            <a:ext cx="14732000" cy="12700"/>
          </a:xfrm>
          <a:prstGeom prst="rect">
            <a:avLst/>
          </a:prstGeom>
          <a:solidFill>
            <a:srgbClr val="E0E0E0"/>
          </a:solidFill>
          <a:ln/>
        </p:spPr>
        <p:txBody>
          <a:bodyPr/>
          <a:lstStyle/>
          <a:p>
            <a:endParaRPr/>
          </a:p>
        </p:txBody>
      </p:sp>
      <p:sp>
        <p:nvSpPr>
          <p:cNvPr id="466" name="Text 24"/>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2</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C"/>
        </a:solidFill>
        <a:effectLst/>
      </p:bgPr>
    </p:bg>
    <p:spTree>
      <p:nvGrpSpPr>
        <p:cNvPr id="1" name=""/>
        <p:cNvGrpSpPr/>
        <p:nvPr/>
      </p:nvGrpSpPr>
      <p:grpSpPr>
        <a:xfrm>
          <a:off x="0" y="0"/>
          <a:ext cx="0" cy="0"/>
          <a:chOff x="0" y="0"/>
          <a:chExt cx="0" cy="0"/>
        </a:xfrm>
      </p:grpSpPr>
      <p:sp>
        <p:nvSpPr>
          <p:cNvPr id="576" name="Shape 0"/>
          <p:cNvSpPr/>
          <p:nvPr/>
        </p:nvSpPr>
        <p:spPr>
          <a:xfrm>
            <a:off x="0" y="0"/>
            <a:ext cx="76200" cy="9144000"/>
          </a:xfrm>
          <a:prstGeom prst="rect">
            <a:avLst/>
          </a:prstGeom>
          <a:solidFill>
            <a:srgbClr val="1A4A7A"/>
          </a:solidFill>
          <a:ln/>
        </p:spPr>
        <p:txBody>
          <a:bodyPr/>
          <a:lstStyle/>
          <a:p>
            <a:endParaRPr/>
          </a:p>
        </p:txBody>
      </p:sp>
      <p:sp>
        <p:nvSpPr>
          <p:cNvPr id="577" name="Shape 1"/>
          <p:cNvSpPr/>
          <p:nvPr/>
        </p:nvSpPr>
        <p:spPr>
          <a:xfrm>
            <a:off x="6096000" y="1778000"/>
            <a:ext cx="12700" cy="5588000"/>
          </a:xfrm>
          <a:prstGeom prst="rect">
            <a:avLst/>
          </a:prstGeom>
          <a:solidFill>
            <a:srgbClr val="E0E0E0"/>
          </a:solidFill>
          <a:ln/>
        </p:spPr>
        <p:txBody>
          <a:bodyPr/>
          <a:lstStyle/>
          <a:p>
            <a:endParaRPr/>
          </a:p>
        </p:txBody>
      </p:sp>
      <p:sp>
        <p:nvSpPr>
          <p:cNvPr id="578" name="Text 2"/>
          <p:cNvSpPr/>
          <p:nvPr/>
        </p:nvSpPr>
        <p:spPr>
          <a:xfrm>
            <a:off x="762000" y="2540000"/>
            <a:ext cx="4826000" cy="2540000"/>
          </a:xfrm>
          <a:prstGeom prst="rect">
            <a:avLst/>
          </a:prstGeom>
          <a:noFill/>
          <a:ln/>
        </p:spPr>
        <p:txBody>
          <a:bodyPr wrap="none" lIns="0" tIns="0" rIns="0" bIns="0" rtlCol="0" anchor="ctr"/>
          <a:lstStyle/>
          <a:p>
            <a:pPr algn="ctr">
              <a:lnSpc>
                <a:spcPct val="100000"/>
              </a:lnSpc>
            </a:pPr>
            <a:r>
              <a:rPr lang="en-US" sz="12000" dirty="0">
                <a:solidFill>
                  <a:srgbClr val="5B9BD5"/>
                </a:solidFill>
                <a:latin typeface="Quattrocento Sans" pitchFamily="34" charset="0"/>
                <a:ea typeface="Quattrocento Sans" pitchFamily="34" charset="-122"/>
                <a:cs typeface="Quattrocento Sans" pitchFamily="34" charset="-120"/>
              </a:rPr>
              <a:t>01</a:t>
            </a:r>
            <a:endParaRPr lang="en-US" sz="1600" dirty="0"/>
          </a:p>
        </p:txBody>
      </p:sp>
      <p:sp>
        <p:nvSpPr>
          <p:cNvPr id="579" name="Text 3"/>
          <p:cNvSpPr/>
          <p:nvPr/>
        </p:nvSpPr>
        <p:spPr>
          <a:xfrm>
            <a:off x="762000" y="5080000"/>
            <a:ext cx="4826000" cy="355600"/>
          </a:xfrm>
          <a:prstGeom prst="rect">
            <a:avLst/>
          </a:prstGeom>
          <a:noFill/>
          <a:ln/>
        </p:spPr>
        <p:txBody>
          <a:bodyPr wrap="none" lIns="0" tIns="0" rIns="0" bIns="0" rtlCol="0" anchor="ctr"/>
          <a:lstStyle/>
          <a:p>
            <a:pPr algn="ctr">
              <a:lnSpc>
                <a:spcPct val="100000"/>
              </a:lnSpc>
            </a:pPr>
            <a:r>
              <a:rPr lang="en-US" sz="1600" kern="0" spc="400" dirty="0">
                <a:solidFill>
                  <a:srgbClr val="5B9BD5"/>
                </a:solidFill>
                <a:latin typeface="Quattrocento Sans" pitchFamily="34" charset="0"/>
                <a:ea typeface="Quattrocento Sans" pitchFamily="34" charset="-122"/>
                <a:cs typeface="Quattrocento Sans" pitchFamily="34" charset="-120"/>
              </a:rPr>
              <a:t>CHAPTER ONE</a:t>
            </a:r>
            <a:endParaRPr lang="en-US" sz="1600" dirty="0"/>
          </a:p>
        </p:txBody>
      </p:sp>
      <p:sp>
        <p:nvSpPr>
          <p:cNvPr id="580" name="Text 4"/>
          <p:cNvSpPr/>
          <p:nvPr/>
        </p:nvSpPr>
        <p:spPr>
          <a:xfrm>
            <a:off x="6604000" y="3454400"/>
            <a:ext cx="8890000" cy="711200"/>
          </a:xfrm>
          <a:prstGeom prst="rect">
            <a:avLst/>
          </a:prstGeom>
          <a:noFill/>
          <a:ln/>
        </p:spPr>
        <p:txBody>
          <a:bodyPr wrap="none" lIns="0" tIns="0" rIns="0" bIns="0" rtlCol="0" anchor="ctr"/>
          <a:lstStyle/>
          <a:p>
            <a:pPr>
              <a:lnSpc>
                <a:spcPct val="100000"/>
              </a:lnSpc>
            </a:pPr>
            <a:r>
              <a:rPr lang="en-US" sz="3600" b="1" dirty="0">
                <a:solidFill>
                  <a:srgbClr val="1A4A7A"/>
                </a:solidFill>
                <a:latin typeface="Quattrocento Sans" pitchFamily="34" charset="0"/>
                <a:ea typeface="Quattrocento Sans" pitchFamily="34" charset="-122"/>
                <a:cs typeface="Quattrocento Sans" pitchFamily="34" charset="-120"/>
              </a:rPr>
              <a:t>Background &amp; Motivation</a:t>
            </a:r>
            <a:endParaRPr lang="en-US" sz="1600" dirty="0"/>
          </a:p>
        </p:txBody>
      </p:sp>
      <p:sp>
        <p:nvSpPr>
          <p:cNvPr id="581" name="Text 5"/>
          <p:cNvSpPr/>
          <p:nvPr/>
        </p:nvSpPr>
        <p:spPr>
          <a:xfrm>
            <a:off x="6604000" y="5080000"/>
            <a:ext cx="8890000" cy="355600"/>
          </a:xfrm>
          <a:prstGeom prst="rect">
            <a:avLst/>
          </a:prstGeom>
          <a:noFill/>
          <a:ln/>
        </p:spPr>
        <p:txBody>
          <a:bodyPr wrap="none" lIns="0" tIns="0" rIns="0" bIns="0" rtlCol="0" anchor="ctr"/>
          <a:lstStyle/>
          <a:p>
            <a:pPr>
              <a:lnSpc>
                <a:spcPct val="100000"/>
              </a:lnSpc>
            </a:pPr>
            <a:r>
              <a:rPr lang="en-US" sz="1800" dirty="0">
                <a:solidFill>
                  <a:srgbClr val="AAAAAA"/>
                </a:solidFill>
                <a:latin typeface="Quattrocento Sans" pitchFamily="34" charset="0"/>
                <a:ea typeface="Quattrocento Sans" pitchFamily="34" charset="-122"/>
                <a:cs typeface="Quattrocento Sans" pitchFamily="34" charset="-120"/>
              </a:rPr>
              <a:t>Why we need GraphRAG + Spark for large-scale multi-hop reasoning</a:t>
            </a:r>
            <a:endParaRPr lang="en-US" sz="1600" dirty="0"/>
          </a:p>
        </p:txBody>
      </p:sp>
      <p:sp>
        <p:nvSpPr>
          <p:cNvPr id="582" name="Text 10"/>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3</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C"/>
        </a:solidFill>
        <a:effectLst/>
      </p:bgPr>
    </p:bg>
    <p:spTree>
      <p:nvGrpSpPr>
        <p:cNvPr id="1" name=""/>
        <p:cNvGrpSpPr/>
        <p:nvPr/>
      </p:nvGrpSpPr>
      <p:grpSpPr>
        <a:xfrm>
          <a:off x="0" y="0"/>
          <a:ext cx="0" cy="0"/>
          <a:chOff x="0" y="0"/>
          <a:chExt cx="0" cy="0"/>
        </a:xfrm>
      </p:grpSpPr>
      <p:sp>
        <p:nvSpPr>
          <p:cNvPr id="584" name="Shape 0"/>
          <p:cNvSpPr/>
          <p:nvPr/>
        </p:nvSpPr>
        <p:spPr>
          <a:xfrm>
            <a:off x="0" y="0"/>
            <a:ext cx="76200" cy="9144000"/>
          </a:xfrm>
          <a:prstGeom prst="rect">
            <a:avLst/>
          </a:prstGeom>
          <a:solidFill>
            <a:srgbClr val="1A4A7A"/>
          </a:solidFill>
          <a:ln/>
        </p:spPr>
        <p:txBody>
          <a:bodyPr/>
          <a:lstStyle/>
          <a:p>
            <a:endParaRPr/>
          </a:p>
        </p:txBody>
      </p:sp>
      <p:sp>
        <p:nvSpPr>
          <p:cNvPr id="585" name="Shape 1"/>
          <p:cNvSpPr/>
          <p:nvPr/>
        </p:nvSpPr>
        <p:spPr>
          <a:xfrm>
            <a:off x="0" y="0"/>
            <a:ext cx="16256000" cy="38100"/>
          </a:xfrm>
          <a:prstGeom prst="rect">
            <a:avLst/>
          </a:prstGeom>
          <a:solidFill>
            <a:srgbClr val="1A4A7A"/>
          </a:solidFill>
          <a:ln/>
        </p:spPr>
        <p:txBody>
          <a:bodyPr/>
          <a:lstStyle/>
          <a:p>
            <a:endParaRPr/>
          </a:p>
        </p:txBody>
      </p:sp>
      <p:sp>
        <p:nvSpPr>
          <p:cNvPr id="586"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dirty="0">
                <a:solidFill>
                  <a:srgbClr val="5B9BD5"/>
                </a:solidFill>
                <a:latin typeface="Quattrocento Sans" pitchFamily="34" charset="0"/>
                <a:ea typeface="Quattrocento Sans" pitchFamily="34" charset="-122"/>
                <a:cs typeface="Quattrocento Sans" pitchFamily="34" charset="-120"/>
              </a:rPr>
              <a:t>01 Background &amp; Motivation</a:t>
            </a:r>
            <a:endParaRPr lang="en-US" sz="1600" dirty="0"/>
          </a:p>
        </p:txBody>
      </p:sp>
      <p:sp>
        <p:nvSpPr>
          <p:cNvPr id="587"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a:solidFill>
                  <a:srgbClr val="1A4A7A">
                    <a:alpha val="100000"/>
                  </a:srgbClr>
                </a:solidFill>
                <a:latin typeface="Quattrocento Sans"/>
                <a:ea typeface="Quattrocento Sans"/>
                <a:cs typeface="Quattrocento Sans"/>
              </a:rPr>
              <a:t>Experiment Background</a:t>
            </a:r>
            <a:endParaRPr/>
          </a:p>
        </p:txBody>
      </p:sp>
      <p:sp>
        <p:nvSpPr>
          <p:cNvPr id="588" name="Shape 4"/>
          <p:cNvSpPr/>
          <p:nvPr/>
        </p:nvSpPr>
        <p:spPr>
          <a:xfrm>
            <a:off x="508000" y="863600"/>
            <a:ext cx="15240000" cy="12700"/>
          </a:xfrm>
          <a:prstGeom prst="rect">
            <a:avLst/>
          </a:prstGeom>
          <a:solidFill>
            <a:srgbClr val="E0E0E0"/>
          </a:solidFill>
          <a:ln/>
        </p:spPr>
        <p:txBody>
          <a:bodyPr/>
          <a:lstStyle/>
          <a:p>
            <a:endParaRPr/>
          </a:p>
        </p:txBody>
      </p:sp>
      <p:sp>
        <p:nvSpPr>
          <p:cNvPr id="589" name="Shape 5"/>
          <p:cNvSpPr/>
          <p:nvPr/>
        </p:nvSpPr>
        <p:spPr>
          <a:xfrm>
            <a:off x="508000" y="1117600"/>
            <a:ext cx="15240000" cy="1710217"/>
          </a:xfrm>
          <a:prstGeom prst="roundRect">
            <a:avLst>
              <a:gd name="adj" fmla="val 4000"/>
            </a:avLst>
          </a:prstGeom>
          <a:solidFill>
            <a:srgbClr val="F5F5F5"/>
          </a:solidFill>
          <a:ln/>
        </p:spPr>
        <p:txBody>
          <a:bodyPr/>
          <a:lstStyle/>
          <a:p>
            <a:endParaRPr/>
          </a:p>
        </p:txBody>
      </p:sp>
      <p:sp>
        <p:nvSpPr>
          <p:cNvPr id="590" name="Text 6"/>
          <p:cNvSpPr/>
          <p:nvPr/>
        </p:nvSpPr>
        <p:spPr>
          <a:xfrm>
            <a:off x="762000" y="1418750"/>
            <a:ext cx="14732000" cy="457200"/>
          </a:xfrm>
          <a:prstGeom prst="rect">
            <a:avLst/>
          </a:prstGeom>
          <a:noFill/>
          <a:ln/>
        </p:spPr>
        <p:txBody>
          <a:bodyPr wrap="square" lIns="0" tIns="0" rIns="0" bIns="0" rtlCol="0" anchor="ctr"/>
          <a:lstStyle/>
          <a:p>
            <a:pPr algn="ctr">
              <a:lnSpc>
                <a:spcPct val="160000"/>
              </a:lnSpc>
            </a:pPr>
            <a:endParaRPr lang="en-US" sz="1800" b="1">
              <a:solidFill>
                <a:srgbClr val="1A4A7A">
                  <a:alpha val="100000"/>
                </a:srgbClr>
              </a:solidFill>
              <a:latin typeface="Quattrocento Sans"/>
              <a:ea typeface="Quattrocento Sans"/>
              <a:cs typeface="Quattrocento Sans"/>
            </a:endParaRPr>
          </a:p>
          <a:p>
            <a:pPr algn="ctr">
              <a:lnSpc>
                <a:spcPct val="160000"/>
              </a:lnSpc>
              <a:spcBef>
                <a:spcPts val="1200"/>
              </a:spcBef>
            </a:pPr>
            <a:r>
              <a:rPr lang="en-US" sz="2000">
                <a:solidFill>
                  <a:srgbClr val="2C2C2C">
                    <a:alpha val="100000"/>
                  </a:srgbClr>
                </a:solidFill>
                <a:latin typeface="Quattrocento Sans"/>
                <a:ea typeface="Quattrocento Sans"/>
                <a:cs typeface="Quattrocento Sans"/>
              </a:rPr>
              <a:t>Retrieval-Augmented Generation (RAG): retrieve relevant information from an external knowledge base, then feed it as context to the LLM</a:t>
            </a:r>
            <a:endParaRPr lang="en-US" sz="1600"/>
          </a:p>
        </p:txBody>
      </p:sp>
      <p:sp>
        <p:nvSpPr>
          <p:cNvPr id="591" name="Shape 7"/>
          <p:cNvSpPr/>
          <p:nvPr/>
        </p:nvSpPr>
        <p:spPr>
          <a:xfrm>
            <a:off x="508000" y="3556000"/>
            <a:ext cx="635000" cy="635000"/>
          </a:xfrm>
          <a:prstGeom prst="ellipse">
            <a:avLst/>
          </a:prstGeom>
          <a:solidFill>
            <a:srgbClr val="1A4A7A"/>
          </a:solidFill>
          <a:ln/>
        </p:spPr>
        <p:txBody>
          <a:bodyPr/>
          <a:lstStyle/>
          <a:p>
            <a:endParaRPr/>
          </a:p>
        </p:txBody>
      </p:sp>
      <p:sp>
        <p:nvSpPr>
          <p:cNvPr id="592" name="Text 8"/>
          <p:cNvSpPr/>
          <p:nvPr/>
        </p:nvSpPr>
        <p:spPr>
          <a:xfrm>
            <a:off x="508000" y="3556000"/>
            <a:ext cx="635000" cy="635000"/>
          </a:xfrm>
          <a:prstGeom prst="rect">
            <a:avLst/>
          </a:prstGeom>
          <a:noFill/>
          <a:ln/>
        </p:spPr>
        <p:txBody>
          <a:bodyPr wrap="none" lIns="0" tIns="0" rIns="0" bIns="0" rtlCol="0" anchor="ctr"/>
          <a:lstStyle/>
          <a:p>
            <a:pPr algn="ctr">
              <a:lnSpc>
                <a:spcPct val="100000"/>
              </a:lnSpc>
            </a:pPr>
            <a:r>
              <a:rPr lang="en-US" sz="2000"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593" name="Text 9"/>
          <p:cNvSpPr/>
          <p:nvPr/>
        </p:nvSpPr>
        <p:spPr>
          <a:xfrm>
            <a:off x="1346200" y="3556000"/>
            <a:ext cx="6350000" cy="381000"/>
          </a:xfrm>
          <a:prstGeom prst="rect">
            <a:avLst/>
          </a:prstGeom>
          <a:noFill/>
          <a:ln/>
        </p:spPr>
        <p:txBody>
          <a:bodyPr wrap="none" lIns="0" tIns="0" rIns="0" bIns="0" rtlCol="0" anchor="ctr"/>
          <a:lstStyle/>
          <a:p>
            <a:pPr>
              <a:lnSpc>
                <a:spcPct val="100000"/>
              </a:lnSpc>
            </a:pPr>
            <a:r>
              <a:rPr lang="en-US" sz="2000" b="1">
                <a:solidFill>
                  <a:srgbClr val="1A4A7A">
                    <a:alpha val="100000"/>
                  </a:srgbClr>
                </a:solidFill>
                <a:latin typeface="Quattrocento Sans"/>
                <a:ea typeface="Quattrocento Sans"/>
                <a:cs typeface="Quattrocento Sans"/>
              </a:rPr>
              <a:t>The Rise of LLMs and RAG</a:t>
            </a:r>
            <a:endParaRPr/>
          </a:p>
        </p:txBody>
      </p:sp>
      <p:sp>
        <p:nvSpPr>
          <p:cNvPr id="594" name="Text 10"/>
          <p:cNvSpPr/>
          <p:nvPr/>
        </p:nvSpPr>
        <p:spPr>
          <a:xfrm>
            <a:off x="1346200" y="4013200"/>
            <a:ext cx="14401800" cy="1066800"/>
          </a:xfrm>
          <a:prstGeom prst="rect">
            <a:avLst/>
          </a:prstGeom>
          <a:noFill/>
          <a:ln/>
        </p:spPr>
        <p:txBody>
          <a:bodyPr wrap="square" lIns="0" tIns="0" rIns="0" bIns="0" rtlCol="0" anchor="ctr"/>
          <a:lstStyle/>
          <a:p>
            <a:pPr>
              <a:lnSpc>
                <a:spcPct val="160000"/>
              </a:lnSpc>
            </a:pPr>
            <a:r>
              <a:rPr lang="en-US" sz="1800">
                <a:solidFill>
                  <a:srgbClr val="2C2C2C">
                    <a:alpha val="100000"/>
                  </a:srgbClr>
                </a:solidFill>
                <a:latin typeface="Quattrocento Sans"/>
                <a:ea typeface="Quattrocento Sans"/>
                <a:cs typeface="Quattrocento Sans"/>
              </a:rPr>
              <a:t>Retrieval-augmented generation (RAG) enables large language models (LLMs) to accurately answer questions based on private or previously unseen document collections by retrieving relevant information from external knowledge sources.</a:t>
            </a:r>
            <a:endParaRPr/>
          </a:p>
        </p:txBody>
      </p:sp>
      <p:sp>
        <p:nvSpPr>
          <p:cNvPr id="595" name="Shape 11"/>
          <p:cNvSpPr/>
          <p:nvPr/>
        </p:nvSpPr>
        <p:spPr>
          <a:xfrm>
            <a:off x="508000" y="6299200"/>
            <a:ext cx="635000" cy="635000"/>
          </a:xfrm>
          <a:prstGeom prst="ellipse">
            <a:avLst/>
          </a:prstGeom>
          <a:solidFill>
            <a:srgbClr val="5B9BD5"/>
          </a:solidFill>
          <a:ln/>
        </p:spPr>
        <p:txBody>
          <a:bodyPr/>
          <a:lstStyle/>
          <a:p>
            <a:endParaRPr/>
          </a:p>
        </p:txBody>
      </p:sp>
      <p:sp>
        <p:nvSpPr>
          <p:cNvPr id="596" name="Text 12"/>
          <p:cNvSpPr/>
          <p:nvPr/>
        </p:nvSpPr>
        <p:spPr>
          <a:xfrm>
            <a:off x="508000" y="6299200"/>
            <a:ext cx="635000" cy="635000"/>
          </a:xfrm>
          <a:prstGeom prst="rect">
            <a:avLst/>
          </a:prstGeom>
          <a:noFill/>
          <a:ln/>
        </p:spPr>
        <p:txBody>
          <a:bodyPr wrap="none" lIns="0" tIns="0" rIns="0" bIns="0" rtlCol="0" anchor="ctr"/>
          <a:lstStyle/>
          <a:p>
            <a:pPr algn="ctr">
              <a:lnSpc>
                <a:spcPct val="100000"/>
              </a:lnSpc>
            </a:pPr>
            <a:r>
              <a:rPr lang="en-US" sz="2000"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597" name="Text 13"/>
          <p:cNvSpPr/>
          <p:nvPr/>
        </p:nvSpPr>
        <p:spPr>
          <a:xfrm>
            <a:off x="1346200" y="6426200"/>
            <a:ext cx="6350000" cy="381000"/>
          </a:xfrm>
          <a:prstGeom prst="rect">
            <a:avLst/>
          </a:prstGeom>
          <a:noFill/>
          <a:ln/>
        </p:spPr>
        <p:txBody>
          <a:bodyPr wrap="none" lIns="0" tIns="0" rIns="0" bIns="0" rtlCol="0" anchor="ctr"/>
          <a:lstStyle/>
          <a:p>
            <a:pPr>
              <a:lnSpc>
                <a:spcPct val="100000"/>
              </a:lnSpc>
            </a:pPr>
            <a:r>
              <a:rPr lang="en-US" sz="2000" b="1">
                <a:solidFill>
                  <a:srgbClr val="1A4A7A">
                    <a:alpha val="100000"/>
                  </a:srgbClr>
                </a:solidFill>
                <a:latin typeface="Quattrocento Sans"/>
                <a:ea typeface="Quattrocento Sans"/>
                <a:cs typeface="Quattrocento Sans"/>
              </a:rPr>
              <a:t>Frontier Theoretical Exploration (GraphRAG)</a:t>
            </a:r>
            <a:endParaRPr/>
          </a:p>
        </p:txBody>
      </p:sp>
      <p:sp>
        <p:nvSpPr>
          <p:cNvPr id="598" name="Text 14"/>
          <p:cNvSpPr/>
          <p:nvPr/>
        </p:nvSpPr>
        <p:spPr>
          <a:xfrm>
            <a:off x="1346200" y="7217250"/>
            <a:ext cx="14401800" cy="762000"/>
          </a:xfrm>
          <a:prstGeom prst="rect">
            <a:avLst/>
          </a:prstGeom>
          <a:noFill/>
          <a:ln/>
        </p:spPr>
        <p:txBody>
          <a:bodyPr wrap="square" lIns="0" tIns="0" rIns="0" bIns="0" rtlCol="0" anchor="ctr"/>
          <a:lstStyle/>
          <a:p>
            <a:pPr>
              <a:lnSpc>
                <a:spcPct val="160000"/>
              </a:lnSpc>
            </a:pPr>
            <a:r>
              <a:rPr lang="en-US" sz="1800">
                <a:solidFill>
                  <a:srgbClr val="2C2C2C">
                    <a:alpha val="100000"/>
                  </a:srgbClr>
                </a:solidFill>
                <a:latin typeface="Quattrocento Sans"/>
                <a:ea typeface="Quattrocento Sans"/>
                <a:cs typeface="Quattrocento Sans"/>
              </a:rPr>
              <a:t>Recent research proposes using LLMs to build an entity knowledge graph and pre-generate community summaries. Compared to a conventional RAG baseline, this graph-based architecture leads to substantial improvements in both the comprehensiveness and diversity of generated answers for global questions.</a:t>
            </a:r>
            <a:endParaRPr/>
          </a:p>
        </p:txBody>
      </p:sp>
      <p:sp>
        <p:nvSpPr>
          <p:cNvPr id="599" name="Text 17"/>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4</a:t>
            </a:r>
            <a:endParaRPr lang="en-US" sz="1600" dirty="0"/>
          </a:p>
        </p:txBody>
      </p:sp>
      <p:sp>
        <p:nvSpPr>
          <p:cNvPr id="600" name="Text 8"/>
          <p:cNvSpPr/>
          <p:nvPr/>
        </p:nvSpPr>
        <p:spPr>
          <a:xfrm>
            <a:off x="608000" y="3656000"/>
            <a:ext cx="635000" cy="635000"/>
          </a:xfrm>
          <a:prstGeom prst="rect">
            <a:avLst/>
          </a:prstGeom>
          <a:noFill/>
          <a:ln/>
        </p:spPr>
        <p:txBody>
          <a:bodyPr wrap="none" lIns="0" tIns="0" rIns="0" bIns="0" rtlCol="0" anchor="ctr"/>
          <a:lstStyle/>
          <a:p>
            <a:pPr algn="ctr">
              <a:lnSpc>
                <a:spcPct val="100000"/>
              </a:lnSpc>
            </a:pPr>
            <a:endParaRPr lang="en-US" sz="2000">
              <a:solidFill>
                <a:srgbClr val="FFFFFF">
                  <a:alpha val="100000"/>
                </a:srgbClr>
              </a:solidFill>
              <a:latin typeface="Quattrocento Sans"/>
              <a:ea typeface="Quattrocento Sans"/>
              <a:cs typeface="Quattrocento Sans"/>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C"/>
        </a:solidFill>
        <a:effectLst/>
      </p:bgPr>
    </p:bg>
    <p:spTree>
      <p:nvGrpSpPr>
        <p:cNvPr id="1" name=""/>
        <p:cNvGrpSpPr/>
        <p:nvPr/>
      </p:nvGrpSpPr>
      <p:grpSpPr>
        <a:xfrm>
          <a:off x="0" y="0"/>
          <a:ext cx="0" cy="0"/>
          <a:chOff x="0" y="0"/>
          <a:chExt cx="0" cy="0"/>
        </a:xfrm>
      </p:grpSpPr>
      <p:sp>
        <p:nvSpPr>
          <p:cNvPr id="602" name="Shape 0"/>
          <p:cNvSpPr/>
          <p:nvPr/>
        </p:nvSpPr>
        <p:spPr>
          <a:xfrm>
            <a:off x="0" y="0"/>
            <a:ext cx="76200" cy="9144000"/>
          </a:xfrm>
          <a:prstGeom prst="rect">
            <a:avLst/>
          </a:prstGeom>
          <a:solidFill>
            <a:srgbClr val="1A4A7A"/>
          </a:solidFill>
          <a:ln/>
        </p:spPr>
        <p:txBody>
          <a:bodyPr/>
          <a:lstStyle/>
          <a:p>
            <a:endParaRPr/>
          </a:p>
        </p:txBody>
      </p:sp>
      <p:sp>
        <p:nvSpPr>
          <p:cNvPr id="603" name="Shape 1"/>
          <p:cNvSpPr/>
          <p:nvPr/>
        </p:nvSpPr>
        <p:spPr>
          <a:xfrm>
            <a:off x="0" y="0"/>
            <a:ext cx="16256000" cy="38100"/>
          </a:xfrm>
          <a:prstGeom prst="rect">
            <a:avLst/>
          </a:prstGeom>
          <a:solidFill>
            <a:srgbClr val="1A4A7A"/>
          </a:solidFill>
          <a:ln/>
        </p:spPr>
        <p:txBody>
          <a:bodyPr/>
          <a:lstStyle/>
          <a:p>
            <a:endParaRPr/>
          </a:p>
        </p:txBody>
      </p:sp>
      <p:sp>
        <p:nvSpPr>
          <p:cNvPr id="604"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dirty="0">
                <a:solidFill>
                  <a:srgbClr val="5B9BD5"/>
                </a:solidFill>
                <a:latin typeface="Quattrocento Sans" pitchFamily="34" charset="0"/>
                <a:ea typeface="Quattrocento Sans" pitchFamily="34" charset="-122"/>
                <a:cs typeface="Quattrocento Sans" pitchFamily="34" charset="-120"/>
              </a:rPr>
              <a:t>01 Background &amp; Motivation</a:t>
            </a:r>
            <a:endParaRPr lang="en-US" sz="1600" dirty="0"/>
          </a:p>
        </p:txBody>
      </p:sp>
      <p:sp>
        <p:nvSpPr>
          <p:cNvPr id="605"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a:solidFill>
                  <a:srgbClr val="1A4A7A">
                    <a:alpha val="100000"/>
                  </a:srgbClr>
                </a:solidFill>
                <a:latin typeface="Quattrocento Sans"/>
                <a:ea typeface="Quattrocento Sans"/>
                <a:cs typeface="Quattrocento Sans"/>
              </a:rPr>
              <a:t>Limitations of Traditional RAG</a:t>
            </a:r>
            <a:endParaRPr/>
          </a:p>
        </p:txBody>
      </p:sp>
      <p:sp>
        <p:nvSpPr>
          <p:cNvPr id="606" name="Shape 4"/>
          <p:cNvSpPr/>
          <p:nvPr/>
        </p:nvSpPr>
        <p:spPr>
          <a:xfrm>
            <a:off x="508000" y="863600"/>
            <a:ext cx="15240000" cy="12700"/>
          </a:xfrm>
          <a:prstGeom prst="rect">
            <a:avLst/>
          </a:prstGeom>
          <a:solidFill>
            <a:srgbClr val="E0E0E0"/>
          </a:solidFill>
          <a:ln/>
        </p:spPr>
        <p:txBody>
          <a:bodyPr/>
          <a:lstStyle/>
          <a:p>
            <a:endParaRPr/>
          </a:p>
        </p:txBody>
      </p:sp>
      <p:sp>
        <p:nvSpPr>
          <p:cNvPr id="607" name="Shape 5"/>
          <p:cNvSpPr/>
          <p:nvPr/>
        </p:nvSpPr>
        <p:spPr>
          <a:xfrm>
            <a:off x="508000" y="1117600"/>
            <a:ext cx="4826000" cy="6011333"/>
          </a:xfrm>
          <a:prstGeom prst="roundRect">
            <a:avLst>
              <a:gd name="adj" fmla="val 4000"/>
            </a:avLst>
          </a:prstGeom>
          <a:solidFill>
            <a:srgbClr val="F5F5F5"/>
          </a:solidFill>
          <a:ln/>
        </p:spPr>
        <p:txBody>
          <a:bodyPr/>
          <a:lstStyle/>
          <a:p>
            <a:endParaRPr/>
          </a:p>
        </p:txBody>
      </p:sp>
      <p:sp>
        <p:nvSpPr>
          <p:cNvPr id="608" name="Shape 6"/>
          <p:cNvSpPr/>
          <p:nvPr/>
        </p:nvSpPr>
        <p:spPr>
          <a:xfrm>
            <a:off x="508000" y="1117600"/>
            <a:ext cx="4826000" cy="609600"/>
          </a:xfrm>
          <a:prstGeom prst="roundRect">
            <a:avLst>
              <a:gd name="adj" fmla="val 4000"/>
            </a:avLst>
          </a:prstGeom>
          <a:solidFill>
            <a:srgbClr val="1A4A7A"/>
          </a:solidFill>
          <a:ln/>
        </p:spPr>
        <p:txBody>
          <a:bodyPr/>
          <a:lstStyle/>
          <a:p>
            <a:endParaRPr/>
          </a:p>
        </p:txBody>
      </p:sp>
      <p:sp>
        <p:nvSpPr>
          <p:cNvPr id="609" name="Text 7"/>
          <p:cNvSpPr/>
          <p:nvPr/>
        </p:nvSpPr>
        <p:spPr>
          <a:xfrm>
            <a:off x="508000" y="1117600"/>
            <a:ext cx="4826000" cy="609600"/>
          </a:xfrm>
          <a:prstGeom prst="rect">
            <a:avLst/>
          </a:prstGeom>
          <a:noFill/>
          <a:ln/>
        </p:spPr>
        <p:txBody>
          <a:bodyPr wrap="none" lIns="0" tIns="0" rIns="0" bIns="0" rtlCol="0" anchor="ctr"/>
          <a:lstStyle/>
          <a:p>
            <a:pPr algn="ctr">
              <a:lnSpc>
                <a:spcPct val="100000"/>
              </a:lnSpc>
            </a:pPr>
            <a:r>
              <a:rPr lang="en-US" sz="1600" b="1">
                <a:solidFill>
                  <a:srgbClr val="FFFFFF">
                    <a:alpha val="100000"/>
                  </a:srgbClr>
                </a:solidFill>
                <a:latin typeface="Quattrocento Sans"/>
                <a:ea typeface="Quattrocento Sans"/>
                <a:cs typeface="Quattrocento Sans"/>
              </a:rPr>
              <a:t>Difficulty in Answering Global and Holistic Questions</a:t>
            </a:r>
            <a:endParaRPr/>
          </a:p>
        </p:txBody>
      </p:sp>
      <p:sp>
        <p:nvSpPr>
          <p:cNvPr id="610" name="Shape 8"/>
          <p:cNvSpPr/>
          <p:nvPr/>
        </p:nvSpPr>
        <p:spPr>
          <a:xfrm>
            <a:off x="2413000" y="1930400"/>
            <a:ext cx="508000" cy="508000"/>
          </a:xfrm>
          <a:custGeom>
            <a:avLst/>
            <a:gdLst/>
            <a:ahLst/>
            <a:cxnLst/>
            <a:rect l="l" t="t" r="r" b="b"/>
            <a:pathLst>
              <a:path w="508000" h="508000">
                <a:moveTo>
                  <a:pt x="508000" y="95250"/>
                </a:moveTo>
                <a:cubicBezTo>
                  <a:pt x="508000" y="145058"/>
                  <a:pt x="449362" y="219373"/>
                  <a:pt x="424061" y="249039"/>
                </a:cubicBezTo>
                <a:cubicBezTo>
                  <a:pt x="420291" y="253405"/>
                  <a:pt x="414734" y="255091"/>
                  <a:pt x="409674" y="254000"/>
                </a:cubicBezTo>
                <a:lnTo>
                  <a:pt x="317500" y="254000"/>
                </a:lnTo>
                <a:cubicBezTo>
                  <a:pt x="299938" y="254000"/>
                  <a:pt x="285750" y="268188"/>
                  <a:pt x="285750" y="285750"/>
                </a:cubicBezTo>
                <a:cubicBezTo>
                  <a:pt x="285750" y="303312"/>
                  <a:pt x="299938" y="317500"/>
                  <a:pt x="317500" y="317500"/>
                </a:cubicBezTo>
                <a:lnTo>
                  <a:pt x="412750" y="317500"/>
                </a:lnTo>
                <a:cubicBezTo>
                  <a:pt x="465336" y="317500"/>
                  <a:pt x="508000" y="360164"/>
                  <a:pt x="508000" y="412750"/>
                </a:cubicBezTo>
                <a:cubicBezTo>
                  <a:pt x="508000" y="465336"/>
                  <a:pt x="465336" y="508000"/>
                  <a:pt x="412750" y="508000"/>
                </a:cubicBezTo>
                <a:lnTo>
                  <a:pt x="138509" y="508000"/>
                </a:lnTo>
                <a:cubicBezTo>
                  <a:pt x="147141" y="498177"/>
                  <a:pt x="157659" y="485577"/>
                  <a:pt x="168275" y="471488"/>
                </a:cubicBezTo>
                <a:cubicBezTo>
                  <a:pt x="174526" y="463153"/>
                  <a:pt x="180975" y="454025"/>
                  <a:pt x="187127" y="444500"/>
                </a:cubicBezTo>
                <a:lnTo>
                  <a:pt x="412750" y="444500"/>
                </a:lnTo>
                <a:cubicBezTo>
                  <a:pt x="430312" y="444500"/>
                  <a:pt x="444500" y="430312"/>
                  <a:pt x="444500" y="412750"/>
                </a:cubicBezTo>
                <a:cubicBezTo>
                  <a:pt x="444500" y="395188"/>
                  <a:pt x="430312" y="381000"/>
                  <a:pt x="412750" y="381000"/>
                </a:cubicBezTo>
                <a:lnTo>
                  <a:pt x="317500" y="381000"/>
                </a:lnTo>
                <a:cubicBezTo>
                  <a:pt x="264914" y="381000"/>
                  <a:pt x="222250" y="338336"/>
                  <a:pt x="222250" y="285750"/>
                </a:cubicBezTo>
                <a:cubicBezTo>
                  <a:pt x="222250" y="233164"/>
                  <a:pt x="264914" y="190500"/>
                  <a:pt x="317500" y="190500"/>
                </a:cubicBezTo>
                <a:lnTo>
                  <a:pt x="356989" y="190500"/>
                </a:lnTo>
                <a:cubicBezTo>
                  <a:pt x="336153" y="159246"/>
                  <a:pt x="317500" y="123329"/>
                  <a:pt x="317500" y="95250"/>
                </a:cubicBezTo>
                <a:cubicBezTo>
                  <a:pt x="317500" y="42664"/>
                  <a:pt x="360164" y="0"/>
                  <a:pt x="412750" y="0"/>
                </a:cubicBezTo>
                <a:cubicBezTo>
                  <a:pt x="465336" y="0"/>
                  <a:pt x="508000" y="42664"/>
                  <a:pt x="508000" y="95250"/>
                </a:cubicBezTo>
                <a:close/>
                <a:moveTo>
                  <a:pt x="116185" y="485279"/>
                </a:moveTo>
                <a:cubicBezTo>
                  <a:pt x="112415" y="489545"/>
                  <a:pt x="109041" y="493316"/>
                  <a:pt x="106164" y="496491"/>
                </a:cubicBezTo>
                <a:lnTo>
                  <a:pt x="104378" y="498475"/>
                </a:lnTo>
                <a:lnTo>
                  <a:pt x="104180" y="498277"/>
                </a:lnTo>
                <a:cubicBezTo>
                  <a:pt x="98227" y="502841"/>
                  <a:pt x="89694" y="502245"/>
                  <a:pt x="84336" y="496491"/>
                </a:cubicBezTo>
                <a:cubicBezTo>
                  <a:pt x="59333" y="469305"/>
                  <a:pt x="0" y="399355"/>
                  <a:pt x="0" y="349250"/>
                </a:cubicBezTo>
                <a:cubicBezTo>
                  <a:pt x="0" y="296664"/>
                  <a:pt x="42664" y="254000"/>
                  <a:pt x="95250" y="254000"/>
                </a:cubicBezTo>
                <a:cubicBezTo>
                  <a:pt x="147836" y="254000"/>
                  <a:pt x="190500" y="296664"/>
                  <a:pt x="190500" y="349250"/>
                </a:cubicBezTo>
                <a:cubicBezTo>
                  <a:pt x="190500" y="379016"/>
                  <a:pt x="169565" y="415727"/>
                  <a:pt x="147340" y="446385"/>
                </a:cubicBezTo>
                <a:cubicBezTo>
                  <a:pt x="136723" y="460970"/>
                  <a:pt x="125809" y="474166"/>
                  <a:pt x="116780" y="484584"/>
                </a:cubicBezTo>
                <a:lnTo>
                  <a:pt x="116185" y="485279"/>
                </a:lnTo>
                <a:close/>
                <a:moveTo>
                  <a:pt x="127000" y="349250"/>
                </a:moveTo>
                <a:cubicBezTo>
                  <a:pt x="127000" y="331727"/>
                  <a:pt x="112773" y="317500"/>
                  <a:pt x="95250" y="317500"/>
                </a:cubicBezTo>
                <a:cubicBezTo>
                  <a:pt x="77727" y="317500"/>
                  <a:pt x="63500" y="331727"/>
                  <a:pt x="63500" y="349250"/>
                </a:cubicBezTo>
                <a:cubicBezTo>
                  <a:pt x="63500" y="366773"/>
                  <a:pt x="77727" y="381000"/>
                  <a:pt x="95250" y="381000"/>
                </a:cubicBezTo>
                <a:cubicBezTo>
                  <a:pt x="112773" y="381000"/>
                  <a:pt x="127000" y="366773"/>
                  <a:pt x="127000" y="349250"/>
                </a:cubicBezTo>
                <a:close/>
                <a:moveTo>
                  <a:pt x="412750" y="127000"/>
                </a:moveTo>
                <a:cubicBezTo>
                  <a:pt x="430273" y="127000"/>
                  <a:pt x="444500" y="112773"/>
                  <a:pt x="444500" y="95250"/>
                </a:cubicBezTo>
                <a:cubicBezTo>
                  <a:pt x="444500" y="77727"/>
                  <a:pt x="430273" y="63500"/>
                  <a:pt x="412750" y="63500"/>
                </a:cubicBezTo>
                <a:cubicBezTo>
                  <a:pt x="395227" y="63500"/>
                  <a:pt x="381000" y="77727"/>
                  <a:pt x="381000" y="95250"/>
                </a:cubicBezTo>
                <a:cubicBezTo>
                  <a:pt x="381000" y="112773"/>
                  <a:pt x="395227" y="127000"/>
                  <a:pt x="412750" y="127000"/>
                </a:cubicBezTo>
                <a:close/>
              </a:path>
            </a:pathLst>
          </a:custGeom>
          <a:solidFill>
            <a:srgbClr val="1A4A7A"/>
          </a:solidFill>
          <a:ln/>
        </p:spPr>
        <p:txBody>
          <a:bodyPr/>
          <a:lstStyle/>
          <a:p>
            <a:endParaRPr/>
          </a:p>
        </p:txBody>
      </p:sp>
      <p:sp>
        <p:nvSpPr>
          <p:cNvPr id="611" name="Text 9"/>
          <p:cNvSpPr/>
          <p:nvPr/>
        </p:nvSpPr>
        <p:spPr>
          <a:xfrm>
            <a:off x="762000" y="2590800"/>
            <a:ext cx="4318000" cy="4319992"/>
          </a:xfrm>
          <a:prstGeom prst="rect">
            <a:avLst/>
          </a:prstGeom>
          <a:noFill/>
          <a:ln/>
        </p:spPr>
        <p:txBody>
          <a:bodyPr wrap="square" lIns="0" tIns="0" rIns="0" bIns="0" rtlCol="0" anchor="ctr"/>
          <a:lstStyle/>
          <a:p>
            <a:pPr>
              <a:lnSpc>
                <a:spcPct val="160000"/>
              </a:lnSpc>
            </a:pPr>
            <a:r>
              <a:rPr lang="en-US" sz="1800">
                <a:solidFill>
                  <a:srgbClr val="2C2C2C">
                    <a:alpha val="100000"/>
                  </a:srgbClr>
                </a:solidFill>
                <a:latin typeface="Quattrocento Sans"/>
                <a:ea typeface="Quattrocento Sans"/>
                <a:cs typeface="Quattrocento Sans"/>
              </a:rPr>
              <a:t>Traditional RAG is better suited for answering localized questions, but performs poorly on questions that require an understanding of the entire corpus. For example, a question like “What is the main theme of this dataset?” is essentially a corpus-wide query-focused summarization task, rather than a simple retrieval task.</a:t>
            </a:r>
            <a:endParaRPr/>
          </a:p>
        </p:txBody>
      </p:sp>
      <p:sp>
        <p:nvSpPr>
          <p:cNvPr id="612" name="Shape 10"/>
          <p:cNvSpPr/>
          <p:nvPr/>
        </p:nvSpPr>
        <p:spPr>
          <a:xfrm>
            <a:off x="5715000" y="1117600"/>
            <a:ext cx="4826000" cy="6011354"/>
          </a:xfrm>
          <a:prstGeom prst="roundRect">
            <a:avLst>
              <a:gd name="adj" fmla="val 4000"/>
            </a:avLst>
          </a:prstGeom>
          <a:solidFill>
            <a:srgbClr val="F5F5F5"/>
          </a:solidFill>
          <a:ln/>
        </p:spPr>
        <p:txBody>
          <a:bodyPr/>
          <a:lstStyle/>
          <a:p>
            <a:endParaRPr/>
          </a:p>
        </p:txBody>
      </p:sp>
      <p:sp>
        <p:nvSpPr>
          <p:cNvPr id="613" name="Shape 11"/>
          <p:cNvSpPr/>
          <p:nvPr/>
        </p:nvSpPr>
        <p:spPr>
          <a:xfrm>
            <a:off x="5715000" y="1117600"/>
            <a:ext cx="4826000" cy="609600"/>
          </a:xfrm>
          <a:prstGeom prst="roundRect">
            <a:avLst>
              <a:gd name="adj" fmla="val 4000"/>
            </a:avLst>
          </a:prstGeom>
          <a:solidFill>
            <a:srgbClr val="5B9BD5"/>
          </a:solidFill>
          <a:ln/>
        </p:spPr>
        <p:txBody>
          <a:bodyPr/>
          <a:lstStyle/>
          <a:p>
            <a:endParaRPr/>
          </a:p>
        </p:txBody>
      </p:sp>
      <p:sp>
        <p:nvSpPr>
          <p:cNvPr id="614" name="Text 12"/>
          <p:cNvSpPr/>
          <p:nvPr/>
        </p:nvSpPr>
        <p:spPr>
          <a:xfrm>
            <a:off x="5715000" y="1117600"/>
            <a:ext cx="4826000" cy="609600"/>
          </a:xfrm>
          <a:prstGeom prst="rect">
            <a:avLst/>
          </a:prstGeom>
          <a:noFill/>
          <a:ln/>
        </p:spPr>
        <p:txBody>
          <a:bodyPr wrap="none" lIns="0" tIns="0" rIns="0" bIns="0" rtlCol="0" anchor="ctr"/>
          <a:lstStyle/>
          <a:p>
            <a:pPr algn="ctr">
              <a:lnSpc>
                <a:spcPct val="100000"/>
              </a:lnSpc>
            </a:pPr>
            <a:r>
              <a:rPr lang="en-US" sz="1600" b="1">
                <a:solidFill>
                  <a:srgbClr val="FFFFFF">
                    <a:alpha val="100000"/>
                  </a:srgbClr>
                </a:solidFill>
                <a:latin typeface="Quattrocento Sans"/>
                <a:ea typeface="Quattrocento Sans"/>
                <a:cs typeface="Quattrocento Sans"/>
              </a:rPr>
              <a:t>Search results are limited by the context window</a:t>
            </a:r>
            <a:endParaRPr/>
          </a:p>
        </p:txBody>
      </p:sp>
      <p:sp>
        <p:nvSpPr>
          <p:cNvPr id="615" name="Shape 13"/>
          <p:cNvSpPr/>
          <p:nvPr/>
        </p:nvSpPr>
        <p:spPr>
          <a:xfrm>
            <a:off x="7874000" y="1905000"/>
            <a:ext cx="508000" cy="508000"/>
          </a:xfrm>
          <a:custGeom>
            <a:avLst/>
            <a:gdLst/>
            <a:ahLst/>
            <a:cxnLst/>
            <a:rect l="l" t="t" r="r" b="b"/>
            <a:pathLst>
              <a:path w="508000" h="508000">
                <a:moveTo>
                  <a:pt x="0" y="79375"/>
                </a:moveTo>
                <a:cubicBezTo>
                  <a:pt x="0" y="53082"/>
                  <a:pt x="21332" y="31750"/>
                  <a:pt x="47625" y="31750"/>
                </a:cubicBezTo>
                <a:lnTo>
                  <a:pt x="142875" y="31750"/>
                </a:lnTo>
                <a:cubicBezTo>
                  <a:pt x="169168" y="31750"/>
                  <a:pt x="190500" y="53082"/>
                  <a:pt x="190500" y="79375"/>
                </a:cubicBezTo>
                <a:lnTo>
                  <a:pt x="190500" y="95250"/>
                </a:lnTo>
                <a:lnTo>
                  <a:pt x="317500" y="95250"/>
                </a:lnTo>
                <a:lnTo>
                  <a:pt x="317500" y="79375"/>
                </a:lnTo>
                <a:cubicBezTo>
                  <a:pt x="317500" y="53082"/>
                  <a:pt x="338832" y="31750"/>
                  <a:pt x="365125" y="31750"/>
                </a:cubicBezTo>
                <a:lnTo>
                  <a:pt x="460375" y="31750"/>
                </a:lnTo>
                <a:cubicBezTo>
                  <a:pt x="486668" y="31750"/>
                  <a:pt x="508000" y="53082"/>
                  <a:pt x="508000" y="79375"/>
                </a:cubicBezTo>
                <a:lnTo>
                  <a:pt x="508000" y="174625"/>
                </a:lnTo>
                <a:cubicBezTo>
                  <a:pt x="508000" y="200918"/>
                  <a:pt x="486668" y="222250"/>
                  <a:pt x="460375" y="222250"/>
                </a:cubicBezTo>
                <a:lnTo>
                  <a:pt x="365125" y="222250"/>
                </a:lnTo>
                <a:cubicBezTo>
                  <a:pt x="338832" y="222250"/>
                  <a:pt x="317500" y="200918"/>
                  <a:pt x="317500" y="174625"/>
                </a:cubicBezTo>
                <a:lnTo>
                  <a:pt x="317500" y="158750"/>
                </a:lnTo>
                <a:lnTo>
                  <a:pt x="190500" y="158750"/>
                </a:lnTo>
                <a:lnTo>
                  <a:pt x="190500" y="174625"/>
                </a:lnTo>
                <a:cubicBezTo>
                  <a:pt x="190500" y="181868"/>
                  <a:pt x="188813" y="188813"/>
                  <a:pt x="185936" y="194965"/>
                </a:cubicBezTo>
                <a:lnTo>
                  <a:pt x="254000" y="285750"/>
                </a:lnTo>
                <a:lnTo>
                  <a:pt x="333375" y="285750"/>
                </a:lnTo>
                <a:cubicBezTo>
                  <a:pt x="359668" y="285750"/>
                  <a:pt x="381000" y="307082"/>
                  <a:pt x="381000" y="333375"/>
                </a:cubicBezTo>
                <a:lnTo>
                  <a:pt x="381000" y="428625"/>
                </a:lnTo>
                <a:cubicBezTo>
                  <a:pt x="381000" y="454918"/>
                  <a:pt x="359668" y="476250"/>
                  <a:pt x="333375" y="476250"/>
                </a:cubicBezTo>
                <a:lnTo>
                  <a:pt x="238125" y="476250"/>
                </a:lnTo>
                <a:cubicBezTo>
                  <a:pt x="211832" y="476250"/>
                  <a:pt x="190500" y="454918"/>
                  <a:pt x="190500" y="428625"/>
                </a:cubicBezTo>
                <a:lnTo>
                  <a:pt x="190500" y="333375"/>
                </a:lnTo>
                <a:cubicBezTo>
                  <a:pt x="190500" y="326132"/>
                  <a:pt x="192187" y="319187"/>
                  <a:pt x="195064" y="313035"/>
                </a:cubicBezTo>
                <a:lnTo>
                  <a:pt x="127000" y="222250"/>
                </a:lnTo>
                <a:lnTo>
                  <a:pt x="47625" y="222250"/>
                </a:lnTo>
                <a:cubicBezTo>
                  <a:pt x="21332" y="222250"/>
                  <a:pt x="0" y="200918"/>
                  <a:pt x="0" y="174625"/>
                </a:cubicBezTo>
                <a:lnTo>
                  <a:pt x="0" y="79375"/>
                </a:lnTo>
                <a:close/>
              </a:path>
            </a:pathLst>
          </a:custGeom>
          <a:solidFill>
            <a:srgbClr val="5B9BD5"/>
          </a:solidFill>
          <a:ln/>
        </p:spPr>
        <p:txBody>
          <a:bodyPr/>
          <a:lstStyle/>
          <a:p>
            <a:endParaRPr/>
          </a:p>
        </p:txBody>
      </p:sp>
      <p:sp>
        <p:nvSpPr>
          <p:cNvPr id="616" name="Text 14"/>
          <p:cNvSpPr/>
          <p:nvPr/>
        </p:nvSpPr>
        <p:spPr>
          <a:xfrm>
            <a:off x="5969000" y="2590824"/>
            <a:ext cx="4318000" cy="4319968"/>
          </a:xfrm>
          <a:prstGeom prst="rect">
            <a:avLst/>
          </a:prstGeom>
          <a:noFill/>
          <a:ln/>
        </p:spPr>
        <p:txBody>
          <a:bodyPr wrap="square" lIns="0" tIns="0" rIns="0" bIns="0" rtlCol="0" anchor="ctr"/>
          <a:lstStyle/>
          <a:p>
            <a:pPr>
              <a:lnSpc>
                <a:spcPct val="160000"/>
              </a:lnSpc>
            </a:pPr>
            <a:r>
              <a:rPr lang="en-US" sz="1800">
                <a:solidFill>
                  <a:srgbClr val="2C2C2C">
                    <a:alpha val="100000"/>
                  </a:srgbClr>
                </a:solidFill>
                <a:latin typeface="Quattrocento Sans"/>
                <a:ea typeface="Quattrocento Sans"/>
                <a:cs typeface="Quattrocento Sans"/>
              </a:rPr>
              <a:t>Standard RAG retrieves a small subset of records from a large external corpus that are semantically similar to the query and fit within the LLM’s context window, and then generates a response based on those records. The system may fail to capture important information scattered across multiple documents, and this limited scope of retrieval can compromise the quality of the response.</a:t>
            </a:r>
            <a:endParaRPr/>
          </a:p>
        </p:txBody>
      </p:sp>
      <p:sp>
        <p:nvSpPr>
          <p:cNvPr id="617" name="Shape 15"/>
          <p:cNvSpPr/>
          <p:nvPr/>
        </p:nvSpPr>
        <p:spPr>
          <a:xfrm>
            <a:off x="10922000" y="1117600"/>
            <a:ext cx="4826000" cy="6011354"/>
          </a:xfrm>
          <a:prstGeom prst="roundRect">
            <a:avLst>
              <a:gd name="adj" fmla="val 4000"/>
            </a:avLst>
          </a:prstGeom>
          <a:solidFill>
            <a:srgbClr val="F5F5F5"/>
          </a:solidFill>
          <a:ln/>
        </p:spPr>
        <p:txBody>
          <a:bodyPr/>
          <a:lstStyle/>
          <a:p>
            <a:endParaRPr/>
          </a:p>
        </p:txBody>
      </p:sp>
      <p:sp>
        <p:nvSpPr>
          <p:cNvPr id="618" name="Shape 16"/>
          <p:cNvSpPr/>
          <p:nvPr/>
        </p:nvSpPr>
        <p:spPr>
          <a:xfrm>
            <a:off x="10922000" y="1117600"/>
            <a:ext cx="4826000" cy="609600"/>
          </a:xfrm>
          <a:prstGeom prst="roundRect">
            <a:avLst>
              <a:gd name="adj" fmla="val 4000"/>
            </a:avLst>
          </a:prstGeom>
          <a:solidFill>
            <a:srgbClr val="2E86C1"/>
          </a:solidFill>
          <a:ln/>
        </p:spPr>
        <p:txBody>
          <a:bodyPr/>
          <a:lstStyle/>
          <a:p>
            <a:endParaRPr/>
          </a:p>
        </p:txBody>
      </p:sp>
      <p:sp>
        <p:nvSpPr>
          <p:cNvPr id="619" name="Text 17"/>
          <p:cNvSpPr/>
          <p:nvPr/>
        </p:nvSpPr>
        <p:spPr>
          <a:xfrm>
            <a:off x="10922000" y="1117600"/>
            <a:ext cx="4826000" cy="609600"/>
          </a:xfrm>
          <a:prstGeom prst="rect">
            <a:avLst/>
          </a:prstGeom>
          <a:noFill/>
          <a:ln/>
        </p:spPr>
        <p:txBody>
          <a:bodyPr wrap="none" lIns="0" tIns="0" rIns="0" bIns="0" rtlCol="0" anchor="ctr"/>
          <a:lstStyle/>
          <a:p>
            <a:pPr algn="ctr">
              <a:lnSpc>
                <a:spcPct val="100000"/>
              </a:lnSpc>
            </a:pPr>
            <a:r>
              <a:rPr lang="en-US" sz="1600" b="1">
                <a:solidFill>
                  <a:srgbClr val="FFFFFF">
                    <a:alpha val="100000"/>
                  </a:srgbClr>
                </a:solidFill>
                <a:latin typeface="Quattrocento Sans"/>
                <a:ea typeface="Quattrocento Sans"/>
                <a:cs typeface="Quattrocento Sans"/>
              </a:rPr>
              <a:t>Lack of comprehensiveness and diversity</a:t>
            </a:r>
            <a:endParaRPr/>
          </a:p>
        </p:txBody>
      </p:sp>
      <p:sp>
        <p:nvSpPr>
          <p:cNvPr id="620" name="Shape 18"/>
          <p:cNvSpPr/>
          <p:nvPr/>
        </p:nvSpPr>
        <p:spPr>
          <a:xfrm>
            <a:off x="13081000" y="1905000"/>
            <a:ext cx="508000" cy="508000"/>
          </a:xfrm>
          <a:custGeom>
            <a:avLst/>
            <a:gdLst/>
            <a:ahLst/>
            <a:cxnLst/>
            <a:rect l="l" t="t" r="r" b="b"/>
            <a:pathLst>
              <a:path w="508000" h="508000">
                <a:moveTo>
                  <a:pt x="349151" y="277813"/>
                </a:moveTo>
                <a:lnTo>
                  <a:pt x="159742" y="277813"/>
                </a:lnTo>
                <a:cubicBezTo>
                  <a:pt x="162620" y="341809"/>
                  <a:pt x="176808" y="400745"/>
                  <a:pt x="196949" y="443905"/>
                </a:cubicBezTo>
                <a:cubicBezTo>
                  <a:pt x="208260" y="468213"/>
                  <a:pt x="220464" y="485378"/>
                  <a:pt x="231775" y="495895"/>
                </a:cubicBezTo>
                <a:cubicBezTo>
                  <a:pt x="242887" y="506313"/>
                  <a:pt x="250527" y="508000"/>
                  <a:pt x="254496" y="508000"/>
                </a:cubicBezTo>
                <a:cubicBezTo>
                  <a:pt x="258465" y="508000"/>
                  <a:pt x="266105" y="506313"/>
                  <a:pt x="277217" y="495895"/>
                </a:cubicBezTo>
                <a:cubicBezTo>
                  <a:pt x="288528" y="485378"/>
                  <a:pt x="300732" y="468114"/>
                  <a:pt x="312043" y="443905"/>
                </a:cubicBezTo>
                <a:cubicBezTo>
                  <a:pt x="332184" y="400745"/>
                  <a:pt x="346373" y="341809"/>
                  <a:pt x="349250" y="277813"/>
                </a:cubicBezTo>
                <a:close/>
                <a:moveTo>
                  <a:pt x="159643" y="230188"/>
                </a:moveTo>
                <a:lnTo>
                  <a:pt x="349052" y="230188"/>
                </a:lnTo>
                <a:cubicBezTo>
                  <a:pt x="346273" y="166191"/>
                  <a:pt x="332085" y="107255"/>
                  <a:pt x="311944" y="64095"/>
                </a:cubicBezTo>
                <a:cubicBezTo>
                  <a:pt x="300633" y="39886"/>
                  <a:pt x="288429" y="22622"/>
                  <a:pt x="277118" y="12105"/>
                </a:cubicBezTo>
                <a:cubicBezTo>
                  <a:pt x="266005" y="1687"/>
                  <a:pt x="258366" y="0"/>
                  <a:pt x="254397" y="0"/>
                </a:cubicBezTo>
                <a:cubicBezTo>
                  <a:pt x="250428" y="0"/>
                  <a:pt x="242788" y="1687"/>
                  <a:pt x="231676" y="12105"/>
                </a:cubicBezTo>
                <a:cubicBezTo>
                  <a:pt x="220365" y="22622"/>
                  <a:pt x="208161" y="39886"/>
                  <a:pt x="196850" y="64095"/>
                </a:cubicBezTo>
                <a:cubicBezTo>
                  <a:pt x="176709" y="107255"/>
                  <a:pt x="162520" y="166191"/>
                  <a:pt x="159643" y="230188"/>
                </a:cubicBezTo>
                <a:close/>
                <a:moveTo>
                  <a:pt x="112018" y="230188"/>
                </a:moveTo>
                <a:cubicBezTo>
                  <a:pt x="115491" y="145256"/>
                  <a:pt x="137418" y="66377"/>
                  <a:pt x="169466" y="14585"/>
                </a:cubicBezTo>
                <a:cubicBezTo>
                  <a:pt x="78085" y="46930"/>
                  <a:pt x="10815" y="130175"/>
                  <a:pt x="1488" y="230188"/>
                </a:cubicBezTo>
                <a:lnTo>
                  <a:pt x="112018" y="230188"/>
                </a:lnTo>
                <a:close/>
                <a:moveTo>
                  <a:pt x="1488" y="277813"/>
                </a:moveTo>
                <a:cubicBezTo>
                  <a:pt x="10815" y="377825"/>
                  <a:pt x="78085" y="461070"/>
                  <a:pt x="169466" y="493415"/>
                </a:cubicBezTo>
                <a:cubicBezTo>
                  <a:pt x="137418" y="441623"/>
                  <a:pt x="115491" y="362744"/>
                  <a:pt x="112018" y="277813"/>
                </a:cubicBezTo>
                <a:lnTo>
                  <a:pt x="1488" y="277813"/>
                </a:lnTo>
                <a:close/>
                <a:moveTo>
                  <a:pt x="396776" y="277813"/>
                </a:moveTo>
                <a:cubicBezTo>
                  <a:pt x="393303" y="362744"/>
                  <a:pt x="371376" y="441623"/>
                  <a:pt x="339328" y="493415"/>
                </a:cubicBezTo>
                <a:cubicBezTo>
                  <a:pt x="430709" y="460970"/>
                  <a:pt x="497979" y="377825"/>
                  <a:pt x="507305" y="277813"/>
                </a:cubicBezTo>
                <a:lnTo>
                  <a:pt x="396776" y="277813"/>
                </a:lnTo>
                <a:close/>
                <a:moveTo>
                  <a:pt x="507305" y="230188"/>
                </a:moveTo>
                <a:cubicBezTo>
                  <a:pt x="497979" y="130175"/>
                  <a:pt x="430709" y="46930"/>
                  <a:pt x="339328" y="14585"/>
                </a:cubicBezTo>
                <a:cubicBezTo>
                  <a:pt x="371376" y="66377"/>
                  <a:pt x="393303" y="145256"/>
                  <a:pt x="396776" y="230188"/>
                </a:cubicBezTo>
                <a:lnTo>
                  <a:pt x="507305" y="230188"/>
                </a:lnTo>
                <a:close/>
              </a:path>
            </a:pathLst>
          </a:custGeom>
          <a:solidFill>
            <a:srgbClr val="2E86C1"/>
          </a:solidFill>
          <a:ln/>
        </p:spPr>
        <p:txBody>
          <a:bodyPr/>
          <a:lstStyle/>
          <a:p>
            <a:endParaRPr/>
          </a:p>
        </p:txBody>
      </p:sp>
      <p:sp>
        <p:nvSpPr>
          <p:cNvPr id="621" name="Text 19"/>
          <p:cNvSpPr/>
          <p:nvPr/>
        </p:nvSpPr>
        <p:spPr>
          <a:xfrm>
            <a:off x="11176000" y="2590824"/>
            <a:ext cx="4318000" cy="3687233"/>
          </a:xfrm>
          <a:prstGeom prst="rect">
            <a:avLst/>
          </a:prstGeom>
          <a:noFill/>
          <a:ln/>
        </p:spPr>
        <p:txBody>
          <a:bodyPr wrap="square" lIns="0" tIns="0" rIns="0" bIns="0" rtlCol="0" anchor="ctr"/>
          <a:lstStyle/>
          <a:p>
            <a:pPr>
              <a:lnSpc>
                <a:spcPct val="160000"/>
              </a:lnSpc>
            </a:pPr>
            <a:r>
              <a:rPr lang="en-US" sz="1800">
                <a:solidFill>
                  <a:srgbClr val="2C2C2C">
                    <a:alpha val="100000"/>
                  </a:srgbClr>
                </a:solidFill>
                <a:latin typeface="Quattrocento Sans"/>
                <a:ea typeface="Quattrocento Sans"/>
                <a:cs typeface="Quattrocento Sans"/>
              </a:rPr>
              <a:t>GraphRAG significantly outperforms traditional vector RAG in terms of answer comprehensiveness and diversity. Compared to vector RAG, GraphRAG performs better than traditional RAG across a variety of tasks and is better suited for tasks that focus on the entire corpus.</a:t>
            </a:r>
            <a:r>
              <a:rPr lang="en-US" sz="1600">
                <a:solidFill>
                  <a:srgbClr val="2C2C2C">
                    <a:alpha val="100000"/>
                  </a:srgbClr>
                </a:solidFill>
                <a:latin typeface="Quattrocento Sans"/>
                <a:ea typeface="Quattrocento Sans"/>
                <a:cs typeface="Quattrocento Sans"/>
              </a:rPr>
              <a:t>.</a:t>
            </a:r>
            <a:endParaRPr/>
          </a:p>
        </p:txBody>
      </p:sp>
      <p:sp>
        <p:nvSpPr>
          <p:cNvPr id="622" name="Shape 20"/>
          <p:cNvSpPr/>
          <p:nvPr/>
        </p:nvSpPr>
        <p:spPr>
          <a:xfrm>
            <a:off x="508000" y="7774392"/>
            <a:ext cx="15240000" cy="1014008"/>
          </a:xfrm>
          <a:prstGeom prst="roundRect">
            <a:avLst>
              <a:gd name="adj" fmla="val 4000"/>
            </a:avLst>
          </a:prstGeom>
          <a:solidFill>
            <a:srgbClr val="E3F0FA"/>
          </a:solidFill>
          <a:ln/>
        </p:spPr>
        <p:txBody>
          <a:bodyPr/>
          <a:lstStyle/>
          <a:p>
            <a:endParaRPr/>
          </a:p>
        </p:txBody>
      </p:sp>
      <p:sp>
        <p:nvSpPr>
          <p:cNvPr id="623" name="Text 21"/>
          <p:cNvSpPr/>
          <p:nvPr/>
        </p:nvSpPr>
        <p:spPr>
          <a:xfrm>
            <a:off x="762000" y="7900396"/>
            <a:ext cx="14732000" cy="762000"/>
          </a:xfrm>
          <a:prstGeom prst="rect">
            <a:avLst/>
          </a:prstGeom>
          <a:noFill/>
          <a:ln/>
        </p:spPr>
        <p:txBody>
          <a:bodyPr wrap="square" lIns="0" tIns="0" rIns="0" bIns="0" rtlCol="0" anchor="ctr"/>
          <a:lstStyle/>
          <a:p>
            <a:pPr>
              <a:lnSpc>
                <a:spcPct val="150000"/>
              </a:lnSpc>
            </a:pPr>
            <a:r>
              <a:rPr lang="en-US" sz="1800" b="1">
                <a:solidFill>
                  <a:srgbClr val="1A4A7A">
                    <a:alpha val="100000"/>
                  </a:srgbClr>
                </a:solidFill>
                <a:latin typeface="Quattrocento Sans"/>
                <a:ea typeface="Quattrocento Sans"/>
                <a:cs typeface="Quattrocento Sans"/>
              </a:rPr>
              <a:t>Core Insight:Traditional RAG excels at retrieving specific facts, but in tasks requiring cross-document, cross-topic, and holistic understanding, it suffers from issues such as insufficient coverage, fragmented information, and incomplete answers.</a:t>
            </a:r>
            <a:endParaRPr/>
          </a:p>
        </p:txBody>
      </p:sp>
      <p:sp>
        <p:nvSpPr>
          <p:cNvPr id="624" name="Text 22"/>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5</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6F9FC"/>
        </a:solidFill>
        <a:effectLst/>
      </p:bgPr>
    </p:bg>
    <p:spTree>
      <p:nvGrpSpPr>
        <p:cNvPr id="1" name=""/>
        <p:cNvGrpSpPr/>
        <p:nvPr/>
      </p:nvGrpSpPr>
      <p:grpSpPr>
        <a:xfrm>
          <a:off x="0" y="0"/>
          <a:ext cx="0" cy="0"/>
          <a:chOff x="0" y="0"/>
          <a:chExt cx="0" cy="0"/>
        </a:xfrm>
      </p:grpSpPr>
      <p:sp>
        <p:nvSpPr>
          <p:cNvPr id="626" name="Shape 0"/>
          <p:cNvSpPr/>
          <p:nvPr/>
        </p:nvSpPr>
        <p:spPr>
          <a:xfrm>
            <a:off x="0" y="0"/>
            <a:ext cx="76200" cy="9144000"/>
          </a:xfrm>
          <a:prstGeom prst="rect">
            <a:avLst/>
          </a:prstGeom>
          <a:solidFill>
            <a:srgbClr val="1A4A7A"/>
          </a:solidFill>
          <a:ln/>
        </p:spPr>
        <p:txBody>
          <a:bodyPr/>
          <a:lstStyle/>
          <a:p>
            <a:endParaRPr/>
          </a:p>
        </p:txBody>
      </p:sp>
      <p:sp>
        <p:nvSpPr>
          <p:cNvPr id="627" name="Shape 1"/>
          <p:cNvSpPr/>
          <p:nvPr/>
        </p:nvSpPr>
        <p:spPr>
          <a:xfrm>
            <a:off x="0" y="0"/>
            <a:ext cx="16256000" cy="38100"/>
          </a:xfrm>
          <a:prstGeom prst="rect">
            <a:avLst/>
          </a:prstGeom>
          <a:solidFill>
            <a:srgbClr val="1A4A7A"/>
          </a:solidFill>
          <a:ln/>
        </p:spPr>
        <p:txBody>
          <a:bodyPr/>
          <a:lstStyle/>
          <a:p>
            <a:endParaRPr/>
          </a:p>
        </p:txBody>
      </p:sp>
      <p:sp>
        <p:nvSpPr>
          <p:cNvPr id="628"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dirty="0">
                <a:solidFill>
                  <a:srgbClr val="5B9BD5"/>
                </a:solidFill>
                <a:latin typeface="Quattrocento Sans" pitchFamily="34" charset="0"/>
                <a:ea typeface="Quattrocento Sans" pitchFamily="34" charset="-122"/>
                <a:cs typeface="Quattrocento Sans" pitchFamily="34" charset="-120"/>
              </a:rPr>
              <a:t>01 Background &amp; Motivation</a:t>
            </a:r>
            <a:endParaRPr lang="en-US" sz="1600" dirty="0"/>
          </a:p>
        </p:txBody>
      </p:sp>
      <p:sp>
        <p:nvSpPr>
          <p:cNvPr id="629"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dirty="0">
                <a:solidFill>
                  <a:srgbClr val="1A4A7A"/>
                </a:solidFill>
                <a:latin typeface="Quattrocento Sans" pitchFamily="34" charset="0"/>
                <a:ea typeface="Quattrocento Sans" pitchFamily="34" charset="-122"/>
                <a:cs typeface="Quattrocento Sans" pitchFamily="34" charset="-120"/>
              </a:rPr>
              <a:t>Project Motivation &amp; Goals</a:t>
            </a:r>
            <a:endParaRPr lang="en-US" sz="1600" dirty="0"/>
          </a:p>
        </p:txBody>
      </p:sp>
      <p:sp>
        <p:nvSpPr>
          <p:cNvPr id="630" name="Shape 4"/>
          <p:cNvSpPr/>
          <p:nvPr/>
        </p:nvSpPr>
        <p:spPr>
          <a:xfrm>
            <a:off x="508000" y="863600"/>
            <a:ext cx="15240000" cy="12700"/>
          </a:xfrm>
          <a:prstGeom prst="rect">
            <a:avLst/>
          </a:prstGeom>
          <a:solidFill>
            <a:srgbClr val="E0E0E0"/>
          </a:solidFill>
          <a:ln/>
        </p:spPr>
        <p:txBody>
          <a:bodyPr/>
          <a:lstStyle/>
          <a:p>
            <a:endParaRPr/>
          </a:p>
        </p:txBody>
      </p:sp>
      <p:sp>
        <p:nvSpPr>
          <p:cNvPr id="631" name="Shape 5"/>
          <p:cNvSpPr/>
          <p:nvPr/>
        </p:nvSpPr>
        <p:spPr>
          <a:xfrm>
            <a:off x="508000" y="1117600"/>
            <a:ext cx="7366000" cy="3429000"/>
          </a:xfrm>
          <a:prstGeom prst="roundRect">
            <a:avLst>
              <a:gd name="adj" fmla="val 4000"/>
            </a:avLst>
          </a:prstGeom>
          <a:solidFill>
            <a:srgbClr val="F5F5F5"/>
          </a:solidFill>
          <a:ln/>
        </p:spPr>
        <p:txBody>
          <a:bodyPr/>
          <a:lstStyle/>
          <a:p>
            <a:endParaRPr/>
          </a:p>
        </p:txBody>
      </p:sp>
      <p:sp>
        <p:nvSpPr>
          <p:cNvPr id="632" name="Shape 6"/>
          <p:cNvSpPr/>
          <p:nvPr/>
        </p:nvSpPr>
        <p:spPr>
          <a:xfrm>
            <a:off x="508000" y="1117600"/>
            <a:ext cx="1524000" cy="355600"/>
          </a:xfrm>
          <a:prstGeom prst="rect">
            <a:avLst/>
          </a:prstGeom>
          <a:solidFill>
            <a:srgbClr val="1A4A7A"/>
          </a:solidFill>
          <a:ln/>
        </p:spPr>
        <p:txBody>
          <a:bodyPr/>
          <a:lstStyle/>
          <a:p>
            <a:endParaRPr/>
          </a:p>
        </p:txBody>
      </p:sp>
      <p:sp>
        <p:nvSpPr>
          <p:cNvPr id="633" name="Text 7"/>
          <p:cNvSpPr/>
          <p:nvPr/>
        </p:nvSpPr>
        <p:spPr>
          <a:xfrm>
            <a:off x="508000" y="1117600"/>
            <a:ext cx="1524000" cy="355600"/>
          </a:xfrm>
          <a:prstGeom prst="rect">
            <a:avLst/>
          </a:prstGeom>
          <a:noFill/>
          <a:ln/>
        </p:spPr>
        <p:txBody>
          <a:bodyPr wrap="none" lIns="0" tIns="0" rIns="0" bIns="0" rtlCol="0" anchor="ctr"/>
          <a:lstStyle/>
          <a:p>
            <a:pPr algn="ctr">
              <a:lnSpc>
                <a:spcPct val="100000"/>
              </a:lnSpc>
            </a:pPr>
            <a:endParaRPr lang="en-US" sz="1200">
              <a:solidFill>
                <a:srgbClr val="FFFFFF">
                  <a:alpha val="100000"/>
                </a:srgbClr>
              </a:solidFill>
              <a:latin typeface="Quattrocento Sans"/>
              <a:ea typeface="Quattrocento Sans"/>
              <a:cs typeface="Quattrocento Sans"/>
            </a:endParaRPr>
          </a:p>
        </p:txBody>
      </p:sp>
      <p:sp>
        <p:nvSpPr>
          <p:cNvPr id="634" name="Text 8"/>
          <p:cNvSpPr/>
          <p:nvPr/>
        </p:nvSpPr>
        <p:spPr>
          <a:xfrm>
            <a:off x="711200" y="1625600"/>
            <a:ext cx="6959600" cy="381000"/>
          </a:xfrm>
          <a:prstGeom prst="rect">
            <a:avLst/>
          </a:prstGeom>
          <a:noFill/>
          <a:ln/>
        </p:spPr>
        <p:txBody>
          <a:bodyPr wrap="none" lIns="0" tIns="0" rIns="0" bIns="0" rtlCol="0" anchor="ctr"/>
          <a:lstStyle/>
          <a:p>
            <a:pPr>
              <a:lnSpc>
                <a:spcPct val="100000"/>
              </a:lnSpc>
            </a:pPr>
            <a:r>
              <a:rPr lang="en-US" sz="1800" b="1">
                <a:solidFill>
                  <a:srgbClr val="1A4A7A">
                    <a:alpha val="100000"/>
                  </a:srgbClr>
                </a:solidFill>
                <a:latin typeface="Quattrocento Sans"/>
                <a:ea typeface="Quattrocento Sans"/>
                <a:cs typeface="Quattrocento Sans"/>
              </a:rPr>
              <a:t>Breaking the Limits of Single-Modal Retrieval</a:t>
            </a:r>
            <a:endParaRPr/>
          </a:p>
        </p:txBody>
      </p:sp>
      <p:sp>
        <p:nvSpPr>
          <p:cNvPr id="635" name="Text 9"/>
          <p:cNvSpPr/>
          <p:nvPr/>
        </p:nvSpPr>
        <p:spPr>
          <a:xfrm>
            <a:off x="711200" y="2082800"/>
            <a:ext cx="6959600" cy="2159000"/>
          </a:xfrm>
          <a:prstGeom prst="rect">
            <a:avLst/>
          </a:prstGeom>
          <a:noFill/>
          <a:ln/>
        </p:spPr>
        <p:txBody>
          <a:bodyPr wrap="square" lIns="0" tIns="0" rIns="0" bIns="0" rtlCol="0" anchor="ctr"/>
          <a:lstStyle/>
          <a:p>
            <a:pPr>
              <a:lnSpc>
                <a:spcPct val="170000"/>
              </a:lnSpc>
            </a:pPr>
            <a:r>
              <a:rPr lang="en-US" sz="1800">
                <a:solidFill>
                  <a:srgbClr val="2C2C2C">
                    <a:alpha val="100000"/>
                  </a:srgbClr>
                </a:solidFill>
                <a:latin typeface="Quattrocento Sans"/>
                <a:ea typeface="Quattrocento Sans"/>
                <a:cs typeface="Quattrocento Sans"/>
              </a:rPr>
              <a:t>This project aims to overcome the limitations of pure vector retrieval by building a Hybrid Retrieval System that deeply integrates Big Data graph analysis with LLMs.</a:t>
            </a:r>
            <a:endParaRPr/>
          </a:p>
        </p:txBody>
      </p:sp>
      <p:sp>
        <p:nvSpPr>
          <p:cNvPr id="636" name="Shape 10"/>
          <p:cNvSpPr/>
          <p:nvPr/>
        </p:nvSpPr>
        <p:spPr>
          <a:xfrm>
            <a:off x="8382000" y="1117600"/>
            <a:ext cx="7366000" cy="3429000"/>
          </a:xfrm>
          <a:prstGeom prst="roundRect">
            <a:avLst>
              <a:gd name="adj" fmla="val 4000"/>
            </a:avLst>
          </a:prstGeom>
          <a:solidFill>
            <a:srgbClr val="F5F5F5"/>
          </a:solidFill>
          <a:ln/>
        </p:spPr>
        <p:txBody>
          <a:bodyPr/>
          <a:lstStyle/>
          <a:p>
            <a:endParaRPr/>
          </a:p>
        </p:txBody>
      </p:sp>
      <p:sp>
        <p:nvSpPr>
          <p:cNvPr id="637" name="Shape 11"/>
          <p:cNvSpPr/>
          <p:nvPr/>
        </p:nvSpPr>
        <p:spPr>
          <a:xfrm>
            <a:off x="8382000" y="1117600"/>
            <a:ext cx="1524000" cy="355600"/>
          </a:xfrm>
          <a:prstGeom prst="rect">
            <a:avLst/>
          </a:prstGeom>
          <a:solidFill>
            <a:srgbClr val="5B9BD5"/>
          </a:solidFill>
          <a:ln/>
        </p:spPr>
        <p:txBody>
          <a:bodyPr/>
          <a:lstStyle/>
          <a:p>
            <a:endParaRPr/>
          </a:p>
        </p:txBody>
      </p:sp>
      <p:sp>
        <p:nvSpPr>
          <p:cNvPr id="638" name="Text 12"/>
          <p:cNvSpPr/>
          <p:nvPr/>
        </p:nvSpPr>
        <p:spPr>
          <a:xfrm>
            <a:off x="8382000" y="1117600"/>
            <a:ext cx="1524000" cy="355600"/>
          </a:xfrm>
          <a:prstGeom prst="rect">
            <a:avLst/>
          </a:prstGeom>
          <a:noFill/>
          <a:ln/>
        </p:spPr>
        <p:txBody>
          <a:bodyPr wrap="none" lIns="0" tIns="0" rIns="0" bIns="0" rtlCol="0" anchor="ctr"/>
          <a:lstStyle/>
          <a:p>
            <a:pPr algn="ctr">
              <a:lnSpc>
                <a:spcPct val="100000"/>
              </a:lnSpc>
            </a:pPr>
            <a:endParaRPr lang="en-US" sz="1200">
              <a:solidFill>
                <a:srgbClr val="FFFFFF">
                  <a:alpha val="100000"/>
                </a:srgbClr>
              </a:solidFill>
              <a:latin typeface="Quattrocento Sans"/>
              <a:ea typeface="Quattrocento Sans"/>
              <a:cs typeface="Quattrocento Sans"/>
            </a:endParaRPr>
          </a:p>
        </p:txBody>
      </p:sp>
      <p:sp>
        <p:nvSpPr>
          <p:cNvPr id="639" name="Text 13"/>
          <p:cNvSpPr/>
          <p:nvPr/>
        </p:nvSpPr>
        <p:spPr>
          <a:xfrm>
            <a:off x="8585200" y="1625600"/>
            <a:ext cx="6959600" cy="381000"/>
          </a:xfrm>
          <a:prstGeom prst="rect">
            <a:avLst/>
          </a:prstGeom>
          <a:noFill/>
          <a:ln/>
        </p:spPr>
        <p:txBody>
          <a:bodyPr wrap="none" lIns="0" tIns="0" rIns="0" bIns="0" rtlCol="0" anchor="ctr"/>
          <a:lstStyle/>
          <a:p>
            <a:pPr>
              <a:lnSpc>
                <a:spcPct val="100000"/>
              </a:lnSpc>
            </a:pPr>
            <a:r>
              <a:rPr lang="en-US" sz="1800" b="1">
                <a:solidFill>
                  <a:srgbClr val="1A4A7A">
                    <a:alpha val="100000"/>
                  </a:srgbClr>
                </a:solidFill>
                <a:latin typeface="Quattrocento Sans"/>
                <a:ea typeface="Quattrocento Sans"/>
                <a:cs typeface="Quattrocento Sans"/>
              </a:rPr>
              <a:t>Fusing Structural and Semantic Features</a:t>
            </a:r>
            <a:endParaRPr/>
          </a:p>
        </p:txBody>
      </p:sp>
      <p:sp>
        <p:nvSpPr>
          <p:cNvPr id="640" name="Text 14"/>
          <p:cNvSpPr/>
          <p:nvPr/>
        </p:nvSpPr>
        <p:spPr>
          <a:xfrm>
            <a:off x="8585200" y="2082800"/>
            <a:ext cx="6959600" cy="2159000"/>
          </a:xfrm>
          <a:prstGeom prst="rect">
            <a:avLst/>
          </a:prstGeom>
          <a:noFill/>
          <a:ln/>
        </p:spPr>
        <p:txBody>
          <a:bodyPr wrap="square" lIns="0" tIns="0" rIns="0" bIns="0" rtlCol="0" anchor="ctr"/>
          <a:lstStyle/>
          <a:p>
            <a:pPr>
              <a:lnSpc>
                <a:spcPct val="170000"/>
              </a:lnSpc>
            </a:pPr>
            <a:r>
              <a:rPr lang="en-US" sz="1800">
                <a:solidFill>
                  <a:srgbClr val="2C2C2C">
                    <a:alpha val="100000"/>
                  </a:srgbClr>
                </a:solidFill>
                <a:latin typeface="Quattrocento Sans"/>
                <a:ea typeface="Quattrocento Sans"/>
                <a:cs typeface="Quattrocento Sans"/>
              </a:rPr>
              <a:t> By implementing a hybrid mechanism of "structured graph retrieval + vector retrieval," the system applies graph algorithms for topological weighting to provide LLMs with a more accurate and logical context augmentation.</a:t>
            </a:r>
            <a:endParaRPr/>
          </a:p>
        </p:txBody>
      </p:sp>
      <p:sp>
        <p:nvSpPr>
          <p:cNvPr id="641" name="Shape 15"/>
          <p:cNvSpPr/>
          <p:nvPr/>
        </p:nvSpPr>
        <p:spPr>
          <a:xfrm>
            <a:off x="508000" y="4800600"/>
            <a:ext cx="7366000" cy="3429000"/>
          </a:xfrm>
          <a:prstGeom prst="roundRect">
            <a:avLst>
              <a:gd name="adj" fmla="val 4000"/>
            </a:avLst>
          </a:prstGeom>
          <a:solidFill>
            <a:srgbClr val="F5F5F5"/>
          </a:solidFill>
          <a:ln/>
        </p:spPr>
        <p:txBody>
          <a:bodyPr/>
          <a:lstStyle/>
          <a:p>
            <a:endParaRPr/>
          </a:p>
        </p:txBody>
      </p:sp>
      <p:sp>
        <p:nvSpPr>
          <p:cNvPr id="642" name="Shape 16"/>
          <p:cNvSpPr/>
          <p:nvPr/>
        </p:nvSpPr>
        <p:spPr>
          <a:xfrm>
            <a:off x="508000" y="4800600"/>
            <a:ext cx="1524000" cy="355600"/>
          </a:xfrm>
          <a:prstGeom prst="rect">
            <a:avLst/>
          </a:prstGeom>
          <a:solidFill>
            <a:srgbClr val="2E86C1"/>
          </a:solidFill>
          <a:ln/>
        </p:spPr>
        <p:txBody>
          <a:bodyPr/>
          <a:lstStyle/>
          <a:p>
            <a:endParaRPr/>
          </a:p>
        </p:txBody>
      </p:sp>
      <p:sp>
        <p:nvSpPr>
          <p:cNvPr id="643" name="Text 17"/>
          <p:cNvSpPr/>
          <p:nvPr/>
        </p:nvSpPr>
        <p:spPr>
          <a:xfrm>
            <a:off x="508000" y="4800600"/>
            <a:ext cx="1524000" cy="355600"/>
          </a:xfrm>
          <a:prstGeom prst="rect">
            <a:avLst/>
          </a:prstGeom>
          <a:noFill/>
          <a:ln/>
        </p:spPr>
        <p:txBody>
          <a:bodyPr wrap="none" lIns="0" tIns="0" rIns="0" bIns="0" rtlCol="0" anchor="ctr"/>
          <a:lstStyle/>
          <a:p>
            <a:pPr algn="ctr">
              <a:lnSpc>
                <a:spcPct val="100000"/>
              </a:lnSpc>
            </a:pPr>
            <a:endParaRPr lang="en-US" sz="1200">
              <a:solidFill>
                <a:srgbClr val="FFFFFF">
                  <a:alpha val="100000"/>
                </a:srgbClr>
              </a:solidFill>
              <a:latin typeface="Quattrocento Sans"/>
              <a:ea typeface="Quattrocento Sans"/>
              <a:cs typeface="Quattrocento Sans"/>
            </a:endParaRPr>
          </a:p>
        </p:txBody>
      </p:sp>
      <p:sp>
        <p:nvSpPr>
          <p:cNvPr id="644" name="Text 18"/>
          <p:cNvSpPr/>
          <p:nvPr/>
        </p:nvSpPr>
        <p:spPr>
          <a:xfrm>
            <a:off x="711200" y="5308600"/>
            <a:ext cx="6959600" cy="381000"/>
          </a:xfrm>
          <a:prstGeom prst="rect">
            <a:avLst/>
          </a:prstGeom>
          <a:noFill/>
          <a:ln/>
        </p:spPr>
        <p:txBody>
          <a:bodyPr wrap="none" lIns="0" tIns="0" rIns="0" bIns="0" rtlCol="0" anchor="ctr"/>
          <a:lstStyle/>
          <a:p>
            <a:pPr>
              <a:lnSpc>
                <a:spcPct val="100000"/>
              </a:lnSpc>
            </a:pPr>
            <a:r>
              <a:rPr lang="en-US" sz="1800" b="1">
                <a:solidFill>
                  <a:srgbClr val="1A4A7A">
                    <a:alpha val="100000"/>
                  </a:srgbClr>
                </a:solidFill>
                <a:latin typeface="Quattrocento Sans"/>
                <a:ea typeface="Quattrocento Sans"/>
                <a:cs typeface="Quattrocento Sans"/>
              </a:rPr>
              <a:t>Conquering the Scalability Challenge in Massive Graph Construction</a:t>
            </a:r>
            <a:endParaRPr/>
          </a:p>
        </p:txBody>
      </p:sp>
      <p:sp>
        <p:nvSpPr>
          <p:cNvPr id="645" name="Text 19"/>
          <p:cNvSpPr/>
          <p:nvPr/>
        </p:nvSpPr>
        <p:spPr>
          <a:xfrm>
            <a:off x="711200" y="5765800"/>
            <a:ext cx="6959600" cy="2159000"/>
          </a:xfrm>
          <a:prstGeom prst="rect">
            <a:avLst/>
          </a:prstGeom>
          <a:noFill/>
          <a:ln/>
        </p:spPr>
        <p:txBody>
          <a:bodyPr wrap="square" lIns="0" tIns="0" rIns="0" bIns="0" rtlCol="0" anchor="ctr"/>
          <a:lstStyle/>
          <a:p>
            <a:pPr>
              <a:lnSpc>
                <a:spcPct val="170000"/>
              </a:lnSpc>
            </a:pPr>
            <a:r>
              <a:rPr lang="en-US" sz="1800">
                <a:solidFill>
                  <a:srgbClr val="2C2C2C">
                    <a:alpha val="100000"/>
                  </a:srgbClr>
                </a:solidFill>
                <a:latin typeface="Quattrocento Sans"/>
                <a:ea typeface="Quattrocento Sans"/>
                <a:cs typeface="Quattrocento Sans"/>
              </a:rPr>
              <a:t>Leveraging Apache Spark's massive parallel computing capabilities, the project extracts entities and relationships from unstructured text corpora to resolve the performance bottlenecks in building massive Knowledge Graphs.</a:t>
            </a:r>
            <a:endParaRPr/>
          </a:p>
        </p:txBody>
      </p:sp>
      <p:sp>
        <p:nvSpPr>
          <p:cNvPr id="646" name="Shape 20"/>
          <p:cNvSpPr/>
          <p:nvPr/>
        </p:nvSpPr>
        <p:spPr>
          <a:xfrm>
            <a:off x="8382000" y="4800600"/>
            <a:ext cx="7366000" cy="3429000"/>
          </a:xfrm>
          <a:prstGeom prst="roundRect">
            <a:avLst>
              <a:gd name="adj" fmla="val 4000"/>
            </a:avLst>
          </a:prstGeom>
          <a:solidFill>
            <a:srgbClr val="F5F5F5"/>
          </a:solidFill>
          <a:ln/>
        </p:spPr>
        <p:txBody>
          <a:bodyPr/>
          <a:lstStyle/>
          <a:p>
            <a:endParaRPr/>
          </a:p>
        </p:txBody>
      </p:sp>
      <p:sp>
        <p:nvSpPr>
          <p:cNvPr id="647" name="Shape 21"/>
          <p:cNvSpPr/>
          <p:nvPr/>
        </p:nvSpPr>
        <p:spPr>
          <a:xfrm>
            <a:off x="8382000" y="4800600"/>
            <a:ext cx="1524000" cy="355600"/>
          </a:xfrm>
          <a:prstGeom prst="rect">
            <a:avLst/>
          </a:prstGeom>
          <a:solidFill>
            <a:srgbClr val="455A64"/>
          </a:solidFill>
          <a:ln/>
        </p:spPr>
        <p:txBody>
          <a:bodyPr/>
          <a:lstStyle/>
          <a:p>
            <a:endParaRPr/>
          </a:p>
        </p:txBody>
      </p:sp>
      <p:sp>
        <p:nvSpPr>
          <p:cNvPr id="648" name="Text 22"/>
          <p:cNvSpPr/>
          <p:nvPr/>
        </p:nvSpPr>
        <p:spPr>
          <a:xfrm>
            <a:off x="8382000" y="4800600"/>
            <a:ext cx="1524000" cy="355600"/>
          </a:xfrm>
          <a:prstGeom prst="rect">
            <a:avLst/>
          </a:prstGeom>
          <a:noFill/>
          <a:ln/>
        </p:spPr>
        <p:txBody>
          <a:bodyPr wrap="none" lIns="0" tIns="0" rIns="0" bIns="0" rtlCol="0" anchor="ctr"/>
          <a:lstStyle/>
          <a:p>
            <a:pPr algn="ctr">
              <a:lnSpc>
                <a:spcPct val="100000"/>
              </a:lnSpc>
            </a:pPr>
            <a:endParaRPr lang="en-US" sz="1200">
              <a:solidFill>
                <a:srgbClr val="FFFFFF">
                  <a:alpha val="100000"/>
                </a:srgbClr>
              </a:solidFill>
              <a:latin typeface="Quattrocento Sans"/>
              <a:ea typeface="Quattrocento Sans"/>
              <a:cs typeface="Quattrocento Sans"/>
            </a:endParaRPr>
          </a:p>
        </p:txBody>
      </p:sp>
      <p:sp>
        <p:nvSpPr>
          <p:cNvPr id="649" name="Text 23"/>
          <p:cNvSpPr/>
          <p:nvPr/>
        </p:nvSpPr>
        <p:spPr>
          <a:xfrm>
            <a:off x="8585200" y="5308600"/>
            <a:ext cx="6959600" cy="381000"/>
          </a:xfrm>
          <a:prstGeom prst="rect">
            <a:avLst/>
          </a:prstGeom>
          <a:noFill/>
          <a:ln/>
        </p:spPr>
        <p:txBody>
          <a:bodyPr wrap="none" lIns="0" tIns="0" rIns="0" bIns="0" rtlCol="0" anchor="ctr"/>
          <a:lstStyle/>
          <a:p>
            <a:pPr>
              <a:lnSpc>
                <a:spcPct val="100000"/>
              </a:lnSpc>
            </a:pPr>
            <a:r>
              <a:rPr lang="en-US" sz="1800" b="1" dirty="0">
                <a:solidFill>
                  <a:srgbClr val="1A4A7A"/>
                </a:solidFill>
                <a:latin typeface="Quattrocento Sans" pitchFamily="34" charset="0"/>
                <a:ea typeface="Quattrocento Sans" pitchFamily="34" charset="-122"/>
                <a:cs typeface="Quattrocento Sans" pitchFamily="34" charset="-120"/>
              </a:rPr>
              <a:t>End-to-End Validation</a:t>
            </a:r>
            <a:endParaRPr lang="en-US" sz="1600" dirty="0"/>
          </a:p>
        </p:txBody>
      </p:sp>
      <p:sp>
        <p:nvSpPr>
          <p:cNvPr id="650" name="Text 24"/>
          <p:cNvSpPr/>
          <p:nvPr/>
        </p:nvSpPr>
        <p:spPr>
          <a:xfrm>
            <a:off x="8585200" y="5765800"/>
            <a:ext cx="6959600" cy="2159000"/>
          </a:xfrm>
          <a:prstGeom prst="rect">
            <a:avLst/>
          </a:prstGeom>
          <a:noFill/>
          <a:ln/>
        </p:spPr>
        <p:txBody>
          <a:bodyPr wrap="square" lIns="0" tIns="0" rIns="0" bIns="0" rtlCol="0" anchor="ctr"/>
          <a:lstStyle/>
          <a:p>
            <a:pPr>
              <a:lnSpc>
                <a:spcPct val="170000"/>
              </a:lnSpc>
            </a:pPr>
            <a:r>
              <a:rPr lang="en-US" sz="1800">
                <a:solidFill>
                  <a:srgbClr val="2C2C2C">
                    <a:alpha val="100000"/>
                  </a:srgbClr>
                </a:solidFill>
                <a:latin typeface="Quattrocento Sans"/>
                <a:ea typeface="Quattrocento Sans"/>
                <a:cs typeface="Quattrocento Sans"/>
              </a:rPr>
              <a:t> With Spark at its core for distributed processing , the ultimate goal is to verify accuracy improvements on multi-hop queries and provide a highly efficient, scalable Big Data + AI solution for knowledge-augmented generation tasks.</a:t>
            </a:r>
            <a:endParaRPr/>
          </a:p>
        </p:txBody>
      </p:sp>
      <p:sp>
        <p:nvSpPr>
          <p:cNvPr id="651" name="Text 25"/>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7</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6F9FC"/>
        </a:solidFill>
        <a:effectLst/>
      </p:bgPr>
    </p:bg>
    <p:spTree>
      <p:nvGrpSpPr>
        <p:cNvPr id="1" name=""/>
        <p:cNvGrpSpPr/>
        <p:nvPr/>
      </p:nvGrpSpPr>
      <p:grpSpPr>
        <a:xfrm>
          <a:off x="0" y="0"/>
          <a:ext cx="0" cy="0"/>
          <a:chOff x="0" y="0"/>
          <a:chExt cx="0" cy="0"/>
        </a:xfrm>
      </p:grpSpPr>
      <p:sp>
        <p:nvSpPr>
          <p:cNvPr id="653" name="Shape 0"/>
          <p:cNvSpPr/>
          <p:nvPr/>
        </p:nvSpPr>
        <p:spPr>
          <a:xfrm>
            <a:off x="0" y="0"/>
            <a:ext cx="76200" cy="9144000"/>
          </a:xfrm>
          <a:prstGeom prst="rect">
            <a:avLst/>
          </a:prstGeom>
          <a:solidFill>
            <a:srgbClr val="1A4A7A"/>
          </a:solidFill>
          <a:ln/>
        </p:spPr>
        <p:txBody>
          <a:bodyPr/>
          <a:lstStyle/>
          <a:p>
            <a:endParaRPr/>
          </a:p>
        </p:txBody>
      </p:sp>
      <p:sp>
        <p:nvSpPr>
          <p:cNvPr id="654" name="Shape 1"/>
          <p:cNvSpPr/>
          <p:nvPr/>
        </p:nvSpPr>
        <p:spPr>
          <a:xfrm>
            <a:off x="0" y="0"/>
            <a:ext cx="16256000" cy="38100"/>
          </a:xfrm>
          <a:prstGeom prst="rect">
            <a:avLst/>
          </a:prstGeom>
          <a:solidFill>
            <a:srgbClr val="1A4A7A"/>
          </a:solidFill>
          <a:ln/>
        </p:spPr>
        <p:txBody>
          <a:bodyPr/>
          <a:lstStyle/>
          <a:p>
            <a:endParaRPr/>
          </a:p>
        </p:txBody>
      </p:sp>
      <p:sp>
        <p:nvSpPr>
          <p:cNvPr id="655"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dirty="0">
                <a:solidFill>
                  <a:srgbClr val="5B9BD5"/>
                </a:solidFill>
                <a:latin typeface="Quattrocento Sans" pitchFamily="34" charset="0"/>
                <a:ea typeface="Quattrocento Sans" pitchFamily="34" charset="-122"/>
                <a:cs typeface="Quattrocento Sans" pitchFamily="34" charset="-120"/>
              </a:rPr>
              <a:t>01 Background &amp; Motivation</a:t>
            </a:r>
            <a:endParaRPr lang="en-US" sz="1600" dirty="0"/>
          </a:p>
        </p:txBody>
      </p:sp>
      <p:sp>
        <p:nvSpPr>
          <p:cNvPr id="656"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dirty="0">
                <a:solidFill>
                  <a:srgbClr val="1A4A7A"/>
                </a:solidFill>
                <a:latin typeface="Quattrocento Sans" pitchFamily="34" charset="0"/>
                <a:ea typeface="Quattrocento Sans" pitchFamily="34" charset="-122"/>
                <a:cs typeface="Quattrocento Sans" pitchFamily="34" charset="-120"/>
              </a:rPr>
              <a:t>Core Innovations</a:t>
            </a:r>
            <a:endParaRPr lang="en-US" sz="1600" dirty="0"/>
          </a:p>
        </p:txBody>
      </p:sp>
      <p:sp>
        <p:nvSpPr>
          <p:cNvPr id="657" name="Shape 4"/>
          <p:cNvSpPr/>
          <p:nvPr/>
        </p:nvSpPr>
        <p:spPr>
          <a:xfrm>
            <a:off x="508000" y="863600"/>
            <a:ext cx="15240000" cy="12700"/>
          </a:xfrm>
          <a:prstGeom prst="rect">
            <a:avLst/>
          </a:prstGeom>
          <a:solidFill>
            <a:srgbClr val="E0E0E0"/>
          </a:solidFill>
          <a:ln/>
        </p:spPr>
        <p:txBody>
          <a:bodyPr/>
          <a:lstStyle/>
          <a:p>
            <a:endParaRPr/>
          </a:p>
        </p:txBody>
      </p:sp>
      <p:sp>
        <p:nvSpPr>
          <p:cNvPr id="658" name="Shape 5"/>
          <p:cNvSpPr/>
          <p:nvPr/>
        </p:nvSpPr>
        <p:spPr>
          <a:xfrm>
            <a:off x="508000" y="1092200"/>
            <a:ext cx="4648200" cy="3302000"/>
          </a:xfrm>
          <a:prstGeom prst="roundRect">
            <a:avLst>
              <a:gd name="adj" fmla="val 4000"/>
            </a:avLst>
          </a:prstGeom>
          <a:solidFill>
            <a:srgbClr val="1A4A7A"/>
          </a:solidFill>
          <a:ln/>
        </p:spPr>
        <p:txBody>
          <a:bodyPr/>
          <a:lstStyle/>
          <a:p>
            <a:endParaRPr/>
          </a:p>
        </p:txBody>
      </p:sp>
      <p:sp>
        <p:nvSpPr>
          <p:cNvPr id="659" name="Shape 6"/>
          <p:cNvSpPr/>
          <p:nvPr/>
        </p:nvSpPr>
        <p:spPr>
          <a:xfrm>
            <a:off x="508000" y="1092200"/>
            <a:ext cx="4648200" cy="812800"/>
          </a:xfrm>
          <a:prstGeom prst="roundRect">
            <a:avLst>
              <a:gd name="adj" fmla="val 4000"/>
            </a:avLst>
          </a:prstGeom>
          <a:solidFill>
            <a:srgbClr val="123960"/>
          </a:solidFill>
          <a:ln/>
        </p:spPr>
        <p:txBody>
          <a:bodyPr/>
          <a:lstStyle/>
          <a:p>
            <a:endParaRPr/>
          </a:p>
        </p:txBody>
      </p:sp>
      <p:sp>
        <p:nvSpPr>
          <p:cNvPr id="660" name="Text 7"/>
          <p:cNvSpPr/>
          <p:nvPr/>
        </p:nvSpPr>
        <p:spPr>
          <a:xfrm>
            <a:off x="508000" y="1092200"/>
            <a:ext cx="4648200" cy="812800"/>
          </a:xfrm>
          <a:prstGeom prst="rect">
            <a:avLst/>
          </a:prstGeom>
          <a:noFill/>
          <a:ln/>
        </p:spPr>
        <p:txBody>
          <a:bodyPr wrap="none" lIns="0" tIns="0" rIns="0" bIns="0" rtlCol="0" anchor="ctr"/>
          <a:lstStyle/>
          <a:p>
            <a:pPr algn="ctr">
              <a:lnSpc>
                <a:spcPct val="100000"/>
              </a:lnSpc>
            </a:pPr>
            <a:r>
              <a:rPr lang="en-US" sz="1400">
                <a:solidFill>
                  <a:srgbClr val="FFFFFF">
                    <a:alpha val="53333"/>
                  </a:srgbClr>
                </a:solidFill>
                <a:latin typeface="Quattrocento Sans"/>
                <a:ea typeface="Quattrocento Sans"/>
                <a:cs typeface="Quattrocento Sans"/>
              </a:rPr>
              <a:t>INNOVATION 1</a:t>
            </a:r>
            <a:endParaRPr/>
          </a:p>
        </p:txBody>
      </p:sp>
      <p:sp>
        <p:nvSpPr>
          <p:cNvPr id="661" name="Text 8"/>
          <p:cNvSpPr/>
          <p:nvPr/>
        </p:nvSpPr>
        <p:spPr>
          <a:xfrm>
            <a:off x="711200" y="2057400"/>
            <a:ext cx="4241800" cy="2159000"/>
          </a:xfrm>
          <a:prstGeom prst="rect">
            <a:avLst/>
          </a:prstGeom>
          <a:noFill/>
          <a:ln/>
        </p:spPr>
        <p:txBody>
          <a:bodyPr wrap="square" lIns="0" tIns="0" rIns="0" bIns="0" rtlCol="0" anchor="ctr"/>
          <a:lstStyle/>
          <a:p>
            <a:pPr>
              <a:lnSpc>
                <a:spcPct val="160000"/>
              </a:lnSpc>
            </a:pPr>
            <a:r>
              <a:rPr lang="en-US" sz="1500" b="1" dirty="0">
                <a:solidFill>
                  <a:srgbClr val="FFFFFF"/>
                </a:solidFill>
                <a:latin typeface="Quattrocento Sans" pitchFamily="34" charset="0"/>
                <a:ea typeface="Quattrocento Sans" pitchFamily="34" charset="-122"/>
                <a:cs typeface="Quattrocento Sans" pitchFamily="34" charset="-120"/>
              </a:rPr>
              <a:t>Hybrid Retrieval</a:t>
            </a:r>
            <a:endParaRPr lang="en-US" sz="1600" dirty="0"/>
          </a:p>
          <a:p>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Vector semantic search combined with graph structural search via explicit entity relation chains, unifying semantic and topological signals.</a:t>
            </a:r>
            <a:endParaRPr lang="en-US" sz="1600" dirty="0"/>
          </a:p>
        </p:txBody>
      </p:sp>
      <p:sp>
        <p:nvSpPr>
          <p:cNvPr id="662" name="Shape 9"/>
          <p:cNvSpPr/>
          <p:nvPr/>
        </p:nvSpPr>
        <p:spPr>
          <a:xfrm>
            <a:off x="5803900" y="1092200"/>
            <a:ext cx="4648200" cy="3302000"/>
          </a:xfrm>
          <a:prstGeom prst="roundRect">
            <a:avLst>
              <a:gd name="adj" fmla="val 4000"/>
            </a:avLst>
          </a:prstGeom>
          <a:solidFill>
            <a:srgbClr val="5B9BD5"/>
          </a:solidFill>
          <a:ln/>
        </p:spPr>
        <p:txBody>
          <a:bodyPr/>
          <a:lstStyle/>
          <a:p>
            <a:endParaRPr/>
          </a:p>
        </p:txBody>
      </p:sp>
      <p:sp>
        <p:nvSpPr>
          <p:cNvPr id="663" name="Shape 10"/>
          <p:cNvSpPr/>
          <p:nvPr/>
        </p:nvSpPr>
        <p:spPr>
          <a:xfrm>
            <a:off x="5803900" y="1092200"/>
            <a:ext cx="4648200" cy="812800"/>
          </a:xfrm>
          <a:prstGeom prst="roundRect">
            <a:avLst>
              <a:gd name="adj" fmla="val 4000"/>
            </a:avLst>
          </a:prstGeom>
          <a:solidFill>
            <a:srgbClr val="3A6A9A"/>
          </a:solidFill>
          <a:ln/>
        </p:spPr>
        <p:txBody>
          <a:bodyPr/>
          <a:lstStyle/>
          <a:p>
            <a:endParaRPr/>
          </a:p>
        </p:txBody>
      </p:sp>
      <p:sp>
        <p:nvSpPr>
          <p:cNvPr id="664" name="Text 11"/>
          <p:cNvSpPr/>
          <p:nvPr/>
        </p:nvSpPr>
        <p:spPr>
          <a:xfrm>
            <a:off x="5803900" y="1092200"/>
            <a:ext cx="4648200" cy="812800"/>
          </a:xfrm>
          <a:prstGeom prst="rect">
            <a:avLst/>
          </a:prstGeom>
          <a:noFill/>
          <a:ln/>
        </p:spPr>
        <p:txBody>
          <a:bodyPr wrap="none" lIns="0" tIns="0" rIns="0" bIns="0" rtlCol="0" anchor="ctr"/>
          <a:lstStyle/>
          <a:p>
            <a:pPr algn="ctr">
              <a:lnSpc>
                <a:spcPct val="100000"/>
              </a:lnSpc>
            </a:pPr>
            <a:r>
              <a:rPr lang="en-US" sz="1400">
                <a:solidFill>
                  <a:srgbClr val="FFFFFF">
                    <a:alpha val="53333"/>
                  </a:srgbClr>
                </a:solidFill>
                <a:latin typeface="Quattrocento Sans"/>
                <a:ea typeface="Quattrocento Sans"/>
                <a:cs typeface="Quattrocento Sans"/>
              </a:rPr>
              <a:t>INNOVATION 2</a:t>
            </a:r>
            <a:endParaRPr/>
          </a:p>
        </p:txBody>
      </p:sp>
      <p:sp>
        <p:nvSpPr>
          <p:cNvPr id="665" name="Text 12"/>
          <p:cNvSpPr/>
          <p:nvPr/>
        </p:nvSpPr>
        <p:spPr>
          <a:xfrm>
            <a:off x="6007100" y="2057400"/>
            <a:ext cx="4241800" cy="2159000"/>
          </a:xfrm>
          <a:prstGeom prst="rect">
            <a:avLst/>
          </a:prstGeom>
          <a:noFill/>
          <a:ln/>
        </p:spPr>
        <p:txBody>
          <a:bodyPr wrap="square" lIns="0" tIns="0" rIns="0" bIns="0" rtlCol="0" anchor="ctr"/>
          <a:lstStyle/>
          <a:p>
            <a:pPr>
              <a:lnSpc>
                <a:spcPct val="160000"/>
              </a:lnSpc>
            </a:pPr>
            <a:r>
              <a:rPr lang="en-US" sz="1500" b="1" dirty="0">
                <a:solidFill>
                  <a:srgbClr val="FFFFFF"/>
                </a:solidFill>
                <a:latin typeface="Quattrocento Sans" pitchFamily="34" charset="0"/>
                <a:ea typeface="Quattrocento Sans" pitchFamily="34" charset="-122"/>
                <a:cs typeface="Quattrocento Sans" pitchFamily="34" charset="-120"/>
              </a:rPr>
              <a:t>PageRank + Louvain</a:t>
            </a:r>
            <a:endParaRPr lang="en-US" sz="1600" dirty="0"/>
          </a:p>
          <a:p>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PageRank scores node/edge importance for ranking; Louvain detects semantic communities for retrieval expansion and disambiguation.</a:t>
            </a:r>
            <a:endParaRPr lang="en-US" sz="1600" dirty="0"/>
          </a:p>
        </p:txBody>
      </p:sp>
      <p:sp>
        <p:nvSpPr>
          <p:cNvPr id="666" name="Shape 13"/>
          <p:cNvSpPr/>
          <p:nvPr/>
        </p:nvSpPr>
        <p:spPr>
          <a:xfrm>
            <a:off x="11099800" y="1092200"/>
            <a:ext cx="4648200" cy="3302000"/>
          </a:xfrm>
          <a:prstGeom prst="roundRect">
            <a:avLst>
              <a:gd name="adj" fmla="val 4000"/>
            </a:avLst>
          </a:prstGeom>
          <a:solidFill>
            <a:srgbClr val="2E86C1"/>
          </a:solidFill>
          <a:ln/>
        </p:spPr>
        <p:txBody>
          <a:bodyPr/>
          <a:lstStyle/>
          <a:p>
            <a:endParaRPr/>
          </a:p>
        </p:txBody>
      </p:sp>
      <p:sp>
        <p:nvSpPr>
          <p:cNvPr id="667" name="Shape 14"/>
          <p:cNvSpPr/>
          <p:nvPr/>
        </p:nvSpPr>
        <p:spPr>
          <a:xfrm>
            <a:off x="11099800" y="1092200"/>
            <a:ext cx="4648200" cy="812800"/>
          </a:xfrm>
          <a:prstGeom prst="roundRect">
            <a:avLst>
              <a:gd name="adj" fmla="val 4000"/>
            </a:avLst>
          </a:prstGeom>
          <a:solidFill>
            <a:srgbClr val="1E6A7E"/>
          </a:solidFill>
          <a:ln/>
        </p:spPr>
        <p:txBody>
          <a:bodyPr/>
          <a:lstStyle/>
          <a:p>
            <a:endParaRPr/>
          </a:p>
        </p:txBody>
      </p:sp>
      <p:sp>
        <p:nvSpPr>
          <p:cNvPr id="668" name="Text 15"/>
          <p:cNvSpPr/>
          <p:nvPr/>
        </p:nvSpPr>
        <p:spPr>
          <a:xfrm>
            <a:off x="11099800" y="1092200"/>
            <a:ext cx="4648200" cy="812800"/>
          </a:xfrm>
          <a:prstGeom prst="rect">
            <a:avLst/>
          </a:prstGeom>
          <a:noFill/>
          <a:ln/>
        </p:spPr>
        <p:txBody>
          <a:bodyPr wrap="none" lIns="0" tIns="0" rIns="0" bIns="0" rtlCol="0" anchor="ctr"/>
          <a:lstStyle/>
          <a:p>
            <a:pPr algn="ctr">
              <a:lnSpc>
                <a:spcPct val="100000"/>
              </a:lnSpc>
            </a:pPr>
            <a:r>
              <a:rPr lang="en-US" sz="1400">
                <a:solidFill>
                  <a:srgbClr val="FFFFFF">
                    <a:alpha val="53333"/>
                  </a:srgbClr>
                </a:solidFill>
                <a:latin typeface="Quattrocento Sans"/>
                <a:ea typeface="Quattrocento Sans"/>
                <a:cs typeface="Quattrocento Sans"/>
              </a:rPr>
              <a:t>INNOVATION 3</a:t>
            </a:r>
            <a:endParaRPr/>
          </a:p>
        </p:txBody>
      </p:sp>
      <p:sp>
        <p:nvSpPr>
          <p:cNvPr id="669" name="Text 16"/>
          <p:cNvSpPr/>
          <p:nvPr/>
        </p:nvSpPr>
        <p:spPr>
          <a:xfrm>
            <a:off x="11303000" y="2057400"/>
            <a:ext cx="4241800" cy="2159000"/>
          </a:xfrm>
          <a:prstGeom prst="rect">
            <a:avLst/>
          </a:prstGeom>
          <a:noFill/>
          <a:ln/>
        </p:spPr>
        <p:txBody>
          <a:bodyPr wrap="square" lIns="0" tIns="0" rIns="0" bIns="0" rtlCol="0" anchor="ctr"/>
          <a:lstStyle/>
          <a:p>
            <a:pPr>
              <a:lnSpc>
                <a:spcPct val="160000"/>
              </a:lnSpc>
            </a:pPr>
            <a:r>
              <a:rPr lang="en-US" sz="1500" b="1" dirty="0">
                <a:solidFill>
                  <a:srgbClr val="FFFFFF"/>
                </a:solidFill>
                <a:latin typeface="Quattrocento Sans" pitchFamily="34" charset="0"/>
                <a:ea typeface="Quattrocento Sans" pitchFamily="34" charset="-122"/>
                <a:cs typeface="Quattrocento Sans" pitchFamily="34" charset="-120"/>
              </a:rPr>
              <a:t>Spark at Scale</a:t>
            </a:r>
            <a:endParaRPr lang="en-US" sz="1600" dirty="0"/>
          </a:p>
          <a:p>
            <a:pPr>
              <a:lnSpc>
                <a:spcPct val="160000"/>
              </a:lnSpc>
            </a:pPr>
            <a:r>
              <a:rPr lang="en-US" sz="1500" dirty="0">
                <a:solidFill>
                  <a:srgbClr val="FFFFFF"/>
                </a:solidFill>
                <a:latin typeface="Quattrocento Sans" pitchFamily="34" charset="0"/>
                <a:ea typeface="Quattrocento Sans" pitchFamily="34" charset="-122"/>
                <a:cs typeface="Quattrocento Sans" pitchFamily="34" charset="-120"/>
              </a:rPr>
              <a:t>Distributed parsing, extraction, cleaning, fusion, and export pipeline for Wikipedia-level unstructured + DBpedia structured data integration.</a:t>
            </a:r>
            <a:endParaRPr lang="en-US" sz="1600" dirty="0"/>
          </a:p>
        </p:txBody>
      </p:sp>
      <p:sp>
        <p:nvSpPr>
          <p:cNvPr id="670" name="Text 17"/>
          <p:cNvSpPr/>
          <p:nvPr/>
        </p:nvSpPr>
        <p:spPr>
          <a:xfrm>
            <a:off x="508000" y="4775200"/>
            <a:ext cx="5080000" cy="381000"/>
          </a:xfrm>
          <a:prstGeom prst="rect">
            <a:avLst/>
          </a:prstGeom>
          <a:noFill/>
          <a:ln/>
        </p:spPr>
        <p:txBody>
          <a:bodyPr wrap="none" lIns="0" tIns="0" rIns="0" bIns="0" rtlCol="0" anchor="ctr"/>
          <a:lstStyle/>
          <a:p>
            <a:pPr>
              <a:lnSpc>
                <a:spcPct val="100000"/>
              </a:lnSpc>
            </a:pPr>
            <a:r>
              <a:rPr lang="en-US" sz="1800" b="1" dirty="0">
                <a:solidFill>
                  <a:srgbClr val="1A4A7A"/>
                </a:solidFill>
                <a:latin typeface="Quattrocento Sans" pitchFamily="34" charset="0"/>
                <a:ea typeface="Quattrocento Sans" pitchFamily="34" charset="-122"/>
                <a:cs typeface="Quattrocento Sans" pitchFamily="34" charset="-120"/>
              </a:rPr>
              <a:t>Technical Impact</a:t>
            </a:r>
            <a:endParaRPr lang="en-US" sz="1600" dirty="0"/>
          </a:p>
        </p:txBody>
      </p:sp>
      <p:sp>
        <p:nvSpPr>
          <p:cNvPr id="671" name="Shape 18"/>
          <p:cNvSpPr/>
          <p:nvPr/>
        </p:nvSpPr>
        <p:spPr>
          <a:xfrm>
            <a:off x="508000" y="5207000"/>
            <a:ext cx="15240000" cy="12700"/>
          </a:xfrm>
          <a:prstGeom prst="rect">
            <a:avLst/>
          </a:prstGeom>
          <a:solidFill>
            <a:srgbClr val="E0E0E0"/>
          </a:solidFill>
          <a:ln/>
        </p:spPr>
        <p:txBody>
          <a:bodyPr/>
          <a:lstStyle/>
          <a:p>
            <a:endParaRPr/>
          </a:p>
        </p:txBody>
      </p:sp>
      <p:sp>
        <p:nvSpPr>
          <p:cNvPr id="672" name="Shape 19"/>
          <p:cNvSpPr/>
          <p:nvPr/>
        </p:nvSpPr>
        <p:spPr>
          <a:xfrm>
            <a:off x="508000" y="5435600"/>
            <a:ext cx="4699000" cy="1270000"/>
          </a:xfrm>
          <a:prstGeom prst="roundRect">
            <a:avLst>
              <a:gd name="adj" fmla="val 4000"/>
            </a:avLst>
          </a:prstGeom>
          <a:solidFill>
            <a:srgbClr val="F5F5F5"/>
          </a:solidFill>
          <a:ln/>
        </p:spPr>
        <p:txBody>
          <a:bodyPr/>
          <a:lstStyle/>
          <a:p>
            <a:endParaRPr/>
          </a:p>
        </p:txBody>
      </p:sp>
      <p:sp>
        <p:nvSpPr>
          <p:cNvPr id="673" name="Text 20"/>
          <p:cNvSpPr/>
          <p:nvPr/>
        </p:nvSpPr>
        <p:spPr>
          <a:xfrm>
            <a:off x="711200" y="5562600"/>
            <a:ext cx="4292600" cy="1016000"/>
          </a:xfrm>
          <a:prstGeom prst="rect">
            <a:avLst/>
          </a:prstGeom>
          <a:noFill/>
          <a:ln/>
        </p:spPr>
        <p:txBody>
          <a:bodyPr wrap="square" lIns="0" tIns="0" rIns="0" bIns="0" rtlCol="0" anchor="ctr"/>
          <a:lstStyle/>
          <a:p>
            <a:pPr>
              <a:lnSpc>
                <a:spcPct val="150000"/>
              </a:lnSpc>
            </a:pPr>
            <a:r>
              <a:rPr lang="en-US" sz="1500" b="1" dirty="0">
                <a:solidFill>
                  <a:srgbClr val="2C2C2C"/>
                </a:solidFill>
                <a:latin typeface="Quattrocento Sans" pitchFamily="34" charset="0"/>
                <a:ea typeface="Quattrocento Sans" pitchFamily="34" charset="-122"/>
                <a:cs typeface="Quattrocento Sans" pitchFamily="34" charset="-120"/>
              </a:rPr>
              <a:t>Scalable KG Construction</a:t>
            </a:r>
            <a:endParaRPr lang="en-US" sz="1600" dirty="0"/>
          </a:p>
          <a:p>
            <a:pPr>
              <a:lnSpc>
                <a:spcPct val="150000"/>
              </a:lnSpc>
            </a:pPr>
            <a:r>
              <a:rPr lang="en-US" sz="1400" dirty="0">
                <a:solidFill>
                  <a:srgbClr val="888888"/>
                </a:solidFill>
                <a:latin typeface="Quattrocento Sans" pitchFamily="34" charset="0"/>
                <a:ea typeface="Quattrocento Sans" pitchFamily="34" charset="-122"/>
                <a:cs typeface="Quattrocento Sans" pitchFamily="34" charset="-120"/>
              </a:rPr>
              <a:t>153K nodes and 115K edges from 50K Wikipedia articles using Spark</a:t>
            </a:r>
            <a:endParaRPr lang="en-US" sz="1600" dirty="0"/>
          </a:p>
        </p:txBody>
      </p:sp>
      <p:sp>
        <p:nvSpPr>
          <p:cNvPr id="674" name="Shape 21"/>
          <p:cNvSpPr/>
          <p:nvPr/>
        </p:nvSpPr>
        <p:spPr>
          <a:xfrm>
            <a:off x="5778500" y="5435600"/>
            <a:ext cx="4699000" cy="1270000"/>
          </a:xfrm>
          <a:prstGeom prst="roundRect">
            <a:avLst>
              <a:gd name="adj" fmla="val 4000"/>
            </a:avLst>
          </a:prstGeom>
          <a:solidFill>
            <a:srgbClr val="F5F5F5"/>
          </a:solidFill>
          <a:ln/>
        </p:spPr>
        <p:txBody>
          <a:bodyPr/>
          <a:lstStyle/>
          <a:p>
            <a:endParaRPr/>
          </a:p>
        </p:txBody>
      </p:sp>
      <p:sp>
        <p:nvSpPr>
          <p:cNvPr id="675" name="Text 22"/>
          <p:cNvSpPr/>
          <p:nvPr/>
        </p:nvSpPr>
        <p:spPr>
          <a:xfrm>
            <a:off x="5981700" y="5562600"/>
            <a:ext cx="4292600" cy="1016000"/>
          </a:xfrm>
          <a:prstGeom prst="rect">
            <a:avLst/>
          </a:prstGeom>
          <a:noFill/>
          <a:ln/>
        </p:spPr>
        <p:txBody>
          <a:bodyPr wrap="square" lIns="0" tIns="0" rIns="0" bIns="0" rtlCol="0" anchor="ctr"/>
          <a:lstStyle/>
          <a:p>
            <a:pPr>
              <a:lnSpc>
                <a:spcPct val="150000"/>
              </a:lnSpc>
            </a:pPr>
            <a:r>
              <a:rPr lang="en-US" sz="1500" b="1" dirty="0">
                <a:solidFill>
                  <a:srgbClr val="2C2C2C"/>
                </a:solidFill>
                <a:latin typeface="Quattrocento Sans" pitchFamily="34" charset="0"/>
                <a:ea typeface="Quattrocento Sans" pitchFamily="34" charset="-122"/>
                <a:cs typeface="Quattrocento Sans" pitchFamily="34" charset="-120"/>
              </a:rPr>
              <a:t>Graph-Guided Retrieval</a:t>
            </a:r>
            <a:endParaRPr lang="en-US" sz="1600" dirty="0"/>
          </a:p>
          <a:p>
            <a:pPr>
              <a:lnSpc>
                <a:spcPct val="150000"/>
              </a:lnSpc>
            </a:pPr>
            <a:r>
              <a:rPr lang="en-US" sz="1400" dirty="0">
                <a:solidFill>
                  <a:srgbClr val="888888"/>
                </a:solidFill>
                <a:latin typeface="Quattrocento Sans" pitchFamily="34" charset="0"/>
                <a:ea typeface="Quattrocento Sans" pitchFamily="34" charset="-122"/>
                <a:cs typeface="Quattrocento Sans" pitchFamily="34" charset="-120"/>
              </a:rPr>
              <a:t>Graph produces retrieval paths; evidence chunks are primary context</a:t>
            </a:r>
            <a:endParaRPr lang="en-US" sz="1600" dirty="0"/>
          </a:p>
        </p:txBody>
      </p:sp>
      <p:sp>
        <p:nvSpPr>
          <p:cNvPr id="676" name="Shape 23"/>
          <p:cNvSpPr/>
          <p:nvPr/>
        </p:nvSpPr>
        <p:spPr>
          <a:xfrm>
            <a:off x="11049000" y="5435600"/>
            <a:ext cx="4699000" cy="1270000"/>
          </a:xfrm>
          <a:prstGeom prst="roundRect">
            <a:avLst>
              <a:gd name="adj" fmla="val 4000"/>
            </a:avLst>
          </a:prstGeom>
          <a:solidFill>
            <a:srgbClr val="F5F5F5"/>
          </a:solidFill>
          <a:ln/>
        </p:spPr>
        <p:txBody>
          <a:bodyPr/>
          <a:lstStyle/>
          <a:p>
            <a:endParaRPr/>
          </a:p>
        </p:txBody>
      </p:sp>
      <p:sp>
        <p:nvSpPr>
          <p:cNvPr id="677" name="Text 24"/>
          <p:cNvSpPr/>
          <p:nvPr/>
        </p:nvSpPr>
        <p:spPr>
          <a:xfrm>
            <a:off x="11252200" y="5562600"/>
            <a:ext cx="4292600" cy="1016000"/>
          </a:xfrm>
          <a:prstGeom prst="rect">
            <a:avLst/>
          </a:prstGeom>
          <a:noFill/>
          <a:ln/>
        </p:spPr>
        <p:txBody>
          <a:bodyPr wrap="square" lIns="0" tIns="0" rIns="0" bIns="0" rtlCol="0" anchor="ctr"/>
          <a:lstStyle/>
          <a:p>
            <a:pPr>
              <a:lnSpc>
                <a:spcPct val="150000"/>
              </a:lnSpc>
            </a:pPr>
            <a:r>
              <a:rPr lang="en-US" sz="1500" b="1" dirty="0">
                <a:solidFill>
                  <a:srgbClr val="2C2C2C"/>
                </a:solidFill>
                <a:latin typeface="Quattrocento Sans" pitchFamily="34" charset="0"/>
                <a:ea typeface="Quattrocento Sans" pitchFamily="34" charset="-122"/>
                <a:cs typeface="Quattrocento Sans" pitchFamily="34" charset="-120"/>
              </a:rPr>
              <a:t>Reproducible Benchmark</a:t>
            </a:r>
            <a:endParaRPr lang="en-US" sz="1600" dirty="0"/>
          </a:p>
          <a:p>
            <a:pPr>
              <a:lnSpc>
                <a:spcPct val="150000"/>
              </a:lnSpc>
            </a:pPr>
            <a:r>
              <a:rPr lang="en-US" sz="1400" dirty="0">
                <a:solidFill>
                  <a:srgbClr val="888888"/>
                </a:solidFill>
                <a:latin typeface="Quattrocento Sans" pitchFamily="34" charset="0"/>
                <a:ea typeface="Quattrocento Sans" pitchFamily="34" charset="-122"/>
                <a:cs typeface="Quattrocento Sans" pitchFamily="34" charset="-120"/>
              </a:rPr>
              <a:t>HotpotQA-based local evaluation set for controlled ablation study</a:t>
            </a:r>
            <a:endParaRPr lang="en-US" sz="1600" dirty="0"/>
          </a:p>
        </p:txBody>
      </p:sp>
      <p:sp>
        <p:nvSpPr>
          <p:cNvPr id="678" name="Text 25"/>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8</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6F9FC"/>
        </a:solidFill>
        <a:effectLst/>
      </p:bgPr>
    </p:bg>
    <p:spTree>
      <p:nvGrpSpPr>
        <p:cNvPr id="1" name=""/>
        <p:cNvGrpSpPr/>
        <p:nvPr/>
      </p:nvGrpSpPr>
      <p:grpSpPr>
        <a:xfrm>
          <a:off x="0" y="0"/>
          <a:ext cx="0" cy="0"/>
          <a:chOff x="0" y="0"/>
          <a:chExt cx="0" cy="0"/>
        </a:xfrm>
      </p:grpSpPr>
      <p:sp>
        <p:nvSpPr>
          <p:cNvPr id="680" name="Shape 0"/>
          <p:cNvSpPr/>
          <p:nvPr/>
        </p:nvSpPr>
        <p:spPr>
          <a:xfrm>
            <a:off x="0" y="0"/>
            <a:ext cx="76200" cy="9144000"/>
          </a:xfrm>
          <a:prstGeom prst="rect">
            <a:avLst/>
          </a:prstGeom>
          <a:solidFill>
            <a:srgbClr val="1A4A7A"/>
          </a:solidFill>
          <a:ln/>
        </p:spPr>
        <p:txBody>
          <a:bodyPr/>
          <a:lstStyle/>
          <a:p>
            <a:endParaRPr/>
          </a:p>
        </p:txBody>
      </p:sp>
      <p:sp>
        <p:nvSpPr>
          <p:cNvPr id="681" name="Shape 1"/>
          <p:cNvSpPr/>
          <p:nvPr/>
        </p:nvSpPr>
        <p:spPr>
          <a:xfrm>
            <a:off x="6096000" y="1778000"/>
            <a:ext cx="12700" cy="5588000"/>
          </a:xfrm>
          <a:prstGeom prst="rect">
            <a:avLst/>
          </a:prstGeom>
          <a:solidFill>
            <a:srgbClr val="E0E0E0"/>
          </a:solidFill>
          <a:ln/>
        </p:spPr>
        <p:txBody>
          <a:bodyPr/>
          <a:lstStyle/>
          <a:p>
            <a:endParaRPr/>
          </a:p>
        </p:txBody>
      </p:sp>
      <p:sp>
        <p:nvSpPr>
          <p:cNvPr id="682" name="Text 2"/>
          <p:cNvSpPr/>
          <p:nvPr/>
        </p:nvSpPr>
        <p:spPr>
          <a:xfrm>
            <a:off x="762000" y="2540000"/>
            <a:ext cx="4826000" cy="2540000"/>
          </a:xfrm>
          <a:prstGeom prst="rect">
            <a:avLst/>
          </a:prstGeom>
          <a:noFill/>
          <a:ln/>
        </p:spPr>
        <p:txBody>
          <a:bodyPr wrap="none" lIns="0" tIns="0" rIns="0" bIns="0" rtlCol="0" anchor="ctr"/>
          <a:lstStyle/>
          <a:p>
            <a:pPr algn="ctr">
              <a:lnSpc>
                <a:spcPct val="100000"/>
              </a:lnSpc>
            </a:pPr>
            <a:r>
              <a:rPr lang="en-US" sz="12000" dirty="0">
                <a:solidFill>
                  <a:srgbClr val="5B9BD5"/>
                </a:solidFill>
                <a:latin typeface="Quattrocento Sans" pitchFamily="34" charset="0"/>
                <a:ea typeface="Quattrocento Sans" pitchFamily="34" charset="-122"/>
                <a:cs typeface="Quattrocento Sans" pitchFamily="34" charset="-120"/>
              </a:rPr>
              <a:t>02</a:t>
            </a:r>
            <a:endParaRPr lang="en-US" sz="1600" dirty="0"/>
          </a:p>
        </p:txBody>
      </p:sp>
      <p:sp>
        <p:nvSpPr>
          <p:cNvPr id="683" name="Text 3"/>
          <p:cNvSpPr/>
          <p:nvPr/>
        </p:nvSpPr>
        <p:spPr>
          <a:xfrm>
            <a:off x="762000" y="5080000"/>
            <a:ext cx="4826000" cy="355600"/>
          </a:xfrm>
          <a:prstGeom prst="rect">
            <a:avLst/>
          </a:prstGeom>
          <a:noFill/>
          <a:ln/>
        </p:spPr>
        <p:txBody>
          <a:bodyPr wrap="none" lIns="0" tIns="0" rIns="0" bIns="0" rtlCol="0" anchor="ctr"/>
          <a:lstStyle/>
          <a:p>
            <a:pPr algn="ctr">
              <a:lnSpc>
                <a:spcPct val="100000"/>
              </a:lnSpc>
            </a:pPr>
            <a:r>
              <a:rPr lang="en-US" sz="1600" kern="0" spc="400" dirty="0">
                <a:solidFill>
                  <a:srgbClr val="5B9BD5"/>
                </a:solidFill>
                <a:latin typeface="Quattrocento Sans" pitchFamily="34" charset="0"/>
                <a:ea typeface="Quattrocento Sans" pitchFamily="34" charset="-122"/>
                <a:cs typeface="Quattrocento Sans" pitchFamily="34" charset="-120"/>
              </a:rPr>
              <a:t>CHAPTER TWO</a:t>
            </a:r>
            <a:endParaRPr lang="en-US" sz="1600" dirty="0"/>
          </a:p>
        </p:txBody>
      </p:sp>
      <p:sp>
        <p:nvSpPr>
          <p:cNvPr id="684" name="Text 4"/>
          <p:cNvSpPr/>
          <p:nvPr/>
        </p:nvSpPr>
        <p:spPr>
          <a:xfrm>
            <a:off x="6604000" y="3454400"/>
            <a:ext cx="8890000" cy="711200"/>
          </a:xfrm>
          <a:prstGeom prst="rect">
            <a:avLst/>
          </a:prstGeom>
          <a:noFill/>
          <a:ln/>
        </p:spPr>
        <p:txBody>
          <a:bodyPr wrap="none" lIns="0" tIns="0" rIns="0" bIns="0" rtlCol="0" anchor="ctr"/>
          <a:lstStyle/>
          <a:p>
            <a:pPr>
              <a:lnSpc>
                <a:spcPct val="100000"/>
              </a:lnSpc>
            </a:pPr>
            <a:r>
              <a:rPr lang="en-US" sz="3600" b="1">
                <a:solidFill>
                  <a:srgbClr val="1A4A7A">
                    <a:alpha val="100000"/>
                  </a:srgbClr>
                </a:solidFill>
                <a:latin typeface="Quattrocento Sans"/>
                <a:ea typeface="Quattrocento Sans"/>
                <a:cs typeface="Quattrocento Sans"/>
              </a:rPr>
              <a:t>Data Processing &amp; Knowledge Graph Construction</a:t>
            </a:r>
            <a:endParaRPr/>
          </a:p>
        </p:txBody>
      </p:sp>
      <p:sp>
        <p:nvSpPr>
          <p:cNvPr id="685" name="Text 5"/>
          <p:cNvSpPr/>
          <p:nvPr/>
        </p:nvSpPr>
        <p:spPr>
          <a:xfrm>
            <a:off x="6604000" y="5080000"/>
            <a:ext cx="8890000" cy="355600"/>
          </a:xfrm>
          <a:prstGeom prst="rect">
            <a:avLst/>
          </a:prstGeom>
          <a:noFill/>
          <a:ln/>
        </p:spPr>
        <p:txBody>
          <a:bodyPr wrap="none" lIns="0" tIns="0" rIns="0" bIns="0" rtlCol="0" anchor="ctr"/>
          <a:lstStyle/>
          <a:p>
            <a:pPr>
              <a:lnSpc>
                <a:spcPct val="100000"/>
              </a:lnSpc>
            </a:pPr>
            <a:r>
              <a:rPr lang="en-US" sz="1800" dirty="0">
                <a:solidFill>
                  <a:srgbClr val="AAAAAA"/>
                </a:solidFill>
                <a:latin typeface="Quattrocento Sans" pitchFamily="34" charset="0"/>
                <a:ea typeface="Quattrocento Sans" pitchFamily="34" charset="-122"/>
                <a:cs typeface="Quattrocento Sans" pitchFamily="34" charset="-120"/>
              </a:rPr>
              <a:t>From Wikipedia + DBpedia to a unified, structured knowledge graph</a:t>
            </a:r>
            <a:endParaRPr lang="en-US" sz="1600" dirty="0"/>
          </a:p>
        </p:txBody>
      </p:sp>
      <p:sp>
        <p:nvSpPr>
          <p:cNvPr id="686" name="Text 10"/>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9</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6F9FC"/>
        </a:solidFill>
        <a:effectLst/>
      </p:bgPr>
    </p:bg>
    <p:spTree>
      <p:nvGrpSpPr>
        <p:cNvPr id="1" name=""/>
        <p:cNvGrpSpPr/>
        <p:nvPr/>
      </p:nvGrpSpPr>
      <p:grpSpPr>
        <a:xfrm>
          <a:off x="0" y="0"/>
          <a:ext cx="0" cy="0"/>
          <a:chOff x="0" y="0"/>
          <a:chExt cx="0" cy="0"/>
        </a:xfrm>
      </p:grpSpPr>
      <p:sp>
        <p:nvSpPr>
          <p:cNvPr id="2" name="Shape 0"/>
          <p:cNvSpPr/>
          <p:nvPr/>
        </p:nvSpPr>
        <p:spPr>
          <a:xfrm>
            <a:off x="0" y="0"/>
            <a:ext cx="76200" cy="9144000"/>
          </a:xfrm>
          <a:prstGeom prst="rect">
            <a:avLst/>
          </a:prstGeom>
          <a:solidFill>
            <a:srgbClr val="1A4A7A"/>
          </a:solidFill>
          <a:ln/>
        </p:spPr>
        <p:txBody>
          <a:bodyPr/>
          <a:lstStyle/>
          <a:p>
            <a:endParaRPr/>
          </a:p>
        </p:txBody>
      </p:sp>
      <p:sp>
        <p:nvSpPr>
          <p:cNvPr id="3" name="Shape 1"/>
          <p:cNvSpPr/>
          <p:nvPr/>
        </p:nvSpPr>
        <p:spPr>
          <a:xfrm>
            <a:off x="0" y="0"/>
            <a:ext cx="16256000" cy="38100"/>
          </a:xfrm>
          <a:prstGeom prst="rect">
            <a:avLst/>
          </a:prstGeom>
          <a:solidFill>
            <a:srgbClr val="1A4A7A"/>
          </a:solidFill>
          <a:ln/>
        </p:spPr>
        <p:txBody>
          <a:bodyPr/>
          <a:lstStyle/>
          <a:p>
            <a:endParaRPr/>
          </a:p>
        </p:txBody>
      </p:sp>
      <p:sp>
        <p:nvSpPr>
          <p:cNvPr id="4"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a:solidFill>
                  <a:srgbClr val="5B9BD5">
                    <a:alpha val="100000"/>
                  </a:srgbClr>
                </a:solidFill>
                <a:latin typeface="Quattrocento Sans"/>
                <a:ea typeface="Quattrocento Sans"/>
                <a:cs typeface="Quattrocento Sans"/>
              </a:rPr>
              <a:t>02 Data Processing &amp; Knowledge Graph Construction</a:t>
            </a:r>
            <a:endParaRPr/>
          </a:p>
        </p:txBody>
      </p:sp>
      <p:sp>
        <p:nvSpPr>
          <p:cNvPr id="5"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a:solidFill>
                  <a:srgbClr val="1A4A7A">
                    <a:alpha val="100000"/>
                  </a:srgbClr>
                </a:solidFill>
                <a:latin typeface="Quattrocento Sans"/>
                <a:ea typeface="Quattrocento Sans"/>
                <a:cs typeface="Quattrocento Sans"/>
              </a:rPr>
              <a:t>Dataset Input</a:t>
            </a:r>
            <a:endParaRPr/>
          </a:p>
        </p:txBody>
      </p:sp>
      <p:sp>
        <p:nvSpPr>
          <p:cNvPr id="6" name="Shape 4"/>
          <p:cNvSpPr/>
          <p:nvPr/>
        </p:nvSpPr>
        <p:spPr>
          <a:xfrm>
            <a:off x="508000" y="863600"/>
            <a:ext cx="15240000" cy="12700"/>
          </a:xfrm>
          <a:prstGeom prst="rect">
            <a:avLst/>
          </a:prstGeom>
          <a:solidFill>
            <a:srgbClr val="E0E0E0"/>
          </a:solidFill>
          <a:ln/>
        </p:spPr>
        <p:txBody>
          <a:bodyPr/>
          <a:lstStyle/>
          <a:p>
            <a:endParaRPr/>
          </a:p>
        </p:txBody>
      </p:sp>
      <p:sp>
        <p:nvSpPr>
          <p:cNvPr id="7" name="Shape 5"/>
          <p:cNvSpPr/>
          <p:nvPr/>
        </p:nvSpPr>
        <p:spPr>
          <a:xfrm>
            <a:off x="508000" y="1117600"/>
            <a:ext cx="7302500" cy="533400"/>
          </a:xfrm>
          <a:prstGeom prst="roundRect">
            <a:avLst>
              <a:gd name="adj" fmla="val 4000"/>
            </a:avLst>
          </a:prstGeom>
          <a:solidFill>
            <a:srgbClr val="1A4A7A"/>
          </a:solidFill>
          <a:ln/>
        </p:spPr>
        <p:txBody>
          <a:bodyPr/>
          <a:lstStyle/>
          <a:p>
            <a:endParaRPr/>
          </a:p>
        </p:txBody>
      </p:sp>
      <p:sp>
        <p:nvSpPr>
          <p:cNvPr id="8" name="Text 6"/>
          <p:cNvSpPr/>
          <p:nvPr/>
        </p:nvSpPr>
        <p:spPr>
          <a:xfrm>
            <a:off x="508000" y="1117600"/>
            <a:ext cx="7302500" cy="5334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Wikipedia Unstructured Corpus</a:t>
            </a:r>
            <a:endParaRPr lang="en-US" sz="1600" dirty="0"/>
          </a:p>
        </p:txBody>
      </p:sp>
      <p:sp>
        <p:nvSpPr>
          <p:cNvPr id="9" name="Shape 7"/>
          <p:cNvSpPr/>
          <p:nvPr/>
        </p:nvSpPr>
        <p:spPr>
          <a:xfrm>
            <a:off x="508000" y="1651000"/>
            <a:ext cx="7302500" cy="7289800"/>
          </a:xfrm>
          <a:prstGeom prst="roundRect">
            <a:avLst>
              <a:gd name="adj" fmla="val 4000"/>
            </a:avLst>
          </a:prstGeom>
          <a:solidFill>
            <a:srgbClr val="F5F5F5"/>
          </a:solidFill>
          <a:ln/>
        </p:spPr>
        <p:txBody>
          <a:bodyPr/>
          <a:lstStyle/>
          <a:p>
            <a:endParaRPr/>
          </a:p>
        </p:txBody>
      </p:sp>
      <p:sp>
        <p:nvSpPr>
          <p:cNvPr id="10" name="Text 8"/>
          <p:cNvSpPr/>
          <p:nvPr/>
        </p:nvSpPr>
        <p:spPr>
          <a:xfrm>
            <a:off x="762000" y="1905000"/>
            <a:ext cx="6794500" cy="6731000"/>
          </a:xfrm>
          <a:prstGeom prst="rect">
            <a:avLst/>
          </a:prstGeom>
          <a:noFill/>
          <a:ln/>
        </p:spPr>
        <p:txBody>
          <a:bodyPr wrap="square" lIns="0" tIns="0" rIns="0" bIns="0" rtlCol="0" anchor="ctr"/>
          <a:lstStyle/>
          <a:p>
            <a:pPr>
              <a:lnSpc>
                <a:spcPct val="170000"/>
              </a:lnSpc>
            </a:pPr>
            <a:r>
              <a:rPr lang="en-US" sz="1800">
                <a:solidFill>
                  <a:srgbClr val="2C2C2C">
                    <a:alpha val="100000"/>
                  </a:srgbClr>
                </a:solidFill>
                <a:latin typeface="Quattrocento Sans"/>
                <a:ea typeface="Quattrocento Sans"/>
                <a:cs typeface="Quattrocento Sans"/>
              </a:rPr>
              <a:t>This dataset is derived from a large-scale subset of the English Wikipedia and contains approximately 6.8 million pages of unstructured plain text from article bodies. In our project, it serves as the core knowledge base underpinning the system. We will leverage the distributed parallel processing capabilities of the Spark framework to parse the data, combining custom rules and algorithms to dynamically mine and extract entities as well as hidden complex relationships from this vast corpus of natural language text.</a:t>
            </a:r>
            <a:endParaRPr/>
          </a:p>
          <a:p>
            <a:pPr>
              <a:lnSpc>
                <a:spcPct val="170000"/>
              </a:lnSpc>
            </a:pPr>
            <a:endParaRPr lang="en-US" sz="1800">
              <a:solidFill>
                <a:srgbClr val="2C2C2C">
                  <a:alpha val="100000"/>
                </a:srgbClr>
              </a:solidFill>
              <a:latin typeface="Quattrocento Sans"/>
              <a:ea typeface="Quattrocento Sans"/>
              <a:cs typeface="Quattrocento Sans"/>
            </a:endParaRPr>
          </a:p>
          <a:p>
            <a:pPr>
              <a:lnSpc>
                <a:spcPct val="170000"/>
              </a:lnSpc>
            </a:pPr>
            <a:r>
              <a:rPr lang="en-US" sz="1800">
                <a:solidFill>
                  <a:srgbClr val="2C2C2C">
                    <a:alpha val="100000"/>
                  </a:srgbClr>
                </a:solidFill>
                <a:latin typeface="Quattrocento Sans"/>
                <a:ea typeface="Quattrocento Sans"/>
                <a:cs typeface="Quattrocento Sans"/>
              </a:rPr>
              <a:t>• Multistream format with index</a:t>
            </a:r>
            <a:endParaRPr lang="en-US" sz="1600"/>
          </a:p>
          <a:p>
            <a:pPr>
              <a:lnSpc>
                <a:spcPct val="170000"/>
              </a:lnSpc>
            </a:pPr>
            <a:r>
              <a:rPr lang="en-US" sz="1800">
                <a:solidFill>
                  <a:srgbClr val="2C2C2C">
                    <a:alpha val="100000"/>
                  </a:srgbClr>
                </a:solidFill>
                <a:latin typeface="Quattrocento Sans"/>
                <a:ea typeface="Quattrocento Sans"/>
                <a:cs typeface="Quattrocento Sans"/>
              </a:rPr>
              <a:t>• 50K articles for experiments</a:t>
            </a:r>
            <a:endParaRPr lang="en-US" sz="1600"/>
          </a:p>
          <a:p>
            <a:pPr>
              <a:lnSpc>
                <a:spcPct val="170000"/>
              </a:lnSpc>
            </a:pPr>
            <a:r>
              <a:rPr lang="en-US" sz="1800">
                <a:solidFill>
                  <a:srgbClr val="2C2C2C">
                    <a:alpha val="100000"/>
                  </a:srgbClr>
                </a:solidFill>
                <a:latin typeface="Quattrocento Sans"/>
                <a:ea typeface="Quattrocento Sans"/>
                <a:cs typeface="Quattrocento Sans"/>
              </a:rPr>
              <a:t>• Distributed parsing via Spark mapPartitions</a:t>
            </a:r>
            <a:endParaRPr lang="en-US" sz="1600"/>
          </a:p>
          <a:p>
            <a:pPr>
              <a:lnSpc>
                <a:spcPct val="170000"/>
              </a:lnSpc>
            </a:pPr>
            <a:r>
              <a:rPr lang="en-US" sz="1800">
                <a:solidFill>
                  <a:srgbClr val="2C2C2C">
                    <a:alpha val="100000"/>
                  </a:srgbClr>
                </a:solidFill>
                <a:latin typeface="Quattrocento Sans"/>
                <a:ea typeface="Quattrocento Sans"/>
                <a:cs typeface="Quattrocento Sans"/>
              </a:rPr>
              <a:t>• Rich textual content with hidden relations</a:t>
            </a:r>
            <a:endParaRPr lang="en-US" sz="1600"/>
          </a:p>
          <a:p>
            <a:pPr>
              <a:lnSpc>
                <a:spcPct val="170000"/>
              </a:lnSpc>
            </a:pPr>
            <a:endParaRPr lang="en-US" sz="1800">
              <a:solidFill>
                <a:srgbClr val="2C2C2C">
                  <a:alpha val="100000"/>
                </a:srgbClr>
              </a:solidFill>
              <a:latin typeface="Quattrocento Sans"/>
              <a:ea typeface="Quattrocento Sans"/>
              <a:cs typeface="Quattrocento Sans"/>
            </a:endParaRPr>
          </a:p>
        </p:txBody>
      </p:sp>
      <p:sp>
        <p:nvSpPr>
          <p:cNvPr id="11" name="Shape 9"/>
          <p:cNvSpPr/>
          <p:nvPr/>
        </p:nvSpPr>
        <p:spPr>
          <a:xfrm>
            <a:off x="8445500" y="1117600"/>
            <a:ext cx="7302500" cy="533400"/>
          </a:xfrm>
          <a:prstGeom prst="roundRect">
            <a:avLst>
              <a:gd name="adj" fmla="val 4000"/>
            </a:avLst>
          </a:prstGeom>
          <a:solidFill>
            <a:srgbClr val="2E86C1"/>
          </a:solidFill>
          <a:ln/>
        </p:spPr>
        <p:txBody>
          <a:bodyPr/>
          <a:lstStyle/>
          <a:p>
            <a:endParaRPr/>
          </a:p>
        </p:txBody>
      </p:sp>
      <p:sp>
        <p:nvSpPr>
          <p:cNvPr id="12" name="Text 10"/>
          <p:cNvSpPr/>
          <p:nvPr/>
        </p:nvSpPr>
        <p:spPr>
          <a:xfrm>
            <a:off x="8445500" y="1117600"/>
            <a:ext cx="7302500" cy="5334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DBpedia Structured Graph Seed</a:t>
            </a:r>
            <a:endParaRPr lang="en-US" sz="1600" dirty="0"/>
          </a:p>
        </p:txBody>
      </p:sp>
      <p:sp>
        <p:nvSpPr>
          <p:cNvPr id="13" name="Shape 11"/>
          <p:cNvSpPr/>
          <p:nvPr/>
        </p:nvSpPr>
        <p:spPr>
          <a:xfrm>
            <a:off x="8445500" y="1651000"/>
            <a:ext cx="7302500" cy="7289800"/>
          </a:xfrm>
          <a:prstGeom prst="roundRect">
            <a:avLst>
              <a:gd name="adj" fmla="val 4000"/>
            </a:avLst>
          </a:prstGeom>
          <a:solidFill>
            <a:srgbClr val="F5F5F5"/>
          </a:solidFill>
          <a:ln/>
        </p:spPr>
        <p:txBody>
          <a:bodyPr/>
          <a:lstStyle/>
          <a:p>
            <a:endParaRPr/>
          </a:p>
        </p:txBody>
      </p:sp>
      <p:sp>
        <p:nvSpPr>
          <p:cNvPr id="14" name="Text 12"/>
          <p:cNvSpPr/>
          <p:nvPr/>
        </p:nvSpPr>
        <p:spPr>
          <a:xfrm>
            <a:off x="8699500" y="1701800"/>
            <a:ext cx="6794500" cy="6622249"/>
          </a:xfrm>
          <a:prstGeom prst="rect">
            <a:avLst/>
          </a:prstGeom>
          <a:noFill/>
          <a:ln/>
        </p:spPr>
        <p:txBody>
          <a:bodyPr wrap="square" lIns="0" tIns="0" rIns="0" bIns="0" rtlCol="0" anchor="ctr"/>
          <a:lstStyle/>
          <a:p>
            <a:pPr>
              <a:lnSpc>
                <a:spcPct val="170000"/>
              </a:lnSpc>
            </a:pPr>
            <a:r>
              <a:rPr lang="en-US" sz="1800">
                <a:solidFill>
                  <a:srgbClr val="2C2C2C">
                    <a:alpha val="100000"/>
                  </a:srgbClr>
                </a:solidFill>
                <a:latin typeface="Quattrocento Sans"/>
                <a:ea typeface="Quattrocento Sans"/>
                <a:cs typeface="Quattrocento Sans"/>
              </a:rPr>
              <a:t>This dataset consists of high-quality structured triples extracted by the DBpedia community from Wikipedia infoboxes. In this project, we directly import this high-confidence, ready-to-use linked data into the system to serve as seed data for initializing the graph. This not only effectively addresses the cold-start problem in graph construction and significantly accelerates the overall construction process, but also lays the foundation for subsequent graph algorithm operations and multi-hop hybrid retrieval.</a:t>
            </a:r>
            <a:endParaRPr/>
          </a:p>
          <a:p>
            <a:pPr>
              <a:lnSpc>
                <a:spcPct val="170000"/>
              </a:lnSpc>
            </a:pPr>
            <a:endParaRPr lang="en-US" sz="1800">
              <a:solidFill>
                <a:srgbClr val="2C2C2C">
                  <a:alpha val="100000"/>
                </a:srgbClr>
              </a:solidFill>
              <a:latin typeface="Quattrocento Sans"/>
              <a:ea typeface="Quattrocento Sans"/>
              <a:cs typeface="Quattrocento Sans"/>
            </a:endParaRPr>
          </a:p>
          <a:p>
            <a:pPr>
              <a:lnSpc>
                <a:spcPct val="170000"/>
              </a:lnSpc>
            </a:pPr>
            <a:r>
              <a:rPr lang="en-US" sz="1800">
                <a:solidFill>
                  <a:srgbClr val="2C2C2C">
                    <a:alpha val="100000"/>
                  </a:srgbClr>
                </a:solidFill>
                <a:latin typeface="Quattrocento Sans"/>
                <a:ea typeface="Quattrocento Sans"/>
                <a:cs typeface="Quattrocento Sans"/>
              </a:rPr>
              <a:t>• Serves as initial graph seed</a:t>
            </a:r>
            <a:endParaRPr/>
          </a:p>
          <a:p>
            <a:pPr>
              <a:lnSpc>
                <a:spcPct val="170000"/>
              </a:lnSpc>
            </a:pPr>
            <a:r>
              <a:rPr lang="en-US" sz="1800">
                <a:solidFill>
                  <a:srgbClr val="2C2C2C">
                    <a:alpha val="100000"/>
                  </a:srgbClr>
                </a:solidFill>
                <a:latin typeface="Quattrocento Sans"/>
                <a:ea typeface="Quattrocento Sans"/>
                <a:cs typeface="Quattrocento Sans"/>
              </a:rPr>
              <a:t>• Loaded into Spark DataFrame</a:t>
            </a:r>
            <a:endParaRPr lang="en-US" sz="1600"/>
          </a:p>
          <a:p>
            <a:pPr>
              <a:lnSpc>
                <a:spcPct val="170000"/>
              </a:lnSpc>
            </a:pPr>
            <a:r>
              <a:rPr lang="en-US" sz="1800">
                <a:solidFill>
                  <a:srgbClr val="2C2C2C">
                    <a:alpha val="100000"/>
                  </a:srgbClr>
                </a:solidFill>
                <a:latin typeface="Quattrocento Sans"/>
                <a:ea typeface="Quattrocento Sans"/>
                <a:cs typeface="Quattrocento Sans"/>
              </a:rPr>
              <a:t>• Reduces cold-start difficulty</a:t>
            </a:r>
            <a:endParaRPr lang="en-US" sz="1600"/>
          </a:p>
          <a:p>
            <a:pPr>
              <a:lnSpc>
                <a:spcPct val="170000"/>
              </a:lnSpc>
            </a:pPr>
            <a:r>
              <a:rPr lang="en-US" sz="1800">
                <a:solidFill>
                  <a:srgbClr val="2C2C2C">
                    <a:alpha val="100000"/>
                  </a:srgbClr>
                </a:solidFill>
                <a:latin typeface="Quattrocento Sans"/>
                <a:ea typeface="Quattrocento Sans"/>
                <a:cs typeface="Quattrocento Sans"/>
              </a:rPr>
              <a:t>• Structured S-P-O relations</a:t>
            </a:r>
            <a:endParaRPr lang="en-US" sz="1600"/>
          </a:p>
        </p:txBody>
      </p:sp>
      <p:sp>
        <p:nvSpPr>
          <p:cNvPr id="15" name="Shape 13"/>
          <p:cNvSpPr/>
          <p:nvPr/>
        </p:nvSpPr>
        <p:spPr>
          <a:xfrm>
            <a:off x="7810500" y="4978400"/>
            <a:ext cx="635000" cy="635000"/>
          </a:xfrm>
          <a:prstGeom prst="ellipse">
            <a:avLst/>
          </a:prstGeom>
          <a:solidFill>
            <a:srgbClr val="5B9BD5"/>
          </a:solidFill>
          <a:ln/>
        </p:spPr>
        <p:txBody>
          <a:bodyPr/>
          <a:lstStyle/>
          <a:p>
            <a:endParaRPr/>
          </a:p>
        </p:txBody>
      </p:sp>
      <p:sp>
        <p:nvSpPr>
          <p:cNvPr id="16" name="Text 14"/>
          <p:cNvSpPr/>
          <p:nvPr/>
        </p:nvSpPr>
        <p:spPr>
          <a:xfrm>
            <a:off x="7810500" y="4978400"/>
            <a:ext cx="635000" cy="635000"/>
          </a:xfrm>
          <a:prstGeom prst="rect">
            <a:avLst/>
          </a:prstGeom>
          <a:noFill/>
          <a:ln/>
        </p:spPr>
        <p:txBody>
          <a:bodyPr wrap="none" lIns="0" tIns="0" rIns="0" bIns="0" rtlCol="0" anchor="ctr"/>
          <a:lstStyle/>
          <a:p>
            <a:pPr algn="ctr">
              <a:lnSpc>
                <a:spcPct val="100000"/>
              </a:lnSpc>
            </a:pPr>
            <a:r>
              <a:rPr lang="en-US" sz="2400" dirty="0">
                <a:solidFill>
                  <a:srgbClr val="FFFFFF"/>
                </a:solidFill>
                <a:latin typeface="Quattrocento Sans" pitchFamily="34" charset="0"/>
                <a:ea typeface="Quattrocento Sans" pitchFamily="34" charset="-122"/>
                <a:cs typeface="Quattrocento Sans" pitchFamily="34" charset="-120"/>
              </a:rPr>
              <a:t>+</a:t>
            </a:r>
            <a:endParaRPr lang="en-US" sz="1600" dirty="0"/>
          </a:p>
        </p:txBody>
      </p:sp>
      <p:sp>
        <p:nvSpPr>
          <p:cNvPr id="17" name="Text 17"/>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10</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6F9FC"/>
        </a:solidFill>
        <a:effectLst/>
      </p:bgPr>
    </p:bg>
    <p:spTree>
      <p:nvGrpSpPr>
        <p:cNvPr id="1" name=""/>
        <p:cNvGrpSpPr/>
        <p:nvPr/>
      </p:nvGrpSpPr>
      <p:grpSpPr>
        <a:xfrm>
          <a:off x="0" y="0"/>
          <a:ext cx="0" cy="0"/>
          <a:chOff x="0" y="0"/>
          <a:chExt cx="0" cy="0"/>
        </a:xfrm>
      </p:grpSpPr>
      <p:sp>
        <p:nvSpPr>
          <p:cNvPr id="19" name="Shape 0"/>
          <p:cNvSpPr/>
          <p:nvPr/>
        </p:nvSpPr>
        <p:spPr>
          <a:xfrm>
            <a:off x="0" y="0"/>
            <a:ext cx="76200" cy="9144000"/>
          </a:xfrm>
          <a:prstGeom prst="rect">
            <a:avLst/>
          </a:prstGeom>
          <a:solidFill>
            <a:srgbClr val="1A4A7A"/>
          </a:solidFill>
          <a:ln/>
        </p:spPr>
        <p:txBody>
          <a:bodyPr/>
          <a:lstStyle/>
          <a:p>
            <a:endParaRPr/>
          </a:p>
        </p:txBody>
      </p:sp>
      <p:sp>
        <p:nvSpPr>
          <p:cNvPr id="20" name="Shape 1"/>
          <p:cNvSpPr/>
          <p:nvPr/>
        </p:nvSpPr>
        <p:spPr>
          <a:xfrm>
            <a:off x="0" y="0"/>
            <a:ext cx="16256000" cy="38100"/>
          </a:xfrm>
          <a:prstGeom prst="rect">
            <a:avLst/>
          </a:prstGeom>
          <a:solidFill>
            <a:srgbClr val="1A4A7A"/>
          </a:solidFill>
          <a:ln/>
        </p:spPr>
        <p:txBody>
          <a:bodyPr/>
          <a:lstStyle/>
          <a:p>
            <a:endParaRPr/>
          </a:p>
        </p:txBody>
      </p:sp>
      <p:sp>
        <p:nvSpPr>
          <p:cNvPr id="21"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a:solidFill>
                  <a:srgbClr val="5B9BD5">
                    <a:alpha val="100000"/>
                  </a:srgbClr>
                </a:solidFill>
                <a:latin typeface="Quattrocento Sans"/>
                <a:ea typeface="Quattrocento Sans"/>
                <a:cs typeface="Quattrocento Sans"/>
              </a:rPr>
              <a:t>02 Data Processing &amp; Knowledge Graph Construction</a:t>
            </a:r>
            <a:endParaRPr/>
          </a:p>
        </p:txBody>
      </p:sp>
      <p:sp>
        <p:nvSpPr>
          <p:cNvPr id="22"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a:solidFill>
                  <a:srgbClr val="1A4A7A">
                    <a:alpha val="100000"/>
                  </a:srgbClr>
                </a:solidFill>
                <a:latin typeface="Quattrocento Sans"/>
                <a:ea typeface="Quattrocento Sans"/>
                <a:cs typeface="Quattrocento Sans"/>
              </a:rPr>
              <a:t>Data Pipeline &amp; Extraction</a:t>
            </a:r>
            <a:endParaRPr/>
          </a:p>
        </p:txBody>
      </p:sp>
      <p:sp>
        <p:nvSpPr>
          <p:cNvPr id="23" name="Shape 4"/>
          <p:cNvSpPr/>
          <p:nvPr/>
        </p:nvSpPr>
        <p:spPr>
          <a:xfrm>
            <a:off x="508000" y="863600"/>
            <a:ext cx="15240000" cy="12700"/>
          </a:xfrm>
          <a:prstGeom prst="rect">
            <a:avLst/>
          </a:prstGeom>
          <a:solidFill>
            <a:srgbClr val="E0E0E0"/>
          </a:solidFill>
          <a:ln/>
        </p:spPr>
        <p:txBody>
          <a:bodyPr/>
          <a:lstStyle/>
          <a:p>
            <a:endParaRPr/>
          </a:p>
        </p:txBody>
      </p:sp>
      <p:sp>
        <p:nvSpPr>
          <p:cNvPr id="24" name="Shape 5"/>
          <p:cNvSpPr/>
          <p:nvPr/>
        </p:nvSpPr>
        <p:spPr>
          <a:xfrm>
            <a:off x="508000" y="1117600"/>
            <a:ext cx="7049580" cy="5730188"/>
          </a:xfrm>
          <a:prstGeom prst="roundRect">
            <a:avLst>
              <a:gd name="adj" fmla="val 4000"/>
            </a:avLst>
          </a:prstGeom>
          <a:solidFill>
            <a:srgbClr val="1A4A7A"/>
          </a:solidFill>
          <a:ln/>
        </p:spPr>
        <p:txBody>
          <a:bodyPr/>
          <a:lstStyle/>
          <a:p>
            <a:endParaRPr/>
          </a:p>
        </p:txBody>
      </p:sp>
      <p:sp>
        <p:nvSpPr>
          <p:cNvPr id="25" name="Text 6"/>
          <p:cNvSpPr/>
          <p:nvPr/>
        </p:nvSpPr>
        <p:spPr>
          <a:xfrm>
            <a:off x="2070100" y="1270000"/>
            <a:ext cx="3429000" cy="635000"/>
          </a:xfrm>
          <a:prstGeom prst="rect">
            <a:avLst/>
          </a:prstGeom>
          <a:noFill/>
          <a:ln/>
        </p:spPr>
        <p:txBody>
          <a:bodyPr wrap="none" lIns="0" tIns="0" rIns="0" bIns="0" rtlCol="0" anchor="t"/>
          <a:lstStyle/>
          <a:p>
            <a:pPr algn="ctr">
              <a:lnSpc>
                <a:spcPct val="100000"/>
              </a:lnSpc>
            </a:pPr>
            <a:r>
              <a:rPr lang="en-US" sz="2800">
                <a:solidFill>
                  <a:schemeClr val="bg1">
                    <a:alpha val="100000"/>
                  </a:schemeClr>
                </a:solidFill>
                <a:latin typeface="Quattrocento Sans"/>
                <a:ea typeface="Quattrocento Sans"/>
                <a:cs typeface="Quattrocento Sans"/>
              </a:rPr>
              <a:t>Raw Dump Parsing &amp; Data Ingestion</a:t>
            </a:r>
            <a:endParaRPr/>
          </a:p>
        </p:txBody>
      </p:sp>
      <p:sp>
        <p:nvSpPr>
          <p:cNvPr id="26" name="Text 7"/>
          <p:cNvSpPr/>
          <p:nvPr/>
        </p:nvSpPr>
        <p:spPr>
          <a:xfrm>
            <a:off x="635000" y="2032000"/>
            <a:ext cx="3175000" cy="304800"/>
          </a:xfrm>
          <a:prstGeom prst="rect">
            <a:avLst/>
          </a:prstGeom>
          <a:noFill/>
          <a:ln/>
        </p:spPr>
        <p:txBody>
          <a:bodyPr wrap="square" lIns="0" tIns="0" rIns="0" bIns="0" rtlCol="0" anchor="ctr"/>
          <a:lstStyle/>
          <a:p>
            <a:pPr algn="ctr">
              <a:lnSpc>
                <a:spcPct val="100000"/>
              </a:lnSpc>
            </a:pPr>
            <a:endParaRPr lang="en-US" sz="1600" b="1">
              <a:solidFill>
                <a:srgbClr val="FFFFFF">
                  <a:alpha val="100000"/>
                </a:srgbClr>
              </a:solidFill>
              <a:latin typeface="Quattrocento Sans"/>
              <a:ea typeface="Quattrocento Sans"/>
              <a:cs typeface="Quattrocento Sans"/>
            </a:endParaRPr>
          </a:p>
        </p:txBody>
      </p:sp>
      <p:sp>
        <p:nvSpPr>
          <p:cNvPr id="27" name="Text 8"/>
          <p:cNvSpPr/>
          <p:nvPr/>
        </p:nvSpPr>
        <p:spPr>
          <a:xfrm>
            <a:off x="660400" y="2184400"/>
            <a:ext cx="6592379" cy="4535655"/>
          </a:xfrm>
          <a:prstGeom prst="rect">
            <a:avLst/>
          </a:prstGeom>
          <a:noFill/>
          <a:ln/>
        </p:spPr>
        <p:txBody>
          <a:bodyPr wrap="square" lIns="0" tIns="0" rIns="0" bIns="0" rtlCol="0" anchor="ctr"/>
          <a:lstStyle/>
          <a:p>
            <a:pPr marL="342900" indent="-342900">
              <a:lnSpc>
                <a:spcPct val="170000"/>
              </a:lnSpc>
              <a:buAutoNum type="arabicPeriod"/>
            </a:pPr>
            <a:r>
              <a:rPr lang="en-US" sz="1800">
                <a:solidFill>
                  <a:schemeClr val="bg1">
                    <a:alpha val="100000"/>
                  </a:schemeClr>
                </a:solidFill>
                <a:latin typeface="Quattrocento Sans"/>
                <a:ea typeface="Quattrocento Sans"/>
                <a:cs typeface="Quattrocento Sans"/>
              </a:rPr>
              <a:t>Multi-source Heterogeneous Parsing: Utilizes spark-xml to read Wikipedia XML snapshots in parallel, and employs a predicate whitelist to accurately parse DBpedia’s structured TTL files.</a:t>
            </a:r>
            <a:endParaRPr/>
          </a:p>
          <a:p>
            <a:pPr marL="342900" indent="-342900">
              <a:lnSpc>
                <a:spcPct val="170000"/>
              </a:lnSpc>
              <a:buAutoNum type="arabicPeriod"/>
            </a:pPr>
            <a:r>
              <a:rPr lang="en-US" sz="1800">
                <a:solidFill>
                  <a:schemeClr val="bg1">
                    <a:alpha val="100000"/>
                  </a:schemeClr>
                </a:solidFill>
                <a:latin typeface="Quattrocento Sans"/>
                <a:ea typeface="Quattrocento Sans"/>
                <a:cs typeface="Quattrocento Sans"/>
              </a:rPr>
              <a:t>Cleaning and Standardization: Remove Wiki markup, templates, and noise; generate globally unique IDs based on article titles and body text using the SHA-256 algorithm.</a:t>
            </a:r>
            <a:endParaRPr/>
          </a:p>
          <a:p>
            <a:pPr marL="342900" indent="-342900">
              <a:lnSpc>
                <a:spcPct val="170000"/>
              </a:lnSpc>
              <a:buAutoNum type="arabicPeriod"/>
            </a:pPr>
            <a:r>
              <a:rPr lang="en-US" sz="1800">
                <a:solidFill>
                  <a:schemeClr val="bg1">
                    <a:alpha val="100000"/>
                  </a:schemeClr>
                </a:solidFill>
                <a:latin typeface="Quattrocento Sans"/>
                <a:ea typeface="Quattrocento Sans"/>
                <a:cs typeface="Quattrocento Sans"/>
              </a:rPr>
              <a:t>Unified Storage Engine: Align unstructured long-form text and structured seed data into a unified Spark DataFrame, and consolidate it into an underlying data lake.</a:t>
            </a:r>
            <a:endParaRPr/>
          </a:p>
          <a:p>
            <a:pPr marL="342900" indent="-342900">
              <a:lnSpc>
                <a:spcPct val="170000"/>
              </a:lnSpc>
              <a:buAutoNum type="arabicPeriod"/>
            </a:pPr>
            <a:endParaRPr lang="en-US" sz="1800">
              <a:solidFill>
                <a:schemeClr val="bg1">
                  <a:alpha val="100000"/>
                </a:schemeClr>
              </a:solidFill>
              <a:latin typeface="Quattrocento Sans"/>
              <a:ea typeface="Quattrocento Sans"/>
              <a:cs typeface="Quattrocento Sans"/>
            </a:endParaRPr>
          </a:p>
        </p:txBody>
      </p:sp>
      <p:sp>
        <p:nvSpPr>
          <p:cNvPr id="28" name="Shape 19"/>
          <p:cNvSpPr/>
          <p:nvPr/>
        </p:nvSpPr>
        <p:spPr>
          <a:xfrm>
            <a:off x="7899400" y="3855694"/>
            <a:ext cx="457200" cy="254000"/>
          </a:xfrm>
          <a:prstGeom prst="rightArrow">
            <a:avLst>
              <a:gd name="adj1" fmla="val 50000"/>
              <a:gd name="adj2" fmla="val 50000"/>
            </a:avLst>
          </a:prstGeom>
          <a:solidFill>
            <a:srgbClr val="5B9BD5"/>
          </a:solidFill>
          <a:ln/>
        </p:spPr>
        <p:txBody>
          <a:bodyPr/>
          <a:lstStyle/>
          <a:p>
            <a:endParaRPr/>
          </a:p>
        </p:txBody>
      </p:sp>
      <p:sp>
        <p:nvSpPr>
          <p:cNvPr id="29" name="Shape 20"/>
          <p:cNvSpPr/>
          <p:nvPr/>
        </p:nvSpPr>
        <p:spPr>
          <a:xfrm>
            <a:off x="8698420" y="1117600"/>
            <a:ext cx="7049580" cy="5730188"/>
          </a:xfrm>
          <a:prstGeom prst="roundRect">
            <a:avLst>
              <a:gd name="adj" fmla="val 4000"/>
            </a:avLst>
          </a:prstGeom>
          <a:solidFill>
            <a:srgbClr val="F5F5F5"/>
          </a:solidFill>
          <a:ln w="25400">
            <a:solidFill>
              <a:srgbClr val="1A4A7A"/>
            </a:solidFill>
            <a:prstDash val="solid"/>
          </a:ln>
        </p:spPr>
        <p:txBody>
          <a:bodyPr/>
          <a:lstStyle/>
          <a:p>
            <a:endParaRPr/>
          </a:p>
        </p:txBody>
      </p:sp>
      <p:sp>
        <p:nvSpPr>
          <p:cNvPr id="30" name="Text 21"/>
          <p:cNvSpPr/>
          <p:nvPr/>
        </p:nvSpPr>
        <p:spPr>
          <a:xfrm>
            <a:off x="8927020" y="1270000"/>
            <a:ext cx="6592380" cy="635000"/>
          </a:xfrm>
          <a:prstGeom prst="rect">
            <a:avLst/>
          </a:prstGeom>
          <a:noFill/>
          <a:ln/>
        </p:spPr>
        <p:txBody>
          <a:bodyPr wrap="none" lIns="0" tIns="0" rIns="0" bIns="0" rtlCol="0" anchor="t"/>
          <a:lstStyle/>
          <a:p>
            <a:pPr algn="ctr">
              <a:lnSpc>
                <a:spcPct val="100000"/>
              </a:lnSpc>
            </a:pPr>
            <a:r>
              <a:rPr lang="en-US" sz="2800">
                <a:solidFill>
                  <a:srgbClr val="5B9BD5">
                    <a:alpha val="100000"/>
                  </a:srgbClr>
                </a:solidFill>
                <a:latin typeface="Quattrocento Sans"/>
                <a:ea typeface="Quattrocento Sans"/>
                <a:cs typeface="Quattrocento Sans"/>
              </a:rPr>
              <a:t>Distributed Entity &amp; Relation Extraction</a:t>
            </a:r>
            <a:r>
              <a:rPr lang="en-US" sz="3200">
                <a:solidFill>
                  <a:srgbClr val="5B9BD5">
                    <a:alpha val="100000"/>
                  </a:srgbClr>
                </a:solidFill>
                <a:latin typeface="Quattrocento Sans"/>
                <a:ea typeface="Quattrocento Sans"/>
                <a:cs typeface="Quattrocento Sans"/>
              </a:rPr>
              <a:t> </a:t>
            </a:r>
            <a:endParaRPr/>
          </a:p>
        </p:txBody>
      </p:sp>
      <p:sp>
        <p:nvSpPr>
          <p:cNvPr id="31" name="Text 23"/>
          <p:cNvSpPr/>
          <p:nvPr/>
        </p:nvSpPr>
        <p:spPr>
          <a:xfrm>
            <a:off x="9003221" y="2032000"/>
            <a:ext cx="6592379" cy="4535678"/>
          </a:xfrm>
          <a:prstGeom prst="rect">
            <a:avLst/>
          </a:prstGeom>
          <a:noFill/>
          <a:ln/>
        </p:spPr>
        <p:txBody>
          <a:bodyPr wrap="square" lIns="0" tIns="0" rIns="0" bIns="0" rtlCol="0" anchor="ctr"/>
          <a:lstStyle/>
          <a:p>
            <a:pPr marL="342900" indent="-342900">
              <a:lnSpc>
                <a:spcPct val="170000"/>
              </a:lnSpc>
              <a:buAutoNum type="arabicPeriod"/>
            </a:pPr>
            <a:r>
              <a:rPr lang="en-US" sz="1800">
                <a:solidFill>
                  <a:srgbClr val="5B9BD5">
                    <a:alpha val="100000"/>
                  </a:srgbClr>
                </a:solidFill>
                <a:latin typeface="Quattrocento Sans"/>
                <a:ea typeface="Quattrocento Sans"/>
                <a:cs typeface="Quattrocento Sans"/>
              </a:rPr>
              <a:t>Cluster-level operator deployment: Complex regular expression matching and syntactic analysis logic are encapsulated as Spark UDFs to enable distributed text mining on the server.</a:t>
            </a:r>
            <a:endParaRPr/>
          </a:p>
          <a:p>
            <a:pPr marL="342900" indent="-342900">
              <a:lnSpc>
                <a:spcPct val="170000"/>
              </a:lnSpc>
              <a:buAutoNum type="arabicPeriod"/>
            </a:pPr>
            <a:r>
              <a:rPr lang="en-US" sz="1800">
                <a:solidFill>
                  <a:srgbClr val="5B9BD5">
                    <a:alpha val="100000"/>
                  </a:srgbClr>
                </a:solidFill>
                <a:latin typeface="Quattrocento Sans"/>
                <a:ea typeface="Quattrocento Sans"/>
                <a:cs typeface="Quattrocento Sans"/>
              </a:rPr>
              <a:t>Dynamic semantic extraction: Overcoming the limitations of plain text, the system dynamically extracts latent semantic triples from 50,000 unstructured long-form documents.</a:t>
            </a:r>
            <a:endParaRPr/>
          </a:p>
          <a:p>
            <a:pPr marL="342900" indent="-342900">
              <a:lnSpc>
                <a:spcPct val="170000"/>
              </a:lnSpc>
              <a:buAutoNum type="arabicPeriod"/>
            </a:pPr>
            <a:r>
              <a:rPr lang="en-US" sz="1800">
                <a:solidFill>
                  <a:srgbClr val="5B9BD5">
                    <a:alpha val="100000"/>
                  </a:srgbClr>
                </a:solidFill>
                <a:latin typeface="Quattrocento Sans"/>
                <a:ea typeface="Quattrocento Sans"/>
                <a:cs typeface="Quattrocento Sans"/>
              </a:rPr>
              <a:t>Precise Quality Control: Built-in entity filtering rules (removing malformed words, resolving ambiguous pronouns, and filtering generalized events) ensure high confidence in newly extracted knowledge.</a:t>
            </a:r>
            <a:endParaRPr/>
          </a:p>
        </p:txBody>
      </p:sp>
      <p:sp>
        <p:nvSpPr>
          <p:cNvPr id="32" name="Shape 24"/>
          <p:cNvSpPr/>
          <p:nvPr/>
        </p:nvSpPr>
        <p:spPr>
          <a:xfrm>
            <a:off x="660400" y="7239000"/>
            <a:ext cx="14935200" cy="1701800"/>
          </a:xfrm>
          <a:prstGeom prst="roundRect">
            <a:avLst>
              <a:gd name="adj" fmla="val 4000"/>
            </a:avLst>
          </a:prstGeom>
          <a:solidFill>
            <a:srgbClr val="E3F0FA"/>
          </a:solidFill>
          <a:ln/>
        </p:spPr>
        <p:txBody>
          <a:bodyPr/>
          <a:lstStyle/>
          <a:p>
            <a:endParaRPr/>
          </a:p>
        </p:txBody>
      </p:sp>
      <p:sp>
        <p:nvSpPr>
          <p:cNvPr id="33" name="Text 25"/>
          <p:cNvSpPr/>
          <p:nvPr/>
        </p:nvSpPr>
        <p:spPr>
          <a:xfrm>
            <a:off x="775408" y="7366000"/>
            <a:ext cx="3810000" cy="355600"/>
          </a:xfrm>
          <a:prstGeom prst="rect">
            <a:avLst/>
          </a:prstGeom>
          <a:noFill/>
          <a:ln/>
        </p:spPr>
        <p:txBody>
          <a:bodyPr wrap="none" lIns="0" tIns="0" rIns="0" bIns="0" rtlCol="0" anchor="ctr"/>
          <a:lstStyle/>
          <a:p>
            <a:pPr>
              <a:lnSpc>
                <a:spcPct val="100000"/>
              </a:lnSpc>
            </a:pPr>
            <a:r>
              <a:rPr lang="en-US" sz="1600" b="1" dirty="0">
                <a:solidFill>
                  <a:srgbClr val="1A4A7A"/>
                </a:solidFill>
                <a:latin typeface="Quattrocento Sans" pitchFamily="34" charset="0"/>
                <a:ea typeface="Quattrocento Sans" pitchFamily="34" charset="-122"/>
                <a:cs typeface="Quattrocento Sans" pitchFamily="34" charset="-120"/>
              </a:rPr>
              <a:t>Pipeline Summary</a:t>
            </a:r>
            <a:endParaRPr lang="en-US" sz="1600" dirty="0"/>
          </a:p>
        </p:txBody>
      </p:sp>
      <p:sp>
        <p:nvSpPr>
          <p:cNvPr id="34" name="Text 26"/>
          <p:cNvSpPr/>
          <p:nvPr/>
        </p:nvSpPr>
        <p:spPr>
          <a:xfrm>
            <a:off x="775408" y="7543800"/>
            <a:ext cx="14591592" cy="1397000"/>
          </a:xfrm>
          <a:prstGeom prst="rect">
            <a:avLst/>
          </a:prstGeom>
          <a:noFill/>
          <a:ln/>
        </p:spPr>
        <p:txBody>
          <a:bodyPr wrap="square" lIns="0" tIns="0" rIns="0" bIns="0" rtlCol="0" anchor="ctr"/>
          <a:lstStyle/>
          <a:p>
            <a:pPr>
              <a:lnSpc>
                <a:spcPct val="160000"/>
              </a:lnSpc>
            </a:pPr>
            <a:r>
              <a:rPr lang="en-US" sz="1600">
                <a:solidFill>
                  <a:srgbClr val="2C2C2C">
                    <a:alpha val="100000"/>
                  </a:srgbClr>
                </a:solidFill>
                <a:latin typeface="Quattrocento Sans"/>
                <a:ea typeface="Quattrocento Sans"/>
                <a:cs typeface="Quattrocento Sans"/>
              </a:rPr>
              <a:t>• </a:t>
            </a:r>
            <a:r>
              <a:rPr sz="1600" b="1"/>
              <a:t>Distributed Data Ingestion:</a:t>
            </a:r>
            <a:r>
              <a:rPr sz="1600"/>
              <a:t>Leveraged Spark to seamlessly parse and align massive Wikipedia XML dumps and DBpedia TTL seeds into a unified DataFrame.</a:t>
            </a:r>
            <a:r>
              <a:rPr lang="en-US" sz="1400">
                <a:solidFill>
                  <a:srgbClr val="2C2C2C">
                    <a:alpha val="100000"/>
                  </a:srgbClr>
                </a:solidFill>
                <a:latin typeface="Quattrocento Sans"/>
                <a:ea typeface="Quattrocento Sans"/>
                <a:cs typeface="Quattrocento Sans"/>
              </a:rPr>
              <a:t> </a:t>
            </a:r>
            <a:endParaRPr/>
          </a:p>
          <a:p>
            <a:pPr>
              <a:lnSpc>
                <a:spcPct val="160000"/>
              </a:lnSpc>
            </a:pPr>
            <a:r>
              <a:rPr lang="en-US" sz="1600">
                <a:solidFill>
                  <a:srgbClr val="2C2C2C">
                    <a:alpha val="100000"/>
                  </a:srgbClr>
                </a:solidFill>
                <a:latin typeface="Quattrocento Sans"/>
                <a:ea typeface="Quattrocento Sans"/>
                <a:cs typeface="Quattrocento Sans"/>
              </a:rPr>
              <a:t>• </a:t>
            </a:r>
            <a:r>
              <a:rPr lang="en-US" sz="1600" b="1">
                <a:solidFill>
                  <a:srgbClr val="2C2C2C">
                    <a:alpha val="100000"/>
                  </a:srgbClr>
                </a:solidFill>
                <a:latin typeface="Quattrocento Sans"/>
                <a:ea typeface="Quattrocento Sans"/>
                <a:cs typeface="Quattrocento Sans"/>
              </a:rPr>
              <a:t>Scalable Relation Extraction:</a:t>
            </a:r>
            <a:r>
              <a:rPr lang="en-US" sz="1600">
                <a:solidFill>
                  <a:srgbClr val="2C2C2C">
                    <a:alpha val="100000"/>
                  </a:srgbClr>
                </a:solidFill>
                <a:latin typeface="Quattrocento Sans"/>
                <a:ea typeface="Quattrocento Sans"/>
                <a:cs typeface="Quattrocento Sans"/>
              </a:rPr>
              <a:t>Deployed custom Spark UDFs to dynamically mine high-value semantic triples from 50K unstructured articles at scale.</a:t>
            </a:r>
            <a:endParaRPr/>
          </a:p>
          <a:p>
            <a:pPr>
              <a:lnSpc>
                <a:spcPct val="160000"/>
              </a:lnSpc>
            </a:pPr>
            <a:r>
              <a:rPr lang="en-US" sz="1400">
                <a:solidFill>
                  <a:srgbClr val="2C2C2C">
                    <a:alpha val="100000"/>
                  </a:srgbClr>
                </a:solidFill>
                <a:latin typeface="Quattrocento Sans"/>
                <a:ea typeface="Quattrocento Sans"/>
                <a:cs typeface="Quattrocento Sans"/>
              </a:rPr>
              <a:t>• </a:t>
            </a:r>
            <a:r>
              <a:rPr sz="1600" b="1"/>
              <a:t>Automated Quality Control:</a:t>
            </a:r>
            <a:r>
              <a:rPr sz="1600"/>
              <a:t>Applied rigorous text cleaning, deduplication, and entity filtering rules to ensure a high-confidence data foundation for graph construction.</a:t>
            </a:r>
            <a:endParaRPr/>
          </a:p>
        </p:txBody>
      </p:sp>
      <p:sp>
        <p:nvSpPr>
          <p:cNvPr id="35" name="Text 27"/>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11</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6F9FC"/>
        </a:solidFill>
        <a:effectLst/>
      </p:bgPr>
    </p:bg>
    <p:spTree>
      <p:nvGrpSpPr>
        <p:cNvPr id="1" name=""/>
        <p:cNvGrpSpPr/>
        <p:nvPr/>
      </p:nvGrpSpPr>
      <p:grpSpPr>
        <a:xfrm>
          <a:off x="0" y="0"/>
          <a:ext cx="0" cy="0"/>
          <a:chOff x="0" y="0"/>
          <a:chExt cx="0" cy="0"/>
        </a:xfrm>
      </p:grpSpPr>
      <p:sp>
        <p:nvSpPr>
          <p:cNvPr id="37" name="Shape 0"/>
          <p:cNvSpPr/>
          <p:nvPr/>
        </p:nvSpPr>
        <p:spPr>
          <a:xfrm>
            <a:off x="0" y="0"/>
            <a:ext cx="76200" cy="9144000"/>
          </a:xfrm>
          <a:prstGeom prst="rect">
            <a:avLst/>
          </a:prstGeom>
          <a:solidFill>
            <a:srgbClr val="1A4A7A"/>
          </a:solidFill>
          <a:ln/>
        </p:spPr>
        <p:txBody>
          <a:bodyPr/>
          <a:lstStyle/>
          <a:p>
            <a:endParaRPr/>
          </a:p>
        </p:txBody>
      </p:sp>
      <p:sp>
        <p:nvSpPr>
          <p:cNvPr id="38" name="Shape 1"/>
          <p:cNvSpPr/>
          <p:nvPr/>
        </p:nvSpPr>
        <p:spPr>
          <a:xfrm>
            <a:off x="0" y="0"/>
            <a:ext cx="16256000" cy="38100"/>
          </a:xfrm>
          <a:prstGeom prst="rect">
            <a:avLst/>
          </a:prstGeom>
          <a:solidFill>
            <a:srgbClr val="1A4A7A"/>
          </a:solidFill>
          <a:ln/>
        </p:spPr>
        <p:txBody>
          <a:bodyPr/>
          <a:lstStyle/>
          <a:p>
            <a:endParaRPr/>
          </a:p>
        </p:txBody>
      </p:sp>
      <p:sp>
        <p:nvSpPr>
          <p:cNvPr id="39"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a:solidFill>
                  <a:srgbClr val="5B9BD5">
                    <a:alpha val="100000"/>
                  </a:srgbClr>
                </a:solidFill>
                <a:latin typeface="Quattrocento Sans"/>
                <a:ea typeface="Quattrocento Sans"/>
                <a:cs typeface="Quattrocento Sans"/>
              </a:rPr>
              <a:t>02 Data Processing &amp; Knowledge Graph Construction</a:t>
            </a:r>
            <a:endParaRPr/>
          </a:p>
        </p:txBody>
      </p:sp>
      <p:sp>
        <p:nvSpPr>
          <p:cNvPr id="40"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dirty="0">
                <a:solidFill>
                  <a:srgbClr val="1A4A7A"/>
                </a:solidFill>
                <a:latin typeface="Quattrocento Sans" pitchFamily="34" charset="0"/>
                <a:ea typeface="Quattrocento Sans" pitchFamily="34" charset="-122"/>
                <a:cs typeface="Quattrocento Sans" pitchFamily="34" charset="-120"/>
              </a:rPr>
              <a:t>Knowledge Graph Construction</a:t>
            </a:r>
            <a:endParaRPr lang="en-US" sz="1600" dirty="0"/>
          </a:p>
        </p:txBody>
      </p:sp>
      <p:sp>
        <p:nvSpPr>
          <p:cNvPr id="41" name="Shape 4"/>
          <p:cNvSpPr/>
          <p:nvPr/>
        </p:nvSpPr>
        <p:spPr>
          <a:xfrm>
            <a:off x="508000" y="863600"/>
            <a:ext cx="15240000" cy="12700"/>
          </a:xfrm>
          <a:prstGeom prst="rect">
            <a:avLst/>
          </a:prstGeom>
          <a:solidFill>
            <a:srgbClr val="E0E0E0"/>
          </a:solidFill>
          <a:ln/>
        </p:spPr>
        <p:txBody>
          <a:bodyPr/>
          <a:lstStyle/>
          <a:p>
            <a:endParaRPr/>
          </a:p>
        </p:txBody>
      </p:sp>
      <p:sp>
        <p:nvSpPr>
          <p:cNvPr id="42" name="Shape 5"/>
          <p:cNvSpPr/>
          <p:nvPr/>
        </p:nvSpPr>
        <p:spPr>
          <a:xfrm>
            <a:off x="508000" y="1117600"/>
            <a:ext cx="15240000" cy="2565400"/>
          </a:xfrm>
          <a:prstGeom prst="roundRect">
            <a:avLst>
              <a:gd name="adj" fmla="val 4000"/>
            </a:avLst>
          </a:prstGeom>
          <a:solidFill>
            <a:srgbClr val="1A4A7A"/>
          </a:solidFill>
          <a:ln/>
        </p:spPr>
        <p:txBody>
          <a:bodyPr/>
          <a:lstStyle/>
          <a:p>
            <a:endParaRPr/>
          </a:p>
        </p:txBody>
      </p:sp>
      <p:sp>
        <p:nvSpPr>
          <p:cNvPr id="43" name="Text 7"/>
          <p:cNvSpPr/>
          <p:nvPr/>
        </p:nvSpPr>
        <p:spPr>
          <a:xfrm>
            <a:off x="762000" y="1238251"/>
            <a:ext cx="5080000" cy="355599"/>
          </a:xfrm>
          <a:prstGeom prst="rect">
            <a:avLst/>
          </a:prstGeom>
          <a:noFill/>
          <a:ln/>
        </p:spPr>
        <p:txBody>
          <a:bodyPr wrap="none" lIns="0" tIns="0" rIns="0" bIns="0" rtlCol="0" anchor="ctr"/>
          <a:lstStyle/>
          <a:p>
            <a:pPr>
              <a:lnSpc>
                <a:spcPct val="100000"/>
              </a:lnSpc>
            </a:pPr>
            <a:r>
              <a:rPr lang="en-US" sz="2000" b="1">
                <a:solidFill>
                  <a:srgbClr val="FFFFFF">
                    <a:alpha val="100000"/>
                  </a:srgbClr>
                </a:solidFill>
                <a:latin typeface="Quattrocento Sans"/>
                <a:ea typeface="Quattrocento Sans"/>
                <a:cs typeface="Quattrocento Sans"/>
              </a:rPr>
              <a:t>Entity Canonicalization &amp; Disambiguation</a:t>
            </a:r>
            <a:endParaRPr/>
          </a:p>
        </p:txBody>
      </p:sp>
      <p:sp>
        <p:nvSpPr>
          <p:cNvPr id="44" name="Text 8"/>
          <p:cNvSpPr/>
          <p:nvPr/>
        </p:nvSpPr>
        <p:spPr>
          <a:xfrm>
            <a:off x="762000" y="1701800"/>
            <a:ext cx="14732000" cy="1727200"/>
          </a:xfrm>
          <a:prstGeom prst="rect">
            <a:avLst/>
          </a:prstGeom>
          <a:noFill/>
          <a:ln/>
        </p:spPr>
        <p:txBody>
          <a:bodyPr wrap="square" lIns="0" tIns="0" rIns="0" bIns="0" rtlCol="0" anchor="ctr"/>
          <a:lstStyle/>
          <a:p>
            <a:pPr>
              <a:lnSpc>
                <a:spcPct val="150000"/>
              </a:lnSpc>
            </a:pPr>
            <a:r>
              <a:rPr lang="en-US" sz="1800" b="1">
                <a:solidFill>
                  <a:schemeClr val="bg1">
                    <a:alpha val="100000"/>
                  </a:schemeClr>
                </a:solidFill>
                <a:latin typeface="Quattrocento Sans"/>
                <a:ea typeface="Quattrocento Sans"/>
                <a:cs typeface="Quattrocento Sans"/>
              </a:rPr>
              <a:t>Entity Naming Alignment: Unify entity namespaces through multiple rules</a:t>
            </a:r>
            <a:r>
              <a:rPr lang="en-US" sz="1500" b="1">
                <a:solidFill>
                  <a:srgbClr val="FFFFFF">
                    <a:alpha val="80000"/>
                  </a:srgbClr>
                </a:solidFill>
                <a:latin typeface="Quattrocento Sans"/>
                <a:ea typeface="Quattrocento Sans"/>
                <a:cs typeface="Quattrocento Sans"/>
              </a:rPr>
              <a:t>.</a:t>
            </a:r>
            <a:endParaRPr/>
          </a:p>
          <a:p>
            <a:pPr>
              <a:lnSpc>
                <a:spcPct val="150000"/>
              </a:lnSpc>
            </a:pPr>
            <a:r>
              <a:rPr lang="en-US" sz="1800" b="1">
                <a:solidFill>
                  <a:schemeClr val="bg1">
                    <a:alpha val="100000"/>
                  </a:schemeClr>
                </a:solidFill>
                <a:latin typeface="Quattrocento Sans"/>
                <a:ea typeface="Quattrocento Sans"/>
                <a:cs typeface="Quattrocento Sans"/>
              </a:rPr>
              <a:t>Heterogeneous Knowledge Base Fusion: Aggregate tuples dynamically extracted from Wikipedia with those from DBpedia</a:t>
            </a:r>
            <a:r>
              <a:rPr lang="en-US" sz="1500" b="1">
                <a:solidFill>
                  <a:srgbClr val="FFFFFF">
                    <a:alpha val="80000"/>
                  </a:srgbClr>
                </a:solidFill>
                <a:latin typeface="Quattrocento Sans"/>
                <a:ea typeface="Quattrocento Sans"/>
                <a:cs typeface="Quattrocento Sans"/>
              </a:rPr>
              <a:t>.</a:t>
            </a:r>
            <a:endParaRPr/>
          </a:p>
          <a:p>
            <a:pPr>
              <a:lnSpc>
                <a:spcPct val="150000"/>
              </a:lnSpc>
            </a:pPr>
            <a:r>
              <a:rPr lang="en-US" sz="1800" b="1">
                <a:solidFill>
                  <a:schemeClr val="bg1">
                    <a:alpha val="100000"/>
                  </a:schemeClr>
                </a:solidFill>
                <a:latin typeface="Quattrocento Sans"/>
                <a:ea typeface="Quattrocento Sans"/>
                <a:cs typeface="Quattrocento Sans"/>
              </a:rPr>
              <a:t>Type Inference Filtering: Automatically infer physical attributes for entities and accurately filter out low-quality noise nodes.</a:t>
            </a:r>
            <a:endParaRPr/>
          </a:p>
        </p:txBody>
      </p:sp>
      <p:sp>
        <p:nvSpPr>
          <p:cNvPr id="45" name="Shape 9"/>
          <p:cNvSpPr/>
          <p:nvPr/>
        </p:nvSpPr>
        <p:spPr>
          <a:xfrm rot="10800000">
            <a:off x="7874000" y="3860800"/>
            <a:ext cx="508000" cy="254000"/>
          </a:xfrm>
          <a:prstGeom prst="triangle">
            <a:avLst>
              <a:gd name="adj" fmla="val 50000"/>
            </a:avLst>
          </a:prstGeom>
          <a:solidFill>
            <a:srgbClr val="5B9BD5"/>
          </a:solidFill>
          <a:ln/>
        </p:spPr>
        <p:txBody>
          <a:bodyPr/>
          <a:lstStyle/>
          <a:p>
            <a:endParaRPr/>
          </a:p>
        </p:txBody>
      </p:sp>
      <p:sp>
        <p:nvSpPr>
          <p:cNvPr id="46" name="Shape 15"/>
          <p:cNvSpPr/>
          <p:nvPr/>
        </p:nvSpPr>
        <p:spPr>
          <a:xfrm>
            <a:off x="508000" y="4254500"/>
            <a:ext cx="15240000" cy="2438400"/>
          </a:xfrm>
          <a:prstGeom prst="roundRect">
            <a:avLst>
              <a:gd name="adj" fmla="val 4000"/>
            </a:avLst>
          </a:prstGeom>
          <a:solidFill>
            <a:srgbClr val="2E86C1"/>
          </a:solidFill>
          <a:ln/>
        </p:spPr>
        <p:txBody>
          <a:bodyPr/>
          <a:lstStyle/>
          <a:p>
            <a:endParaRPr/>
          </a:p>
        </p:txBody>
      </p:sp>
      <p:sp>
        <p:nvSpPr>
          <p:cNvPr id="47" name="Text 17"/>
          <p:cNvSpPr/>
          <p:nvPr/>
        </p:nvSpPr>
        <p:spPr>
          <a:xfrm>
            <a:off x="762000" y="4394200"/>
            <a:ext cx="6350000" cy="355600"/>
          </a:xfrm>
          <a:prstGeom prst="rect">
            <a:avLst/>
          </a:prstGeom>
          <a:noFill/>
          <a:ln/>
        </p:spPr>
        <p:txBody>
          <a:bodyPr wrap="none" lIns="0" tIns="0" rIns="0" bIns="0" rtlCol="0" anchor="ctr"/>
          <a:lstStyle/>
          <a:p>
            <a:pPr>
              <a:lnSpc>
                <a:spcPct val="100000"/>
              </a:lnSpc>
            </a:pPr>
            <a:r>
              <a:rPr lang="en-US" sz="2000" b="1">
                <a:solidFill>
                  <a:srgbClr val="FFFFFF">
                    <a:alpha val="100000"/>
                  </a:srgbClr>
                </a:solidFill>
                <a:latin typeface="Quattrocento Sans"/>
                <a:ea typeface="Quattrocento Sans"/>
                <a:cs typeface="Quattrocento Sans"/>
              </a:rPr>
              <a:t>Graph Topology Generation </a:t>
            </a:r>
            <a:endParaRPr/>
          </a:p>
        </p:txBody>
      </p:sp>
      <p:sp>
        <p:nvSpPr>
          <p:cNvPr id="48" name="Text 18"/>
          <p:cNvSpPr/>
          <p:nvPr/>
        </p:nvSpPr>
        <p:spPr>
          <a:xfrm>
            <a:off x="762000" y="4762500"/>
            <a:ext cx="14732000" cy="1584013"/>
          </a:xfrm>
          <a:prstGeom prst="rect">
            <a:avLst/>
          </a:prstGeom>
          <a:noFill/>
          <a:ln/>
        </p:spPr>
        <p:txBody>
          <a:bodyPr wrap="square" lIns="0" tIns="0" rIns="0" bIns="0" rtlCol="0" anchor="ctr"/>
          <a:lstStyle/>
          <a:p>
            <a:pPr>
              <a:lnSpc>
                <a:spcPct val="150000"/>
              </a:lnSpc>
            </a:pPr>
            <a:r>
              <a:rPr lang="en-US" sz="1800" b="1">
                <a:solidFill>
                  <a:schemeClr val="bg1">
                    <a:alpha val="100000"/>
                  </a:schemeClr>
                </a:solidFill>
                <a:latin typeface="Quattrocento Sans"/>
                <a:ea typeface="Quattrocento Sans"/>
                <a:cs typeface="Quattrocento Sans"/>
              </a:rPr>
              <a:t>Edge-based mapping system: Based on an aggregated triplet network, establish globally independent tables for graph vertices and edges</a:t>
            </a:r>
            <a:r>
              <a:rPr lang="en-US" sz="1500" b="1">
                <a:solidFill>
                  <a:srgbClr val="FFFFFF">
                    <a:alpha val="80000"/>
                  </a:srgbClr>
                </a:solidFill>
                <a:latin typeface="Quattrocento Sans"/>
                <a:ea typeface="Quattrocento Sans"/>
                <a:cs typeface="Quattrocento Sans"/>
              </a:rPr>
              <a:t>. </a:t>
            </a:r>
            <a:endParaRPr/>
          </a:p>
          <a:p>
            <a:pPr>
              <a:lnSpc>
                <a:spcPct val="150000"/>
              </a:lnSpc>
            </a:pPr>
            <a:r>
              <a:rPr lang="en-US" sz="1800" b="1">
                <a:solidFill>
                  <a:schemeClr val="bg1">
                    <a:alpha val="100000"/>
                  </a:schemeClr>
                </a:solidFill>
                <a:latin typeface="Quattrocento Sans"/>
                <a:ea typeface="Quattrocento Sans"/>
                <a:cs typeface="Quattrocento Sans"/>
              </a:rPr>
              <a:t>Create an entity dictionary: Simultaneously generate a mapping table (Entity Lookup) from original names to standard names to provide dictionary support for subsequent retrieval and alignment.</a:t>
            </a:r>
            <a:endParaRPr/>
          </a:p>
        </p:txBody>
      </p:sp>
      <p:sp>
        <p:nvSpPr>
          <p:cNvPr id="49" name="Shape 19"/>
          <p:cNvSpPr/>
          <p:nvPr/>
        </p:nvSpPr>
        <p:spPr>
          <a:xfrm rot="10800000">
            <a:off x="7874000" y="6832600"/>
            <a:ext cx="508000" cy="254000"/>
          </a:xfrm>
          <a:prstGeom prst="triangle">
            <a:avLst>
              <a:gd name="adj" fmla="val 50000"/>
            </a:avLst>
          </a:prstGeom>
          <a:solidFill>
            <a:srgbClr val="1A4A7A"/>
          </a:solidFill>
          <a:ln/>
        </p:spPr>
        <p:txBody>
          <a:bodyPr/>
          <a:lstStyle/>
          <a:p>
            <a:endParaRPr/>
          </a:p>
        </p:txBody>
      </p:sp>
      <p:sp>
        <p:nvSpPr>
          <p:cNvPr id="50" name="Shape 20"/>
          <p:cNvSpPr/>
          <p:nvPr/>
        </p:nvSpPr>
        <p:spPr>
          <a:xfrm>
            <a:off x="508000" y="7213600"/>
            <a:ext cx="15240000" cy="1422400"/>
          </a:xfrm>
          <a:prstGeom prst="roundRect">
            <a:avLst>
              <a:gd name="adj" fmla="val 4000"/>
            </a:avLst>
          </a:prstGeom>
          <a:solidFill>
            <a:srgbClr val="F5F5F5"/>
          </a:solidFill>
          <a:ln w="25400">
            <a:solidFill>
              <a:srgbClr val="1A4A7A"/>
            </a:solidFill>
            <a:prstDash val="solid"/>
          </a:ln>
        </p:spPr>
        <p:txBody>
          <a:bodyPr/>
          <a:lstStyle/>
          <a:p>
            <a:endParaRPr/>
          </a:p>
        </p:txBody>
      </p:sp>
      <p:sp>
        <p:nvSpPr>
          <p:cNvPr id="51" name="Text 21"/>
          <p:cNvSpPr/>
          <p:nvPr/>
        </p:nvSpPr>
        <p:spPr>
          <a:xfrm>
            <a:off x="762000" y="7340600"/>
            <a:ext cx="2540000" cy="304800"/>
          </a:xfrm>
          <a:prstGeom prst="rect">
            <a:avLst/>
          </a:prstGeom>
          <a:noFill/>
          <a:ln/>
        </p:spPr>
        <p:txBody>
          <a:bodyPr wrap="none" lIns="0" tIns="0" rIns="0" bIns="0" rtlCol="0" anchor="ctr"/>
          <a:lstStyle/>
          <a:p>
            <a:pPr>
              <a:lnSpc>
                <a:spcPct val="100000"/>
              </a:lnSpc>
            </a:pPr>
            <a:r>
              <a:rPr lang="en-US" sz="2000" b="1">
                <a:solidFill>
                  <a:srgbClr val="5B9BD5">
                    <a:alpha val="100000"/>
                  </a:srgbClr>
                </a:solidFill>
                <a:latin typeface="Quattrocento Sans"/>
                <a:ea typeface="Quattrocento Sans"/>
                <a:cs typeface="Quattrocento Sans"/>
              </a:rPr>
              <a:t>OUTPUT</a:t>
            </a:r>
            <a:endParaRPr lang="en-US" sz="1600"/>
          </a:p>
        </p:txBody>
      </p:sp>
      <p:sp>
        <p:nvSpPr>
          <p:cNvPr id="52" name="Text 22"/>
          <p:cNvSpPr/>
          <p:nvPr/>
        </p:nvSpPr>
        <p:spPr>
          <a:xfrm>
            <a:off x="762000" y="7493000"/>
            <a:ext cx="14642352" cy="1143000"/>
          </a:xfrm>
          <a:prstGeom prst="rect">
            <a:avLst/>
          </a:prstGeom>
          <a:noFill/>
          <a:ln/>
        </p:spPr>
        <p:txBody>
          <a:bodyPr wrap="none" lIns="0" tIns="0" rIns="0" bIns="0" rtlCol="0" anchor="ctr"/>
          <a:lstStyle/>
          <a:p>
            <a:pPr>
              <a:lnSpc>
                <a:spcPct val="150000"/>
              </a:lnSpc>
            </a:pPr>
            <a:r>
              <a:rPr lang="en-US" sz="1800" b="1">
                <a:solidFill>
                  <a:srgbClr val="1A4A7A">
                    <a:alpha val="100000"/>
                  </a:srgbClr>
                </a:solidFill>
                <a:latin typeface="Quattrocento Sans"/>
                <a:ea typeface="Quattrocento Sans"/>
                <a:cs typeface="Quattrocento Sans"/>
              </a:rPr>
              <a:t>Standardizing the generated 100,000-node edge network into Parquet columnar format significantly reduces overhead.
Simultaneously generating lightweight JSONL files provides comprehensive support for subsequent tasks.</a:t>
            </a:r>
            <a:endParaRPr/>
          </a:p>
        </p:txBody>
      </p:sp>
      <p:sp>
        <p:nvSpPr>
          <p:cNvPr id="53" name="Text 24"/>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13</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6F9FC"/>
        </a:solidFill>
        <a:effectLst/>
      </p:bgPr>
    </p:bg>
    <p:spTree>
      <p:nvGrpSpPr>
        <p:cNvPr id="1" name=""/>
        <p:cNvGrpSpPr/>
        <p:nvPr/>
      </p:nvGrpSpPr>
      <p:grpSpPr>
        <a:xfrm>
          <a:off x="0" y="0"/>
          <a:ext cx="0" cy="0"/>
          <a:chOff x="0" y="0"/>
          <a:chExt cx="0" cy="0"/>
        </a:xfrm>
      </p:grpSpPr>
      <p:sp>
        <p:nvSpPr>
          <p:cNvPr id="55" name="Shape 0"/>
          <p:cNvSpPr/>
          <p:nvPr/>
        </p:nvSpPr>
        <p:spPr>
          <a:xfrm>
            <a:off x="0" y="0"/>
            <a:ext cx="76200" cy="9144000"/>
          </a:xfrm>
          <a:prstGeom prst="rect">
            <a:avLst/>
          </a:prstGeom>
          <a:solidFill>
            <a:srgbClr val="1A4A7A"/>
          </a:solidFill>
          <a:ln/>
        </p:spPr>
        <p:txBody>
          <a:bodyPr/>
          <a:lstStyle/>
          <a:p>
            <a:endParaRPr/>
          </a:p>
        </p:txBody>
      </p:sp>
      <p:sp>
        <p:nvSpPr>
          <p:cNvPr id="56" name="Shape 1"/>
          <p:cNvSpPr/>
          <p:nvPr/>
        </p:nvSpPr>
        <p:spPr>
          <a:xfrm>
            <a:off x="0" y="0"/>
            <a:ext cx="16256000" cy="38100"/>
          </a:xfrm>
          <a:prstGeom prst="rect">
            <a:avLst/>
          </a:prstGeom>
          <a:solidFill>
            <a:srgbClr val="1A4A7A"/>
          </a:solidFill>
          <a:ln/>
        </p:spPr>
        <p:txBody>
          <a:bodyPr/>
          <a:lstStyle/>
          <a:p>
            <a:endParaRPr/>
          </a:p>
        </p:txBody>
      </p:sp>
      <p:sp>
        <p:nvSpPr>
          <p:cNvPr id="57"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a:solidFill>
                  <a:srgbClr val="5B9BD5">
                    <a:alpha val="100000"/>
                  </a:srgbClr>
                </a:solidFill>
                <a:latin typeface="Quattrocento Sans"/>
                <a:ea typeface="Quattrocento Sans"/>
                <a:cs typeface="Quattrocento Sans"/>
              </a:rPr>
              <a:t>02 Data Processing &amp; Knowledge Graph Construction</a:t>
            </a:r>
            <a:endParaRPr/>
          </a:p>
        </p:txBody>
      </p:sp>
      <p:sp>
        <p:nvSpPr>
          <p:cNvPr id="58"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a:solidFill>
                  <a:srgbClr val="1A4A7A">
                    <a:alpha val="100000"/>
                  </a:srgbClr>
                </a:solidFill>
                <a:latin typeface="Quattrocento Sans"/>
                <a:ea typeface="Quattrocento Sans"/>
                <a:cs typeface="Quattrocento Sans"/>
              </a:rPr>
              <a:t>Knowledge Graph Construction Results</a:t>
            </a:r>
            <a:endParaRPr/>
          </a:p>
        </p:txBody>
      </p:sp>
      <p:sp>
        <p:nvSpPr>
          <p:cNvPr id="59" name="Shape 4"/>
          <p:cNvSpPr/>
          <p:nvPr/>
        </p:nvSpPr>
        <p:spPr>
          <a:xfrm>
            <a:off x="508000" y="863600"/>
            <a:ext cx="15240000" cy="12700"/>
          </a:xfrm>
          <a:prstGeom prst="rect">
            <a:avLst/>
          </a:prstGeom>
          <a:solidFill>
            <a:srgbClr val="E0E0E0"/>
          </a:solidFill>
          <a:ln/>
        </p:spPr>
        <p:txBody>
          <a:bodyPr/>
          <a:lstStyle/>
          <a:p>
            <a:endParaRPr/>
          </a:p>
        </p:txBody>
      </p:sp>
      <p:sp>
        <p:nvSpPr>
          <p:cNvPr id="60" name="Shape 5"/>
          <p:cNvSpPr/>
          <p:nvPr/>
        </p:nvSpPr>
        <p:spPr>
          <a:xfrm>
            <a:off x="508000" y="1117600"/>
            <a:ext cx="4826000" cy="1524000"/>
          </a:xfrm>
          <a:prstGeom prst="roundRect">
            <a:avLst>
              <a:gd name="adj" fmla="val 4000"/>
            </a:avLst>
          </a:prstGeom>
          <a:solidFill>
            <a:srgbClr val="1A4A7A"/>
          </a:solidFill>
          <a:ln/>
        </p:spPr>
        <p:txBody>
          <a:bodyPr/>
          <a:lstStyle/>
          <a:p>
            <a:endParaRPr/>
          </a:p>
        </p:txBody>
      </p:sp>
      <p:sp>
        <p:nvSpPr>
          <p:cNvPr id="61" name="Text 6"/>
          <p:cNvSpPr/>
          <p:nvPr/>
        </p:nvSpPr>
        <p:spPr>
          <a:xfrm>
            <a:off x="508000" y="1219200"/>
            <a:ext cx="4826000" cy="635000"/>
          </a:xfrm>
          <a:prstGeom prst="rect">
            <a:avLst/>
          </a:prstGeom>
          <a:noFill/>
          <a:ln/>
        </p:spPr>
        <p:txBody>
          <a:bodyPr wrap="none" lIns="0" tIns="0" rIns="0" bIns="0" rtlCol="0" anchor="ctr"/>
          <a:lstStyle/>
          <a:p>
            <a:pPr algn="ctr">
              <a:lnSpc>
                <a:spcPct val="100000"/>
              </a:lnSpc>
            </a:pPr>
            <a:r>
              <a:rPr lang="en-US" sz="3600" b="1" dirty="0">
                <a:solidFill>
                  <a:srgbClr val="FFFFFF"/>
                </a:solidFill>
                <a:latin typeface="Quattrocento Sans" pitchFamily="34" charset="0"/>
                <a:ea typeface="Quattrocento Sans" pitchFamily="34" charset="-122"/>
                <a:cs typeface="Quattrocento Sans" pitchFamily="34" charset="-120"/>
              </a:rPr>
              <a:t>50K</a:t>
            </a:r>
            <a:endParaRPr lang="en-US" sz="1600" dirty="0"/>
          </a:p>
        </p:txBody>
      </p:sp>
      <p:sp>
        <p:nvSpPr>
          <p:cNvPr id="62" name="Text 7"/>
          <p:cNvSpPr/>
          <p:nvPr/>
        </p:nvSpPr>
        <p:spPr>
          <a:xfrm>
            <a:off x="508000" y="1930400"/>
            <a:ext cx="4826000" cy="558800"/>
          </a:xfrm>
          <a:prstGeom prst="rect">
            <a:avLst/>
          </a:prstGeom>
          <a:noFill/>
          <a:ln/>
        </p:spPr>
        <p:txBody>
          <a:bodyPr wrap="none" lIns="0" tIns="0" rIns="0" bIns="0" rtlCol="0" anchor="ctr"/>
          <a:lstStyle/>
          <a:p>
            <a:pPr algn="ctr">
              <a:lnSpc>
                <a:spcPct val="10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Wikipedia Articles Processed</a:t>
            </a:r>
            <a:endParaRPr lang="en-US" sz="1600" dirty="0"/>
          </a:p>
        </p:txBody>
      </p:sp>
      <p:sp>
        <p:nvSpPr>
          <p:cNvPr id="63" name="Shape 8"/>
          <p:cNvSpPr/>
          <p:nvPr/>
        </p:nvSpPr>
        <p:spPr>
          <a:xfrm>
            <a:off x="5715000" y="1117600"/>
            <a:ext cx="4826000" cy="1524000"/>
          </a:xfrm>
          <a:prstGeom prst="roundRect">
            <a:avLst>
              <a:gd name="adj" fmla="val 4000"/>
            </a:avLst>
          </a:prstGeom>
          <a:solidFill>
            <a:srgbClr val="5B9BD5"/>
          </a:solidFill>
          <a:ln/>
        </p:spPr>
        <p:txBody>
          <a:bodyPr/>
          <a:lstStyle/>
          <a:p>
            <a:endParaRPr/>
          </a:p>
        </p:txBody>
      </p:sp>
      <p:sp>
        <p:nvSpPr>
          <p:cNvPr id="64" name="Text 9"/>
          <p:cNvSpPr/>
          <p:nvPr/>
        </p:nvSpPr>
        <p:spPr>
          <a:xfrm>
            <a:off x="5715000" y="1219200"/>
            <a:ext cx="4826000" cy="635000"/>
          </a:xfrm>
          <a:prstGeom prst="rect">
            <a:avLst/>
          </a:prstGeom>
          <a:noFill/>
          <a:ln/>
        </p:spPr>
        <p:txBody>
          <a:bodyPr wrap="none" lIns="0" tIns="0" rIns="0" bIns="0" rtlCol="0" anchor="ctr"/>
          <a:lstStyle/>
          <a:p>
            <a:pPr algn="ctr">
              <a:lnSpc>
                <a:spcPct val="100000"/>
              </a:lnSpc>
            </a:pPr>
            <a:r>
              <a:rPr lang="en-US" sz="3600" b="1" dirty="0">
                <a:solidFill>
                  <a:srgbClr val="FFFFFF"/>
                </a:solidFill>
                <a:latin typeface="Quattrocento Sans" pitchFamily="34" charset="0"/>
                <a:ea typeface="Quattrocento Sans" pitchFamily="34" charset="-122"/>
                <a:cs typeface="Quattrocento Sans" pitchFamily="34" charset="-120"/>
              </a:rPr>
              <a:t>153,331</a:t>
            </a:r>
            <a:endParaRPr lang="en-US" sz="1600" dirty="0"/>
          </a:p>
        </p:txBody>
      </p:sp>
      <p:sp>
        <p:nvSpPr>
          <p:cNvPr id="65" name="Text 10"/>
          <p:cNvSpPr/>
          <p:nvPr/>
        </p:nvSpPr>
        <p:spPr>
          <a:xfrm>
            <a:off x="5715000" y="1930400"/>
            <a:ext cx="4826000" cy="558800"/>
          </a:xfrm>
          <a:prstGeom prst="rect">
            <a:avLst/>
          </a:prstGeom>
          <a:noFill/>
          <a:ln/>
        </p:spPr>
        <p:txBody>
          <a:bodyPr wrap="none" lIns="0" tIns="0" rIns="0" bIns="0" rtlCol="0" anchor="ctr"/>
          <a:lstStyle/>
          <a:p>
            <a:pPr algn="ctr">
              <a:lnSpc>
                <a:spcPct val="10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Entities (Vertices)</a:t>
            </a:r>
            <a:endParaRPr lang="en-US" sz="1600" dirty="0"/>
          </a:p>
        </p:txBody>
      </p:sp>
      <p:sp>
        <p:nvSpPr>
          <p:cNvPr id="66" name="Shape 11"/>
          <p:cNvSpPr/>
          <p:nvPr/>
        </p:nvSpPr>
        <p:spPr>
          <a:xfrm>
            <a:off x="10922000" y="1117600"/>
            <a:ext cx="4826000" cy="1524000"/>
          </a:xfrm>
          <a:prstGeom prst="roundRect">
            <a:avLst>
              <a:gd name="adj" fmla="val 4000"/>
            </a:avLst>
          </a:prstGeom>
          <a:solidFill>
            <a:srgbClr val="2E86C1"/>
          </a:solidFill>
          <a:ln/>
        </p:spPr>
        <p:txBody>
          <a:bodyPr/>
          <a:lstStyle/>
          <a:p>
            <a:endParaRPr/>
          </a:p>
        </p:txBody>
      </p:sp>
      <p:sp>
        <p:nvSpPr>
          <p:cNvPr id="67" name="Text 12"/>
          <p:cNvSpPr/>
          <p:nvPr/>
        </p:nvSpPr>
        <p:spPr>
          <a:xfrm>
            <a:off x="10922000" y="1219200"/>
            <a:ext cx="4826000" cy="635000"/>
          </a:xfrm>
          <a:prstGeom prst="rect">
            <a:avLst/>
          </a:prstGeom>
          <a:noFill/>
          <a:ln/>
        </p:spPr>
        <p:txBody>
          <a:bodyPr wrap="none" lIns="0" tIns="0" rIns="0" bIns="0" rtlCol="0" anchor="ctr"/>
          <a:lstStyle/>
          <a:p>
            <a:pPr algn="ctr">
              <a:lnSpc>
                <a:spcPct val="100000"/>
              </a:lnSpc>
            </a:pPr>
            <a:r>
              <a:rPr lang="en-US" sz="3600" b="1" dirty="0">
                <a:solidFill>
                  <a:srgbClr val="FFFFFF"/>
                </a:solidFill>
                <a:latin typeface="Quattrocento Sans" pitchFamily="34" charset="0"/>
                <a:ea typeface="Quattrocento Sans" pitchFamily="34" charset="-122"/>
                <a:cs typeface="Quattrocento Sans" pitchFamily="34" charset="-120"/>
              </a:rPr>
              <a:t>114,896</a:t>
            </a:r>
            <a:endParaRPr lang="en-US" sz="1600" dirty="0"/>
          </a:p>
        </p:txBody>
      </p:sp>
      <p:sp>
        <p:nvSpPr>
          <p:cNvPr id="68" name="Text 13"/>
          <p:cNvSpPr/>
          <p:nvPr/>
        </p:nvSpPr>
        <p:spPr>
          <a:xfrm>
            <a:off x="10922000" y="1930400"/>
            <a:ext cx="4826000" cy="558800"/>
          </a:xfrm>
          <a:prstGeom prst="rect">
            <a:avLst/>
          </a:prstGeom>
          <a:noFill/>
          <a:ln/>
        </p:spPr>
        <p:txBody>
          <a:bodyPr wrap="none" lIns="0" tIns="0" rIns="0" bIns="0" rtlCol="0" anchor="ctr"/>
          <a:lstStyle/>
          <a:p>
            <a:pPr algn="ctr">
              <a:lnSpc>
                <a:spcPct val="100000"/>
              </a:lnSpc>
            </a:pPr>
            <a:r>
              <a:rPr lang="en-US" sz="1600" dirty="0">
                <a:solidFill>
                  <a:srgbClr val="FFFFFF">
                    <a:alpha val="80000"/>
                  </a:srgbClr>
                </a:solidFill>
                <a:latin typeface="Quattrocento Sans" pitchFamily="34" charset="0"/>
                <a:ea typeface="Quattrocento Sans" pitchFamily="34" charset="-122"/>
                <a:cs typeface="Quattrocento Sans" pitchFamily="34" charset="-120"/>
              </a:rPr>
              <a:t>Relations (Edges)</a:t>
            </a:r>
            <a:endParaRPr lang="en-US" sz="1600" dirty="0"/>
          </a:p>
        </p:txBody>
      </p:sp>
      <p:graphicFrame>
        <p:nvGraphicFramePr>
          <p:cNvPr id="69" name="Chart 0"/>
          <p:cNvGraphicFramePr/>
          <p:nvPr/>
        </p:nvGraphicFramePr>
        <p:xfrm>
          <a:off x="508000" y="3302000"/>
          <a:ext cx="7112000" cy="4318000"/>
        </p:xfrm>
        <a:graphic>
          <a:graphicData uri="http://schemas.openxmlformats.org/drawingml/2006/chart">
            <c:chart xmlns:c="http://schemas.openxmlformats.org/drawingml/2006/chart" xmlns:r="http://schemas.openxmlformats.org/officeDocument/2006/relationships" r:id="rId3"/>
          </a:graphicData>
        </a:graphic>
      </p:graphicFrame>
      <p:sp>
        <p:nvSpPr>
          <p:cNvPr id="70" name="Text 15"/>
          <p:cNvSpPr/>
          <p:nvPr/>
        </p:nvSpPr>
        <p:spPr>
          <a:xfrm>
            <a:off x="7620000" y="3086100"/>
            <a:ext cx="7620000" cy="355600"/>
          </a:xfrm>
          <a:prstGeom prst="rect">
            <a:avLst/>
          </a:prstGeom>
          <a:noFill/>
          <a:ln/>
        </p:spPr>
        <p:txBody>
          <a:bodyPr wrap="none" lIns="0" tIns="0" rIns="0" bIns="0" rtlCol="0" anchor="ctr"/>
          <a:lstStyle/>
          <a:p>
            <a:pPr>
              <a:lnSpc>
                <a:spcPct val="100000"/>
              </a:lnSpc>
            </a:pPr>
            <a:r>
              <a:rPr lang="en-US" sz="1800" b="1" dirty="0">
                <a:solidFill>
                  <a:srgbClr val="1A4A7A"/>
                </a:solidFill>
                <a:latin typeface="Quattrocento Sans" pitchFamily="34" charset="0"/>
                <a:ea typeface="Quattrocento Sans" pitchFamily="34" charset="-122"/>
                <a:cs typeface="Quattrocento Sans" pitchFamily="34" charset="-120"/>
              </a:rPr>
              <a:t>Source Analysis</a:t>
            </a:r>
            <a:endParaRPr lang="en-US" sz="1600" dirty="0"/>
          </a:p>
        </p:txBody>
      </p:sp>
      <p:sp>
        <p:nvSpPr>
          <p:cNvPr id="71" name="Shape 16"/>
          <p:cNvSpPr/>
          <p:nvPr/>
        </p:nvSpPr>
        <p:spPr>
          <a:xfrm>
            <a:off x="7620000" y="3517900"/>
            <a:ext cx="2540000" cy="25400"/>
          </a:xfrm>
          <a:prstGeom prst="rect">
            <a:avLst/>
          </a:prstGeom>
          <a:solidFill>
            <a:srgbClr val="5B9BD5"/>
          </a:solidFill>
          <a:ln/>
        </p:spPr>
        <p:txBody>
          <a:bodyPr/>
          <a:lstStyle/>
          <a:p>
            <a:endParaRPr/>
          </a:p>
        </p:txBody>
      </p:sp>
      <p:sp>
        <p:nvSpPr>
          <p:cNvPr id="72" name="Shape 17"/>
          <p:cNvSpPr/>
          <p:nvPr/>
        </p:nvSpPr>
        <p:spPr>
          <a:xfrm>
            <a:off x="7620000" y="3721100"/>
            <a:ext cx="8128000" cy="1016000"/>
          </a:xfrm>
          <a:prstGeom prst="roundRect">
            <a:avLst>
              <a:gd name="adj" fmla="val 4000"/>
            </a:avLst>
          </a:prstGeom>
          <a:solidFill>
            <a:srgbClr val="F5F5F5"/>
          </a:solidFill>
          <a:ln/>
        </p:spPr>
        <p:txBody>
          <a:bodyPr/>
          <a:lstStyle/>
          <a:p>
            <a:endParaRPr/>
          </a:p>
        </p:txBody>
      </p:sp>
      <p:sp>
        <p:nvSpPr>
          <p:cNvPr id="73" name="Text 18"/>
          <p:cNvSpPr/>
          <p:nvPr/>
        </p:nvSpPr>
        <p:spPr>
          <a:xfrm>
            <a:off x="7741265" y="3822700"/>
            <a:ext cx="7213600" cy="812800"/>
          </a:xfrm>
          <a:prstGeom prst="rect">
            <a:avLst/>
          </a:prstGeom>
          <a:noFill/>
          <a:ln/>
        </p:spPr>
        <p:txBody>
          <a:bodyPr wrap="square" lIns="0" tIns="0" rIns="0" bIns="0" rtlCol="0" anchor="ctr"/>
          <a:lstStyle/>
          <a:p>
            <a:pPr lvl="0" algn="l">
              <a:lnSpc>
                <a:spcPct val="150000"/>
              </a:lnSpc>
              <a:defRPr/>
            </a:pPr>
            <a:r>
              <a:rPr lang="en-US" sz="1600" b="1">
                <a:solidFill>
                  <a:srgbClr val="1A4A7A">
                    <a:alpha val="100000"/>
                  </a:srgbClr>
                </a:solidFill>
                <a:latin typeface="Quattrocento Sans"/>
                <a:ea typeface="Quattrocento Sans"/>
                <a:cs typeface="Quattrocento Sans"/>
              </a:rPr>
              <a:t>DBpedia Structured (86.2%)</a:t>
            </a:r>
            <a:endParaRPr/>
          </a:p>
          <a:p>
            <a:pPr marL="0" lvl="0" indent="0" algn="l" defTabSz="0">
              <a:lnSpc>
                <a:spcPct val="150000"/>
              </a:lnSpc>
              <a:defRPr/>
            </a:pPr>
            <a:r>
              <a:rPr lang="en-US" sz="1600" b="1" i="0" u="none" strike="noStrike">
                <a:solidFill>
                  <a:srgbClr val="1A4A7A">
                    <a:alpha val="100000"/>
                  </a:srgbClr>
                </a:solidFill>
                <a:latin typeface="Quattrocento Sans"/>
                <a:ea typeface="Quattrocento Sans"/>
                <a:cs typeface="Quattrocento Sans"/>
                <a:hlinkClick r:id="" action="ppaction://noaction"/>
              </a:rPr>
              <a:t>Text Dynamic Extraction (13.8%)</a:t>
            </a:r>
            <a:endParaRPr/>
          </a:p>
        </p:txBody>
      </p:sp>
      <p:sp>
        <p:nvSpPr>
          <p:cNvPr id="74" name="Text 20"/>
          <p:cNvSpPr/>
          <p:nvPr/>
        </p:nvSpPr>
        <p:spPr>
          <a:xfrm>
            <a:off x="8331200" y="5016500"/>
            <a:ext cx="7213600" cy="812800"/>
          </a:xfrm>
          <a:prstGeom prst="rect">
            <a:avLst/>
          </a:prstGeom>
          <a:noFill/>
          <a:ln/>
        </p:spPr>
        <p:txBody>
          <a:bodyPr wrap="square" lIns="0" tIns="0" rIns="0" bIns="0" rtlCol="0" anchor="ctr"/>
          <a:lstStyle/>
          <a:p>
            <a:pPr>
              <a:lnSpc>
                <a:spcPct val="150000"/>
              </a:lnSpc>
            </a:pPr>
            <a:endParaRPr lang="en-US" sz="1600" b="1">
              <a:solidFill>
                <a:srgbClr val="5B9BD5">
                  <a:alpha val="100000"/>
                </a:srgbClr>
              </a:solidFill>
              <a:latin typeface="Quattrocento Sans"/>
              <a:ea typeface="Quattrocento Sans"/>
              <a:cs typeface="Quattrocento Sans"/>
            </a:endParaRPr>
          </a:p>
        </p:txBody>
      </p:sp>
      <p:sp>
        <p:nvSpPr>
          <p:cNvPr id="75" name="Shape 21"/>
          <p:cNvSpPr/>
          <p:nvPr/>
        </p:nvSpPr>
        <p:spPr>
          <a:xfrm>
            <a:off x="7620000" y="4889500"/>
            <a:ext cx="8034145" cy="4023105"/>
          </a:xfrm>
          <a:prstGeom prst="roundRect">
            <a:avLst>
              <a:gd name="adj" fmla="val 4000"/>
            </a:avLst>
          </a:prstGeom>
          <a:solidFill>
            <a:srgbClr val="E3F0FA"/>
          </a:solidFill>
          <a:ln/>
        </p:spPr>
        <p:txBody>
          <a:bodyPr/>
          <a:lstStyle/>
          <a:p>
            <a:endParaRPr/>
          </a:p>
        </p:txBody>
      </p:sp>
      <p:sp>
        <p:nvSpPr>
          <p:cNvPr id="76" name="Text 22"/>
          <p:cNvSpPr/>
          <p:nvPr/>
        </p:nvSpPr>
        <p:spPr>
          <a:xfrm>
            <a:off x="7822418" y="4914900"/>
            <a:ext cx="7709682" cy="3997704"/>
          </a:xfrm>
          <a:prstGeom prst="rect">
            <a:avLst/>
          </a:prstGeom>
          <a:noFill/>
          <a:ln/>
        </p:spPr>
        <p:txBody>
          <a:bodyPr wrap="square" lIns="0" tIns="0" rIns="0" bIns="0" rtlCol="0" anchor="ctr"/>
          <a:lstStyle/>
          <a:p>
            <a:pPr>
              <a:lnSpc>
                <a:spcPct val="150000"/>
              </a:lnSpc>
            </a:pPr>
            <a:r>
              <a:rPr lang="en-US" sz="1600" b="1">
                <a:solidFill>
                  <a:srgbClr val="1A4A7A">
                    <a:alpha val="100000"/>
                  </a:srgbClr>
                </a:solidFill>
                <a:latin typeface="Quattrocento Sans"/>
                <a:ea typeface="Quattrocento Sans"/>
                <a:cs typeface="Quattrocento Sans"/>
              </a:rPr>
              <a:t>Key Insight:</a:t>
            </a:r>
            <a:endParaRPr/>
          </a:p>
          <a:p>
            <a:pPr>
              <a:lnSpc>
                <a:spcPct val="150000"/>
              </a:lnSpc>
            </a:pPr>
            <a:r>
              <a:rPr lang="en-US" sz="1600" b="1">
                <a:solidFill>
                  <a:srgbClr val="1A4A7A">
                    <a:alpha val="100000"/>
                  </a:srgbClr>
                </a:solidFill>
                <a:latin typeface="Quattrocento Sans"/>
                <a:ea typeface="Quattrocento Sans"/>
                <a:cs typeface="Quattrocento Sans"/>
              </a:rPr>
              <a:t>The hybrid fusion of curated structured seeds and dynamically extracted text triples generated a topological structure. This validated the scalability of our Spark pipeline.</a:t>
            </a:r>
            <a:endParaRPr/>
          </a:p>
          <a:p>
            <a:pPr>
              <a:lnSpc>
                <a:spcPct val="150000"/>
              </a:lnSpc>
            </a:pPr>
            <a:endParaRPr lang="en-US" sz="1600" b="1">
              <a:solidFill>
                <a:srgbClr val="1A4A7A">
                  <a:alpha val="100000"/>
                </a:srgbClr>
              </a:solidFill>
              <a:latin typeface="Quattrocento Sans"/>
              <a:ea typeface="Quattrocento Sans"/>
              <a:cs typeface="Quattrocento Sans"/>
            </a:endParaRPr>
          </a:p>
          <a:p>
            <a:pPr>
              <a:lnSpc>
                <a:spcPct val="150000"/>
              </a:lnSpc>
            </a:pPr>
            <a:r>
              <a:rPr lang="en-US" sz="1600" b="1">
                <a:solidFill>
                  <a:srgbClr val="1A4A7A">
                    <a:alpha val="100000"/>
                  </a:srgbClr>
                </a:solidFill>
                <a:latin typeface="Quattrocento Sans"/>
                <a:ea typeface="Quattrocento Sans"/>
                <a:cs typeface="Quattrocento Sans"/>
              </a:rPr>
              <a:t>The current extraction rules are too strict, resulting in 86% of relationships relying on external DBpedia seeds, with an average extraction rate of only 0.32 per article and an excessively low semantic network density.</a:t>
            </a:r>
            <a:endParaRPr/>
          </a:p>
          <a:p>
            <a:pPr>
              <a:lnSpc>
                <a:spcPct val="150000"/>
              </a:lnSpc>
            </a:pPr>
            <a:endParaRPr lang="en-US" sz="1600" b="1">
              <a:solidFill>
                <a:srgbClr val="1A4A7A">
                  <a:alpha val="100000"/>
                </a:srgbClr>
              </a:solidFill>
              <a:latin typeface="Quattrocento Sans"/>
              <a:ea typeface="Quattrocento Sans"/>
              <a:cs typeface="Quattrocento Sans"/>
            </a:endParaRPr>
          </a:p>
          <a:p>
            <a:pPr>
              <a:lnSpc>
                <a:spcPct val="150000"/>
              </a:lnSpc>
            </a:pPr>
            <a:r>
              <a:rPr lang="en-US" sz="1600" b="1">
                <a:solidFill>
                  <a:srgbClr val="1A4A7A">
                    <a:alpha val="100000"/>
                  </a:srgbClr>
                </a:solidFill>
                <a:latin typeface="Quattrocento Sans"/>
                <a:ea typeface="Quattrocento Sans"/>
                <a:cs typeface="Quattrocento Sans"/>
              </a:rPr>
              <a:t>We are optimizing the logic to increase the density of endogenous triples while preserving semantic relationships, thereby supporting GraphRAG’s multi-hop reasoning and deep path discovery.</a:t>
            </a:r>
            <a:endParaRPr/>
          </a:p>
        </p:txBody>
      </p:sp>
      <p:sp>
        <p:nvSpPr>
          <p:cNvPr id="77" name="Text 23"/>
          <p:cNvSpPr/>
          <p:nvPr/>
        </p:nvSpPr>
        <p:spPr>
          <a:xfrm>
            <a:off x="15240000" y="84201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14</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6F9FC"/>
        </a:solidFill>
        <a:effectLst/>
      </p:bgPr>
    </p:bg>
    <p:spTree>
      <p:nvGrpSpPr>
        <p:cNvPr id="1" name=""/>
        <p:cNvGrpSpPr/>
        <p:nvPr/>
      </p:nvGrpSpPr>
      <p:grpSpPr>
        <a:xfrm>
          <a:off x="0" y="0"/>
          <a:ext cx="0" cy="0"/>
          <a:chOff x="0" y="0"/>
          <a:chExt cx="0" cy="0"/>
        </a:xfrm>
      </p:grpSpPr>
      <p:sp>
        <p:nvSpPr>
          <p:cNvPr id="79" name="Shape 0"/>
          <p:cNvSpPr/>
          <p:nvPr/>
        </p:nvSpPr>
        <p:spPr>
          <a:xfrm>
            <a:off x="0" y="0"/>
            <a:ext cx="76200" cy="9144000"/>
          </a:xfrm>
          <a:prstGeom prst="rect">
            <a:avLst/>
          </a:prstGeom>
          <a:solidFill>
            <a:srgbClr val="1A4A7A"/>
          </a:solidFill>
          <a:ln/>
        </p:spPr>
        <p:txBody>
          <a:bodyPr/>
          <a:lstStyle/>
          <a:p>
            <a:endParaRPr/>
          </a:p>
        </p:txBody>
      </p:sp>
      <p:sp>
        <p:nvSpPr>
          <p:cNvPr id="80" name="Shape 1"/>
          <p:cNvSpPr/>
          <p:nvPr/>
        </p:nvSpPr>
        <p:spPr>
          <a:xfrm>
            <a:off x="6096000" y="1778000"/>
            <a:ext cx="12700" cy="5588000"/>
          </a:xfrm>
          <a:prstGeom prst="rect">
            <a:avLst/>
          </a:prstGeom>
          <a:solidFill>
            <a:srgbClr val="E0E0E0"/>
          </a:solidFill>
          <a:ln/>
        </p:spPr>
        <p:txBody>
          <a:bodyPr/>
          <a:lstStyle/>
          <a:p>
            <a:endParaRPr/>
          </a:p>
        </p:txBody>
      </p:sp>
      <p:sp>
        <p:nvSpPr>
          <p:cNvPr id="81" name="Text 2"/>
          <p:cNvSpPr/>
          <p:nvPr/>
        </p:nvSpPr>
        <p:spPr>
          <a:xfrm>
            <a:off x="762000" y="2540000"/>
            <a:ext cx="4826000" cy="2540000"/>
          </a:xfrm>
          <a:prstGeom prst="rect">
            <a:avLst/>
          </a:prstGeom>
          <a:noFill/>
          <a:ln/>
        </p:spPr>
        <p:txBody>
          <a:bodyPr wrap="none" lIns="0" tIns="0" rIns="0" bIns="0" rtlCol="0" anchor="ctr"/>
          <a:lstStyle/>
          <a:p>
            <a:pPr algn="ctr">
              <a:lnSpc>
                <a:spcPct val="100000"/>
              </a:lnSpc>
            </a:pPr>
            <a:r>
              <a:rPr lang="en-US" sz="12000" dirty="0">
                <a:solidFill>
                  <a:srgbClr val="5B9BD5"/>
                </a:solidFill>
                <a:latin typeface="Quattrocento Sans" pitchFamily="34" charset="0"/>
                <a:ea typeface="Quattrocento Sans" pitchFamily="34" charset="-122"/>
                <a:cs typeface="Quattrocento Sans" pitchFamily="34" charset="-120"/>
              </a:rPr>
              <a:t>03</a:t>
            </a:r>
            <a:endParaRPr lang="en-US" sz="1600" dirty="0"/>
          </a:p>
        </p:txBody>
      </p:sp>
      <p:sp>
        <p:nvSpPr>
          <p:cNvPr id="82" name="Text 3"/>
          <p:cNvSpPr/>
          <p:nvPr/>
        </p:nvSpPr>
        <p:spPr>
          <a:xfrm>
            <a:off x="762000" y="5080000"/>
            <a:ext cx="4826000" cy="355600"/>
          </a:xfrm>
          <a:prstGeom prst="rect">
            <a:avLst/>
          </a:prstGeom>
          <a:noFill/>
          <a:ln/>
        </p:spPr>
        <p:txBody>
          <a:bodyPr wrap="none" lIns="0" tIns="0" rIns="0" bIns="0" rtlCol="0" anchor="ctr"/>
          <a:lstStyle/>
          <a:p>
            <a:pPr algn="ctr">
              <a:lnSpc>
                <a:spcPct val="100000"/>
              </a:lnSpc>
            </a:pPr>
            <a:r>
              <a:rPr lang="en-US" sz="1600" kern="0" spc="400" dirty="0">
                <a:solidFill>
                  <a:srgbClr val="5B9BD5"/>
                </a:solidFill>
                <a:latin typeface="Quattrocento Sans" pitchFamily="34" charset="0"/>
                <a:ea typeface="Quattrocento Sans" pitchFamily="34" charset="-122"/>
                <a:cs typeface="Quattrocento Sans" pitchFamily="34" charset="-120"/>
              </a:rPr>
              <a:t>CHAPTER THREE</a:t>
            </a:r>
            <a:endParaRPr lang="en-US" sz="1600" dirty="0"/>
          </a:p>
        </p:txBody>
      </p:sp>
      <p:sp>
        <p:nvSpPr>
          <p:cNvPr id="83" name="Text 4"/>
          <p:cNvSpPr/>
          <p:nvPr/>
        </p:nvSpPr>
        <p:spPr>
          <a:xfrm>
            <a:off x="6604000" y="3454400"/>
            <a:ext cx="8890000" cy="711200"/>
          </a:xfrm>
          <a:prstGeom prst="rect">
            <a:avLst/>
          </a:prstGeom>
          <a:noFill/>
          <a:ln/>
        </p:spPr>
        <p:txBody>
          <a:bodyPr wrap="none" lIns="0" tIns="0" rIns="0" bIns="0" rtlCol="0" anchor="ctr"/>
          <a:lstStyle/>
          <a:p>
            <a:pPr>
              <a:lnSpc>
                <a:spcPct val="100000"/>
              </a:lnSpc>
            </a:pPr>
            <a:r>
              <a:rPr lang="en-US" sz="3600" b="1" dirty="0">
                <a:solidFill>
                  <a:srgbClr val="1A4A7A"/>
                </a:solidFill>
                <a:latin typeface="Quattrocento Sans" pitchFamily="34" charset="0"/>
                <a:ea typeface="Quattrocento Sans" pitchFamily="34" charset="-122"/>
                <a:cs typeface="Quattrocento Sans" pitchFamily="34" charset="-120"/>
              </a:rPr>
              <a:t>Graph Analytics</a:t>
            </a:r>
            <a:endParaRPr lang="en-US" sz="1600" dirty="0"/>
          </a:p>
        </p:txBody>
      </p:sp>
      <p:sp>
        <p:nvSpPr>
          <p:cNvPr id="84" name="Text 5"/>
          <p:cNvSpPr/>
          <p:nvPr/>
        </p:nvSpPr>
        <p:spPr>
          <a:xfrm>
            <a:off x="6604000" y="5080000"/>
            <a:ext cx="8890000" cy="355600"/>
          </a:xfrm>
          <a:prstGeom prst="rect">
            <a:avLst/>
          </a:prstGeom>
          <a:noFill/>
          <a:ln/>
        </p:spPr>
        <p:txBody>
          <a:bodyPr wrap="none" lIns="0" tIns="0" rIns="0" bIns="0" rtlCol="0" anchor="ctr"/>
          <a:lstStyle/>
          <a:p>
            <a:pPr>
              <a:lnSpc>
                <a:spcPct val="100000"/>
              </a:lnSpc>
            </a:pPr>
            <a:r>
              <a:rPr lang="en-US" sz="1800" dirty="0">
                <a:solidFill>
                  <a:srgbClr val="AAAAAA"/>
                </a:solidFill>
                <a:latin typeface="Quattrocento Sans" pitchFamily="34" charset="0"/>
                <a:ea typeface="Quattrocento Sans" pitchFamily="34" charset="-122"/>
                <a:cs typeface="Quattrocento Sans" pitchFamily="34" charset="-120"/>
              </a:rPr>
              <a:t>PageRank, Louvain Community Detection &amp; Scalability Validation</a:t>
            </a:r>
            <a:endParaRPr lang="en-US" sz="1600" dirty="0"/>
          </a:p>
        </p:txBody>
      </p:sp>
      <p:sp>
        <p:nvSpPr>
          <p:cNvPr id="85" name="Text 10"/>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15</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圖片 7">
            <a:extLst>
              <a:ext uri="{FF2B5EF4-FFF2-40B4-BE49-F238E27FC236}">
                <a16:creationId xmlns:a16="http://schemas.microsoft.com/office/drawing/2014/main" id="{4AF1F99E-D3C3-49A8-665B-1EC4A3111846}"/>
              </a:ext>
            </a:extLst>
          </p:cNvPr>
          <p:cNvPicPr>
            <a:picLocks noChangeAspect="1"/>
          </p:cNvPicPr>
          <p:nvPr/>
        </p:nvPicPr>
        <p:blipFill>
          <a:blip r:embed="rId2">
            <a:extLst>
              <a:ext uri="{28A0092B-C50C-407E-A947-70E740481C1C}">
                <a14:useLocalDpi xmlns:a14="http://schemas.microsoft.com/office/drawing/2010/main" val="0"/>
              </a:ext>
            </a:extLst>
          </a:blip>
          <a:srcRect r="12055" b="5400"/>
          <a:stretch>
            <a:fillRect/>
          </a:stretch>
        </p:blipFill>
        <p:spPr>
          <a:xfrm>
            <a:off x="0" y="0"/>
            <a:ext cx="16256000" cy="9144000"/>
          </a:xfrm>
          <a:prstGeom prst="rect">
            <a:avLst/>
          </a:prstGeom>
        </p:spPr>
      </p:pic>
      <p:sp>
        <p:nvSpPr>
          <p:cNvPr id="9" name="矩形 8">
            <a:extLst>
              <a:ext uri="{FF2B5EF4-FFF2-40B4-BE49-F238E27FC236}">
                <a16:creationId xmlns:a16="http://schemas.microsoft.com/office/drawing/2014/main" id="{0768E85F-54DC-08DC-17E0-2AAC849FBD63}"/>
              </a:ext>
            </a:extLst>
          </p:cNvPr>
          <p:cNvSpPr/>
          <p:nvPr/>
        </p:nvSpPr>
        <p:spPr>
          <a:xfrm>
            <a:off x="11165101" y="798576"/>
            <a:ext cx="3131127" cy="52647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Tree>
    <p:extLst>
      <p:ext uri="{BB962C8B-B14F-4D97-AF65-F5344CB8AC3E}">
        <p14:creationId xmlns:p14="http://schemas.microsoft.com/office/powerpoint/2010/main" val="3678038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CD4FBD2-FCB8-F15A-9DA8-C7B56E39A593}"/>
              </a:ext>
            </a:extLst>
          </p:cNvPr>
          <p:cNvPicPr>
            <a:picLocks noChangeAspect="1"/>
          </p:cNvPicPr>
          <p:nvPr/>
        </p:nvPicPr>
        <p:blipFill>
          <a:blip r:embed="rId2">
            <a:extLst>
              <a:ext uri="{28A0092B-C50C-407E-A947-70E740481C1C}">
                <a14:useLocalDpi xmlns:a14="http://schemas.microsoft.com/office/drawing/2010/main" val="0"/>
              </a:ext>
            </a:extLst>
          </a:blip>
          <a:srcRect r="12241" b="5280"/>
          <a:stretch>
            <a:fillRect/>
          </a:stretch>
        </p:blipFill>
        <p:spPr>
          <a:xfrm>
            <a:off x="246304" y="138545"/>
            <a:ext cx="16009696" cy="9005455"/>
          </a:xfrm>
          <a:prstGeom prst="rect">
            <a:avLst/>
          </a:prstGeom>
        </p:spPr>
      </p:pic>
      <p:pic>
        <p:nvPicPr>
          <p:cNvPr id="4" name="圖片 3">
            <a:extLst>
              <a:ext uri="{FF2B5EF4-FFF2-40B4-BE49-F238E27FC236}">
                <a16:creationId xmlns:a16="http://schemas.microsoft.com/office/drawing/2014/main" id="{D12512CF-67AB-7BD0-8A48-EF0D800FF14A}"/>
              </a:ext>
            </a:extLst>
          </p:cNvPr>
          <p:cNvPicPr>
            <a:picLocks noChangeAspect="1"/>
          </p:cNvPicPr>
          <p:nvPr/>
        </p:nvPicPr>
        <p:blipFill>
          <a:blip r:embed="rId3"/>
          <a:srcRect l="51652" t="8226" r="198" b="3137"/>
          <a:stretch>
            <a:fillRect/>
          </a:stretch>
        </p:blipFill>
        <p:spPr>
          <a:xfrm>
            <a:off x="7727124" y="2944922"/>
            <a:ext cx="7525068" cy="3563617"/>
          </a:xfrm>
          <a:prstGeom prst="rect">
            <a:avLst/>
          </a:prstGeom>
        </p:spPr>
      </p:pic>
      <p:sp>
        <p:nvSpPr>
          <p:cNvPr id="5" name="矩形 4">
            <a:extLst>
              <a:ext uri="{FF2B5EF4-FFF2-40B4-BE49-F238E27FC236}">
                <a16:creationId xmlns:a16="http://schemas.microsoft.com/office/drawing/2014/main" id="{7EB72591-235F-5B92-07D2-99A9EB445C7D}"/>
              </a:ext>
            </a:extLst>
          </p:cNvPr>
          <p:cNvSpPr/>
          <p:nvPr/>
        </p:nvSpPr>
        <p:spPr>
          <a:xfrm>
            <a:off x="12878569" y="1015260"/>
            <a:ext cx="3131127" cy="52647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Tree>
    <p:extLst>
      <p:ext uri="{BB962C8B-B14F-4D97-AF65-F5344CB8AC3E}">
        <p14:creationId xmlns:p14="http://schemas.microsoft.com/office/powerpoint/2010/main" val="591150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EFE6647A-2C4E-0528-BAF4-D1164DF08243}"/>
              </a:ext>
            </a:extLst>
          </p:cNvPr>
          <p:cNvPicPr>
            <a:picLocks noChangeAspect="1"/>
          </p:cNvPicPr>
          <p:nvPr/>
        </p:nvPicPr>
        <p:blipFill>
          <a:blip r:embed="rId2">
            <a:extLst>
              <a:ext uri="{28A0092B-C50C-407E-A947-70E740481C1C}">
                <a14:useLocalDpi xmlns:a14="http://schemas.microsoft.com/office/drawing/2010/main" val="0"/>
              </a:ext>
            </a:extLst>
          </a:blip>
          <a:srcRect r="12093" b="5577"/>
          <a:stretch>
            <a:fillRect/>
          </a:stretch>
        </p:blipFill>
        <p:spPr>
          <a:xfrm>
            <a:off x="0" y="-1"/>
            <a:ext cx="16256000" cy="9144001"/>
          </a:xfrm>
          <a:prstGeom prst="rect">
            <a:avLst/>
          </a:prstGeom>
        </p:spPr>
      </p:pic>
      <p:pic>
        <p:nvPicPr>
          <p:cNvPr id="4" name="圖片 3">
            <a:extLst>
              <a:ext uri="{FF2B5EF4-FFF2-40B4-BE49-F238E27FC236}">
                <a16:creationId xmlns:a16="http://schemas.microsoft.com/office/drawing/2014/main" id="{85DE12D5-6FC4-2D12-9217-61B07285A561}"/>
              </a:ext>
            </a:extLst>
          </p:cNvPr>
          <p:cNvPicPr>
            <a:picLocks noChangeAspect="1"/>
          </p:cNvPicPr>
          <p:nvPr/>
        </p:nvPicPr>
        <p:blipFill>
          <a:blip r:embed="rId3"/>
          <a:srcRect t="8081" r="-289"/>
          <a:stretch>
            <a:fillRect/>
          </a:stretch>
        </p:blipFill>
        <p:spPr>
          <a:xfrm>
            <a:off x="7293956" y="2785765"/>
            <a:ext cx="7885083" cy="3572467"/>
          </a:xfrm>
          <a:prstGeom prst="rect">
            <a:avLst/>
          </a:prstGeom>
        </p:spPr>
      </p:pic>
      <p:sp>
        <p:nvSpPr>
          <p:cNvPr id="5" name="矩形 4">
            <a:extLst>
              <a:ext uri="{FF2B5EF4-FFF2-40B4-BE49-F238E27FC236}">
                <a16:creationId xmlns:a16="http://schemas.microsoft.com/office/drawing/2014/main" id="{77E8CEA8-D544-D874-9CCC-ED41DB30C4EB}"/>
              </a:ext>
            </a:extLst>
          </p:cNvPr>
          <p:cNvSpPr/>
          <p:nvPr/>
        </p:nvSpPr>
        <p:spPr>
          <a:xfrm>
            <a:off x="12701293" y="866409"/>
            <a:ext cx="3131127" cy="52647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Tree>
    <p:extLst>
      <p:ext uri="{BB962C8B-B14F-4D97-AF65-F5344CB8AC3E}">
        <p14:creationId xmlns:p14="http://schemas.microsoft.com/office/powerpoint/2010/main" val="1980102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id="{95A097D1-5A57-724D-105C-BE20C09081E8}"/>
              </a:ext>
            </a:extLst>
          </p:cNvPr>
          <p:cNvPicPr>
            <a:picLocks noChangeAspect="1"/>
          </p:cNvPicPr>
          <p:nvPr/>
        </p:nvPicPr>
        <p:blipFill>
          <a:blip r:embed="rId2">
            <a:extLst>
              <a:ext uri="{28A0092B-C50C-407E-A947-70E740481C1C}">
                <a14:useLocalDpi xmlns:a14="http://schemas.microsoft.com/office/drawing/2010/main" val="0"/>
              </a:ext>
            </a:extLst>
          </a:blip>
          <a:srcRect r="13580" b="4800"/>
          <a:stretch>
            <a:fillRect/>
          </a:stretch>
        </p:blipFill>
        <p:spPr>
          <a:xfrm>
            <a:off x="0" y="1"/>
            <a:ext cx="16256000" cy="9143999"/>
          </a:xfrm>
          <a:prstGeom prst="rect">
            <a:avLst/>
          </a:prstGeom>
        </p:spPr>
      </p:pic>
      <p:pic>
        <p:nvPicPr>
          <p:cNvPr id="8" name="圖片 7">
            <a:extLst>
              <a:ext uri="{FF2B5EF4-FFF2-40B4-BE49-F238E27FC236}">
                <a16:creationId xmlns:a16="http://schemas.microsoft.com/office/drawing/2014/main" id="{1FABA945-882C-5272-E205-50933CC70CB6}"/>
              </a:ext>
            </a:extLst>
          </p:cNvPr>
          <p:cNvPicPr>
            <a:picLocks noChangeAspect="1"/>
          </p:cNvPicPr>
          <p:nvPr/>
        </p:nvPicPr>
        <p:blipFill>
          <a:blip r:embed="rId3"/>
          <a:stretch>
            <a:fillRect/>
          </a:stretch>
        </p:blipFill>
        <p:spPr>
          <a:xfrm>
            <a:off x="8418816" y="1842251"/>
            <a:ext cx="7074445" cy="2930917"/>
          </a:xfrm>
          <a:prstGeom prst="rect">
            <a:avLst/>
          </a:prstGeom>
        </p:spPr>
      </p:pic>
    </p:spTree>
    <p:extLst>
      <p:ext uri="{BB962C8B-B14F-4D97-AF65-F5344CB8AC3E}">
        <p14:creationId xmlns:p14="http://schemas.microsoft.com/office/powerpoint/2010/main" val="109820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C948BBE-D937-EF02-8A25-971ECA3CA46C}"/>
              </a:ext>
            </a:extLst>
          </p:cNvPr>
          <p:cNvPicPr>
            <a:picLocks noChangeAspect="1"/>
          </p:cNvPicPr>
          <p:nvPr/>
        </p:nvPicPr>
        <p:blipFill>
          <a:blip r:embed="rId2">
            <a:extLst>
              <a:ext uri="{28A0092B-C50C-407E-A947-70E740481C1C}">
                <a14:useLocalDpi xmlns:a14="http://schemas.microsoft.com/office/drawing/2010/main" val="0"/>
              </a:ext>
            </a:extLst>
          </a:blip>
          <a:srcRect r="12055" b="5400"/>
          <a:stretch>
            <a:fillRect/>
          </a:stretch>
        </p:blipFill>
        <p:spPr>
          <a:xfrm>
            <a:off x="-25510" y="1"/>
            <a:ext cx="16281510" cy="9144000"/>
          </a:xfrm>
          <a:prstGeom prst="rect">
            <a:avLst/>
          </a:prstGeom>
        </p:spPr>
      </p:pic>
      <p:sp>
        <p:nvSpPr>
          <p:cNvPr id="4" name="矩形 3">
            <a:extLst>
              <a:ext uri="{FF2B5EF4-FFF2-40B4-BE49-F238E27FC236}">
                <a16:creationId xmlns:a16="http://schemas.microsoft.com/office/drawing/2014/main" id="{CAA6BE71-76B6-19CD-D567-9A86A30DF83B}"/>
              </a:ext>
            </a:extLst>
          </p:cNvPr>
          <p:cNvSpPr/>
          <p:nvPr/>
        </p:nvSpPr>
        <p:spPr>
          <a:xfrm>
            <a:off x="12463549" y="944880"/>
            <a:ext cx="3131127" cy="52647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HK" altLang="en-US"/>
          </a:p>
        </p:txBody>
      </p:sp>
    </p:spTree>
    <p:extLst>
      <p:ext uri="{BB962C8B-B14F-4D97-AF65-F5344CB8AC3E}">
        <p14:creationId xmlns:p14="http://schemas.microsoft.com/office/powerpoint/2010/main" val="1138302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6F9FC"/>
        </a:solidFill>
        <a:effectLst/>
      </p:bgPr>
    </p:bg>
    <p:spTree>
      <p:nvGrpSpPr>
        <p:cNvPr id="1" name=""/>
        <p:cNvGrpSpPr/>
        <p:nvPr/>
      </p:nvGrpSpPr>
      <p:grpSpPr>
        <a:xfrm>
          <a:off x="0" y="0"/>
          <a:ext cx="0" cy="0"/>
          <a:chOff x="0" y="0"/>
          <a:chExt cx="0" cy="0"/>
        </a:xfrm>
      </p:grpSpPr>
      <p:sp>
        <p:nvSpPr>
          <p:cNvPr id="198" name="Shape 0"/>
          <p:cNvSpPr/>
          <p:nvPr/>
        </p:nvSpPr>
        <p:spPr>
          <a:xfrm>
            <a:off x="0" y="0"/>
            <a:ext cx="76200" cy="9144000"/>
          </a:xfrm>
          <a:prstGeom prst="rect">
            <a:avLst/>
          </a:prstGeom>
          <a:solidFill>
            <a:srgbClr val="1A4A7A"/>
          </a:solidFill>
          <a:ln/>
        </p:spPr>
        <p:txBody>
          <a:bodyPr/>
          <a:lstStyle/>
          <a:p>
            <a:endParaRPr/>
          </a:p>
        </p:txBody>
      </p:sp>
      <p:sp>
        <p:nvSpPr>
          <p:cNvPr id="199" name="Shape 1"/>
          <p:cNvSpPr/>
          <p:nvPr/>
        </p:nvSpPr>
        <p:spPr>
          <a:xfrm>
            <a:off x="6096000" y="1778000"/>
            <a:ext cx="12700" cy="5588000"/>
          </a:xfrm>
          <a:prstGeom prst="rect">
            <a:avLst/>
          </a:prstGeom>
          <a:solidFill>
            <a:srgbClr val="E0E0E0"/>
          </a:solidFill>
          <a:ln/>
        </p:spPr>
        <p:txBody>
          <a:bodyPr/>
          <a:lstStyle/>
          <a:p>
            <a:endParaRPr/>
          </a:p>
        </p:txBody>
      </p:sp>
      <p:sp>
        <p:nvSpPr>
          <p:cNvPr id="200" name="Text 2"/>
          <p:cNvSpPr/>
          <p:nvPr/>
        </p:nvSpPr>
        <p:spPr>
          <a:xfrm>
            <a:off x="762000" y="2540000"/>
            <a:ext cx="4826000" cy="2540000"/>
          </a:xfrm>
          <a:prstGeom prst="rect">
            <a:avLst/>
          </a:prstGeom>
          <a:noFill/>
          <a:ln/>
        </p:spPr>
        <p:txBody>
          <a:bodyPr wrap="none" lIns="0" tIns="0" rIns="0" bIns="0" rtlCol="0" anchor="ctr"/>
          <a:lstStyle/>
          <a:p>
            <a:pPr algn="ctr">
              <a:lnSpc>
                <a:spcPct val="100000"/>
              </a:lnSpc>
            </a:pPr>
            <a:r>
              <a:rPr lang="en-US" sz="12000" dirty="0">
                <a:solidFill>
                  <a:srgbClr val="5B9BD5"/>
                </a:solidFill>
                <a:latin typeface="Quattrocento Sans" pitchFamily="34" charset="0"/>
                <a:ea typeface="Quattrocento Sans" pitchFamily="34" charset="-122"/>
                <a:cs typeface="Quattrocento Sans" pitchFamily="34" charset="-120"/>
              </a:rPr>
              <a:t>04</a:t>
            </a:r>
            <a:endParaRPr lang="en-US" sz="1600" dirty="0"/>
          </a:p>
        </p:txBody>
      </p:sp>
      <p:sp>
        <p:nvSpPr>
          <p:cNvPr id="201" name="Text 3"/>
          <p:cNvSpPr/>
          <p:nvPr/>
        </p:nvSpPr>
        <p:spPr>
          <a:xfrm>
            <a:off x="762000" y="5080000"/>
            <a:ext cx="4826000" cy="355600"/>
          </a:xfrm>
          <a:prstGeom prst="rect">
            <a:avLst/>
          </a:prstGeom>
          <a:noFill/>
          <a:ln/>
        </p:spPr>
        <p:txBody>
          <a:bodyPr wrap="none" lIns="0" tIns="0" rIns="0" bIns="0" rtlCol="0" anchor="ctr"/>
          <a:lstStyle/>
          <a:p>
            <a:pPr algn="ctr">
              <a:lnSpc>
                <a:spcPct val="100000"/>
              </a:lnSpc>
            </a:pPr>
            <a:r>
              <a:rPr lang="en-US" sz="1600" kern="0" spc="400" dirty="0">
                <a:solidFill>
                  <a:srgbClr val="5B9BD5"/>
                </a:solidFill>
                <a:latin typeface="Quattrocento Sans" pitchFamily="34" charset="0"/>
                <a:ea typeface="Quattrocento Sans" pitchFamily="34" charset="-122"/>
                <a:cs typeface="Quattrocento Sans" pitchFamily="34" charset="-120"/>
              </a:rPr>
              <a:t>CHAPTER FOUR</a:t>
            </a:r>
            <a:endParaRPr lang="en-US" sz="1600" dirty="0"/>
          </a:p>
        </p:txBody>
      </p:sp>
      <p:sp>
        <p:nvSpPr>
          <p:cNvPr id="202" name="Text 4"/>
          <p:cNvSpPr/>
          <p:nvPr/>
        </p:nvSpPr>
        <p:spPr>
          <a:xfrm>
            <a:off x="6604000" y="3454400"/>
            <a:ext cx="8890000" cy="711200"/>
          </a:xfrm>
          <a:prstGeom prst="rect">
            <a:avLst/>
          </a:prstGeom>
          <a:noFill/>
          <a:ln/>
        </p:spPr>
        <p:txBody>
          <a:bodyPr wrap="none" lIns="0" tIns="0" rIns="0" bIns="0" rtlCol="0" anchor="ctr"/>
          <a:lstStyle/>
          <a:p>
            <a:pPr>
              <a:lnSpc>
                <a:spcPct val="100000"/>
              </a:lnSpc>
            </a:pPr>
            <a:r>
              <a:rPr lang="en-US" sz="3600" b="1" dirty="0">
                <a:solidFill>
                  <a:srgbClr val="1A4A7A"/>
                </a:solidFill>
                <a:latin typeface="Quattrocento Sans" pitchFamily="34" charset="0"/>
                <a:ea typeface="Quattrocento Sans" pitchFamily="34" charset="-122"/>
                <a:cs typeface="Quattrocento Sans" pitchFamily="34" charset="-120"/>
              </a:rPr>
              <a:t>RAG System — Hybrid Retrieval</a:t>
            </a:r>
            <a:endParaRPr lang="en-US" sz="1600" dirty="0"/>
          </a:p>
        </p:txBody>
      </p:sp>
      <p:sp>
        <p:nvSpPr>
          <p:cNvPr id="203" name="Text 5"/>
          <p:cNvSpPr/>
          <p:nvPr/>
        </p:nvSpPr>
        <p:spPr>
          <a:xfrm>
            <a:off x="6604000" y="5080000"/>
            <a:ext cx="8890000" cy="355600"/>
          </a:xfrm>
          <a:prstGeom prst="rect">
            <a:avLst/>
          </a:prstGeom>
          <a:noFill/>
          <a:ln/>
        </p:spPr>
        <p:txBody>
          <a:bodyPr wrap="none" lIns="0" tIns="0" rIns="0" bIns="0" rtlCol="0" anchor="ctr"/>
          <a:lstStyle/>
          <a:p>
            <a:pPr>
              <a:lnSpc>
                <a:spcPct val="100000"/>
              </a:lnSpc>
            </a:pPr>
            <a:r>
              <a:rPr lang="en-US" sz="1800" dirty="0">
                <a:solidFill>
                  <a:srgbClr val="AAAAAA"/>
                </a:solidFill>
                <a:latin typeface="Quattrocento Sans" pitchFamily="34" charset="0"/>
                <a:ea typeface="Quattrocento Sans" pitchFamily="34" charset="-122"/>
                <a:cs typeface="Quattrocento Sans" pitchFamily="34" charset="-120"/>
              </a:rPr>
              <a:t>From vector-only baseline to graph-guided evidence retrieval</a:t>
            </a:r>
            <a:endParaRPr lang="en-US" sz="1600" dirty="0"/>
          </a:p>
        </p:txBody>
      </p:sp>
      <p:sp>
        <p:nvSpPr>
          <p:cNvPr id="204" name="Text 10"/>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22</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6F9FC"/>
        </a:solidFill>
        <a:effectLst/>
      </p:bgPr>
    </p:bg>
    <p:spTree>
      <p:nvGrpSpPr>
        <p:cNvPr id="1" name=""/>
        <p:cNvGrpSpPr/>
        <p:nvPr/>
      </p:nvGrpSpPr>
      <p:grpSpPr>
        <a:xfrm>
          <a:off x="0" y="0"/>
          <a:ext cx="0" cy="0"/>
          <a:chOff x="0" y="0"/>
          <a:chExt cx="0" cy="0"/>
        </a:xfrm>
      </p:grpSpPr>
      <p:sp>
        <p:nvSpPr>
          <p:cNvPr id="206" name="Shape 0"/>
          <p:cNvSpPr/>
          <p:nvPr/>
        </p:nvSpPr>
        <p:spPr>
          <a:xfrm>
            <a:off x="0" y="0"/>
            <a:ext cx="76200" cy="9144000"/>
          </a:xfrm>
          <a:prstGeom prst="rect">
            <a:avLst/>
          </a:prstGeom>
          <a:solidFill>
            <a:srgbClr val="1A4A7A"/>
          </a:solidFill>
          <a:ln/>
        </p:spPr>
        <p:txBody>
          <a:bodyPr/>
          <a:lstStyle/>
          <a:p>
            <a:endParaRPr/>
          </a:p>
        </p:txBody>
      </p:sp>
      <p:sp>
        <p:nvSpPr>
          <p:cNvPr id="207" name="Shape 1"/>
          <p:cNvSpPr/>
          <p:nvPr/>
        </p:nvSpPr>
        <p:spPr>
          <a:xfrm>
            <a:off x="0" y="0"/>
            <a:ext cx="16256000" cy="38100"/>
          </a:xfrm>
          <a:prstGeom prst="rect">
            <a:avLst/>
          </a:prstGeom>
          <a:solidFill>
            <a:srgbClr val="1A4A7A"/>
          </a:solidFill>
          <a:ln/>
        </p:spPr>
        <p:txBody>
          <a:bodyPr/>
          <a:lstStyle/>
          <a:p>
            <a:endParaRPr/>
          </a:p>
        </p:txBody>
      </p:sp>
      <p:sp>
        <p:nvSpPr>
          <p:cNvPr id="208"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dirty="0">
                <a:solidFill>
                  <a:srgbClr val="5B9BD5"/>
                </a:solidFill>
                <a:latin typeface="Quattrocento Sans" pitchFamily="34" charset="0"/>
                <a:ea typeface="Quattrocento Sans" pitchFamily="34" charset="-122"/>
                <a:cs typeface="Quattrocento Sans" pitchFamily="34" charset="-120"/>
              </a:rPr>
              <a:t>04 RAG System — Hybrid Retrieval</a:t>
            </a:r>
            <a:endParaRPr lang="en-US" sz="1600" dirty="0"/>
          </a:p>
        </p:txBody>
      </p:sp>
      <p:sp>
        <p:nvSpPr>
          <p:cNvPr id="209"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dirty="0">
                <a:solidFill>
                  <a:srgbClr val="1A4A7A"/>
                </a:solidFill>
                <a:latin typeface="Quattrocento Sans" pitchFamily="34" charset="0"/>
                <a:ea typeface="Quattrocento Sans" pitchFamily="34" charset="-122"/>
                <a:cs typeface="Quattrocento Sans" pitchFamily="34" charset="-120"/>
              </a:rPr>
              <a:t>System Architecture Overview</a:t>
            </a:r>
            <a:endParaRPr lang="en-US" sz="1600" dirty="0"/>
          </a:p>
        </p:txBody>
      </p:sp>
      <p:sp>
        <p:nvSpPr>
          <p:cNvPr id="210" name="Shape 4"/>
          <p:cNvSpPr/>
          <p:nvPr/>
        </p:nvSpPr>
        <p:spPr>
          <a:xfrm>
            <a:off x="508000" y="863600"/>
            <a:ext cx="15240000" cy="12700"/>
          </a:xfrm>
          <a:prstGeom prst="rect">
            <a:avLst/>
          </a:prstGeom>
          <a:solidFill>
            <a:srgbClr val="E0E0E0"/>
          </a:solidFill>
          <a:ln/>
        </p:spPr>
        <p:txBody>
          <a:bodyPr/>
          <a:lstStyle/>
          <a:p>
            <a:endParaRPr/>
          </a:p>
        </p:txBody>
      </p:sp>
      <p:sp>
        <p:nvSpPr>
          <p:cNvPr id="211" name="Shape 5"/>
          <p:cNvSpPr/>
          <p:nvPr/>
        </p:nvSpPr>
        <p:spPr>
          <a:xfrm>
            <a:off x="508000" y="1117600"/>
            <a:ext cx="3556000" cy="2540000"/>
          </a:xfrm>
          <a:prstGeom prst="roundRect">
            <a:avLst>
              <a:gd name="adj" fmla="val 4000"/>
            </a:avLst>
          </a:prstGeom>
          <a:solidFill>
            <a:srgbClr val="1A4A7A"/>
          </a:solidFill>
          <a:ln/>
        </p:spPr>
        <p:txBody>
          <a:bodyPr/>
          <a:lstStyle/>
          <a:p>
            <a:endParaRPr/>
          </a:p>
        </p:txBody>
      </p:sp>
      <p:sp>
        <p:nvSpPr>
          <p:cNvPr id="212" name="Text 6"/>
          <p:cNvSpPr/>
          <p:nvPr/>
        </p:nvSpPr>
        <p:spPr>
          <a:xfrm>
            <a:off x="508000" y="1219200"/>
            <a:ext cx="3556000" cy="406400"/>
          </a:xfrm>
          <a:prstGeom prst="rect">
            <a:avLst/>
          </a:prstGeom>
          <a:noFill/>
          <a:ln/>
        </p:spPr>
        <p:txBody>
          <a:bodyPr wrap="none" lIns="0" tIns="0" rIns="0" bIns="0" rtlCol="0" anchor="ctr"/>
          <a:lstStyle/>
          <a:p>
            <a:pPr algn="ctr">
              <a:lnSpc>
                <a:spcPct val="100000"/>
              </a:lnSpc>
            </a:pPr>
            <a:r>
              <a:rPr lang="en-US" sz="1400" dirty="0">
                <a:solidFill>
                  <a:srgbClr val="FFFFFF">
                    <a:alpha val="53333"/>
                  </a:srgbClr>
                </a:solidFill>
                <a:latin typeface="Quattrocento Sans" pitchFamily="34" charset="0"/>
                <a:ea typeface="Quattrocento Sans" pitchFamily="34" charset="-122"/>
                <a:cs typeface="Quattrocento Sans" pitchFamily="34" charset="-120"/>
              </a:rPr>
              <a:t>DATA LAYER</a:t>
            </a:r>
            <a:endParaRPr lang="en-US" sz="1600" dirty="0"/>
          </a:p>
        </p:txBody>
      </p:sp>
      <p:sp>
        <p:nvSpPr>
          <p:cNvPr id="213" name="Text 7"/>
          <p:cNvSpPr/>
          <p:nvPr/>
        </p:nvSpPr>
        <p:spPr>
          <a:xfrm>
            <a:off x="711200" y="1727200"/>
            <a:ext cx="3149600" cy="1778000"/>
          </a:xfrm>
          <a:prstGeom prst="rect">
            <a:avLst/>
          </a:prstGeom>
          <a:noFill/>
          <a:ln/>
        </p:spPr>
        <p:txBody>
          <a:bodyPr wrap="square" lIns="0" tIns="0" rIns="0" bIns="0" rtlCol="0" anchor="ctr"/>
          <a:lstStyle/>
          <a:p>
            <a:pPr>
              <a:lnSpc>
                <a:spcPct val="16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 clean_articles.jsonl</a:t>
            </a:r>
            <a:endParaRPr lang="en-US" sz="1600" dirty="0"/>
          </a:p>
          <a:p>
            <a:pPr>
              <a:lnSpc>
                <a:spcPct val="16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 vertices.jsonl</a:t>
            </a:r>
            <a:endParaRPr lang="en-US" sz="1600" dirty="0"/>
          </a:p>
          <a:p>
            <a:pPr>
              <a:lnSpc>
                <a:spcPct val="16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 edges.jsonl</a:t>
            </a:r>
            <a:endParaRPr lang="en-US" sz="1600" dirty="0"/>
          </a:p>
          <a:p>
            <a:pPr>
              <a:lnSpc>
                <a:spcPct val="16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 community_summary.jsonl</a:t>
            </a:r>
            <a:endParaRPr lang="en-US" sz="1600" dirty="0"/>
          </a:p>
        </p:txBody>
      </p:sp>
      <p:sp>
        <p:nvSpPr>
          <p:cNvPr id="214" name="Shape 8"/>
          <p:cNvSpPr/>
          <p:nvPr/>
        </p:nvSpPr>
        <p:spPr>
          <a:xfrm>
            <a:off x="4216400" y="2260600"/>
            <a:ext cx="508000" cy="254000"/>
          </a:xfrm>
          <a:prstGeom prst="rightArrow">
            <a:avLst>
              <a:gd name="adj1" fmla="val 50000"/>
              <a:gd name="adj2" fmla="val 50000"/>
            </a:avLst>
          </a:prstGeom>
          <a:solidFill>
            <a:srgbClr val="5B9BD5"/>
          </a:solidFill>
          <a:ln/>
        </p:spPr>
        <p:txBody>
          <a:bodyPr/>
          <a:lstStyle/>
          <a:p>
            <a:endParaRPr/>
          </a:p>
        </p:txBody>
      </p:sp>
      <p:sp>
        <p:nvSpPr>
          <p:cNvPr id="215" name="Shape 9"/>
          <p:cNvSpPr/>
          <p:nvPr/>
        </p:nvSpPr>
        <p:spPr>
          <a:xfrm>
            <a:off x="4876800" y="1117600"/>
            <a:ext cx="3556000" cy="2540000"/>
          </a:xfrm>
          <a:prstGeom prst="roundRect">
            <a:avLst>
              <a:gd name="adj" fmla="val 4000"/>
            </a:avLst>
          </a:prstGeom>
          <a:solidFill>
            <a:srgbClr val="5B9BD5"/>
          </a:solidFill>
          <a:ln/>
        </p:spPr>
        <p:txBody>
          <a:bodyPr/>
          <a:lstStyle/>
          <a:p>
            <a:endParaRPr/>
          </a:p>
        </p:txBody>
      </p:sp>
      <p:sp>
        <p:nvSpPr>
          <p:cNvPr id="216" name="Text 10"/>
          <p:cNvSpPr/>
          <p:nvPr/>
        </p:nvSpPr>
        <p:spPr>
          <a:xfrm>
            <a:off x="4876800" y="1219200"/>
            <a:ext cx="3556000" cy="406400"/>
          </a:xfrm>
          <a:prstGeom prst="rect">
            <a:avLst/>
          </a:prstGeom>
          <a:noFill/>
          <a:ln/>
        </p:spPr>
        <p:txBody>
          <a:bodyPr wrap="none" lIns="0" tIns="0" rIns="0" bIns="0" rtlCol="0" anchor="ctr"/>
          <a:lstStyle/>
          <a:p>
            <a:pPr algn="ctr">
              <a:lnSpc>
                <a:spcPct val="100000"/>
              </a:lnSpc>
            </a:pPr>
            <a:r>
              <a:rPr lang="en-US" sz="1400" dirty="0">
                <a:solidFill>
                  <a:srgbClr val="FFFFFF">
                    <a:alpha val="53333"/>
                  </a:srgbClr>
                </a:solidFill>
                <a:latin typeface="Quattrocento Sans" pitchFamily="34" charset="0"/>
                <a:ea typeface="Quattrocento Sans" pitchFamily="34" charset="-122"/>
                <a:cs typeface="Quattrocento Sans" pitchFamily="34" charset="-120"/>
              </a:rPr>
              <a:t>INDEX LAYER</a:t>
            </a:r>
            <a:endParaRPr lang="en-US" sz="1600" dirty="0"/>
          </a:p>
        </p:txBody>
      </p:sp>
      <p:sp>
        <p:nvSpPr>
          <p:cNvPr id="217" name="Text 11"/>
          <p:cNvSpPr/>
          <p:nvPr/>
        </p:nvSpPr>
        <p:spPr>
          <a:xfrm>
            <a:off x="5080000" y="1727200"/>
            <a:ext cx="3149600" cy="1778000"/>
          </a:xfrm>
          <a:prstGeom prst="rect">
            <a:avLst/>
          </a:prstGeom>
          <a:noFill/>
          <a:ln/>
        </p:spPr>
        <p:txBody>
          <a:bodyPr wrap="square" lIns="0" tIns="0" rIns="0" bIns="0" rtlCol="0" anchor="ctr"/>
          <a:lstStyle/>
          <a:p>
            <a:pPr>
              <a:lnSpc>
                <a:spcPct val="16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 Sentence-Transformers</a:t>
            </a:r>
            <a:endParaRPr lang="en-US" sz="1600" dirty="0"/>
          </a:p>
          <a:p>
            <a:pPr>
              <a:lnSpc>
                <a:spcPct val="16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 FAISS GPU (metric=ip)</a:t>
            </a:r>
            <a:endParaRPr lang="en-US" sz="1600" dirty="0"/>
          </a:p>
          <a:p>
            <a:pPr>
              <a:lnSpc>
                <a:spcPct val="16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 Community vector index</a:t>
            </a:r>
            <a:endParaRPr lang="en-US" sz="1600" dirty="0"/>
          </a:p>
          <a:p>
            <a:pPr>
              <a:lnSpc>
                <a:spcPct val="16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 Entity-doc alignment</a:t>
            </a:r>
            <a:endParaRPr lang="en-US" sz="1600" dirty="0"/>
          </a:p>
        </p:txBody>
      </p:sp>
      <p:sp>
        <p:nvSpPr>
          <p:cNvPr id="218" name="Shape 12"/>
          <p:cNvSpPr/>
          <p:nvPr/>
        </p:nvSpPr>
        <p:spPr>
          <a:xfrm>
            <a:off x="8585200" y="2260600"/>
            <a:ext cx="508000" cy="254000"/>
          </a:xfrm>
          <a:prstGeom prst="rightArrow">
            <a:avLst>
              <a:gd name="adj1" fmla="val 50000"/>
              <a:gd name="adj2" fmla="val 50000"/>
            </a:avLst>
          </a:prstGeom>
          <a:solidFill>
            <a:srgbClr val="5B9BD5"/>
          </a:solidFill>
          <a:ln/>
        </p:spPr>
        <p:txBody>
          <a:bodyPr/>
          <a:lstStyle/>
          <a:p>
            <a:endParaRPr/>
          </a:p>
        </p:txBody>
      </p:sp>
      <p:sp>
        <p:nvSpPr>
          <p:cNvPr id="219" name="Shape 13"/>
          <p:cNvSpPr/>
          <p:nvPr/>
        </p:nvSpPr>
        <p:spPr>
          <a:xfrm>
            <a:off x="9245600" y="1117600"/>
            <a:ext cx="3556000" cy="2540000"/>
          </a:xfrm>
          <a:prstGeom prst="roundRect">
            <a:avLst>
              <a:gd name="adj" fmla="val 4000"/>
            </a:avLst>
          </a:prstGeom>
          <a:solidFill>
            <a:srgbClr val="2E86C1"/>
          </a:solidFill>
          <a:ln/>
        </p:spPr>
        <p:txBody>
          <a:bodyPr/>
          <a:lstStyle/>
          <a:p>
            <a:endParaRPr/>
          </a:p>
        </p:txBody>
      </p:sp>
      <p:sp>
        <p:nvSpPr>
          <p:cNvPr id="220" name="Text 14"/>
          <p:cNvSpPr/>
          <p:nvPr/>
        </p:nvSpPr>
        <p:spPr>
          <a:xfrm>
            <a:off x="9245600" y="1219200"/>
            <a:ext cx="3556000" cy="406400"/>
          </a:xfrm>
          <a:prstGeom prst="rect">
            <a:avLst/>
          </a:prstGeom>
          <a:noFill/>
          <a:ln/>
        </p:spPr>
        <p:txBody>
          <a:bodyPr wrap="none" lIns="0" tIns="0" rIns="0" bIns="0" rtlCol="0" anchor="ctr"/>
          <a:lstStyle/>
          <a:p>
            <a:pPr algn="ctr">
              <a:lnSpc>
                <a:spcPct val="100000"/>
              </a:lnSpc>
            </a:pPr>
            <a:r>
              <a:rPr lang="en-US" sz="1400" dirty="0">
                <a:solidFill>
                  <a:srgbClr val="FFFFFF">
                    <a:alpha val="53333"/>
                  </a:srgbClr>
                </a:solidFill>
                <a:latin typeface="Quattrocento Sans" pitchFamily="34" charset="0"/>
                <a:ea typeface="Quattrocento Sans" pitchFamily="34" charset="-122"/>
                <a:cs typeface="Quattrocento Sans" pitchFamily="34" charset="-120"/>
              </a:rPr>
              <a:t>RETRIEVAL LAYER</a:t>
            </a:r>
            <a:endParaRPr lang="en-US" sz="1600" dirty="0"/>
          </a:p>
        </p:txBody>
      </p:sp>
      <p:sp>
        <p:nvSpPr>
          <p:cNvPr id="221" name="Text 15"/>
          <p:cNvSpPr/>
          <p:nvPr/>
        </p:nvSpPr>
        <p:spPr>
          <a:xfrm>
            <a:off x="9448800" y="1727200"/>
            <a:ext cx="3149600" cy="1778000"/>
          </a:xfrm>
          <a:prstGeom prst="rect">
            <a:avLst/>
          </a:prstGeom>
          <a:noFill/>
          <a:ln/>
        </p:spPr>
        <p:txBody>
          <a:bodyPr wrap="square" lIns="0" tIns="0" rIns="0" bIns="0" rtlCol="0" anchor="ctr"/>
          <a:lstStyle/>
          <a:p>
            <a:pPr>
              <a:lnSpc>
                <a:spcPct val="16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 Vector search (FAISS)</a:t>
            </a:r>
            <a:endParaRPr lang="en-US" sz="1600" dirty="0"/>
          </a:p>
          <a:p>
            <a:pPr>
              <a:lnSpc>
                <a:spcPct val="16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 Graph expansion</a:t>
            </a:r>
            <a:endParaRPr lang="en-US" sz="1600" dirty="0"/>
          </a:p>
          <a:p>
            <a:pPr>
              <a:lnSpc>
                <a:spcPct val="16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 PageRank filtering</a:t>
            </a:r>
            <a:endParaRPr lang="en-US" sz="1600" dirty="0"/>
          </a:p>
          <a:p>
            <a:pPr>
              <a:lnSpc>
                <a:spcPct val="16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 Community expansion</a:t>
            </a:r>
            <a:endParaRPr lang="en-US" sz="1600" dirty="0"/>
          </a:p>
        </p:txBody>
      </p:sp>
      <p:sp>
        <p:nvSpPr>
          <p:cNvPr id="222" name="Shape 16"/>
          <p:cNvSpPr/>
          <p:nvPr/>
        </p:nvSpPr>
        <p:spPr>
          <a:xfrm>
            <a:off x="12954000" y="2260600"/>
            <a:ext cx="508000" cy="254000"/>
          </a:xfrm>
          <a:prstGeom prst="rightArrow">
            <a:avLst>
              <a:gd name="adj1" fmla="val 50000"/>
              <a:gd name="adj2" fmla="val 50000"/>
            </a:avLst>
          </a:prstGeom>
          <a:solidFill>
            <a:srgbClr val="5B9BD5"/>
          </a:solidFill>
          <a:ln/>
        </p:spPr>
        <p:txBody>
          <a:bodyPr/>
          <a:lstStyle/>
          <a:p>
            <a:endParaRPr/>
          </a:p>
        </p:txBody>
      </p:sp>
      <p:sp>
        <p:nvSpPr>
          <p:cNvPr id="223" name="Shape 17"/>
          <p:cNvSpPr/>
          <p:nvPr/>
        </p:nvSpPr>
        <p:spPr>
          <a:xfrm>
            <a:off x="13614400" y="1117600"/>
            <a:ext cx="2133600" cy="2540000"/>
          </a:xfrm>
          <a:prstGeom prst="roundRect">
            <a:avLst>
              <a:gd name="adj" fmla="val 4000"/>
            </a:avLst>
          </a:prstGeom>
          <a:solidFill>
            <a:srgbClr val="F5F5F5"/>
          </a:solidFill>
          <a:ln w="25400">
            <a:solidFill>
              <a:srgbClr val="1A4A7A"/>
            </a:solidFill>
            <a:prstDash val="solid"/>
          </a:ln>
        </p:spPr>
        <p:txBody>
          <a:bodyPr/>
          <a:lstStyle/>
          <a:p>
            <a:endParaRPr/>
          </a:p>
        </p:txBody>
      </p:sp>
      <p:sp>
        <p:nvSpPr>
          <p:cNvPr id="224" name="Text 18"/>
          <p:cNvSpPr/>
          <p:nvPr/>
        </p:nvSpPr>
        <p:spPr>
          <a:xfrm>
            <a:off x="13614400" y="1219200"/>
            <a:ext cx="2133600" cy="406400"/>
          </a:xfrm>
          <a:prstGeom prst="rect">
            <a:avLst/>
          </a:prstGeom>
          <a:noFill/>
          <a:ln/>
        </p:spPr>
        <p:txBody>
          <a:bodyPr wrap="none" lIns="0" tIns="0" rIns="0" bIns="0" rtlCol="0" anchor="ctr"/>
          <a:lstStyle/>
          <a:p>
            <a:pPr algn="ctr">
              <a:lnSpc>
                <a:spcPct val="100000"/>
              </a:lnSpc>
            </a:pPr>
            <a:r>
              <a:rPr lang="en-US" sz="1400" b="1" dirty="0">
                <a:solidFill>
                  <a:srgbClr val="1A4A7A"/>
                </a:solidFill>
                <a:latin typeface="Quattrocento Sans" pitchFamily="34" charset="0"/>
                <a:ea typeface="Quattrocento Sans" pitchFamily="34" charset="-122"/>
                <a:cs typeface="Quattrocento Sans" pitchFamily="34" charset="-120"/>
              </a:rPr>
              <a:t>GEN LAYER</a:t>
            </a:r>
            <a:endParaRPr lang="en-US" sz="1600" dirty="0"/>
          </a:p>
        </p:txBody>
      </p:sp>
      <p:sp>
        <p:nvSpPr>
          <p:cNvPr id="225" name="Text 19"/>
          <p:cNvSpPr/>
          <p:nvPr/>
        </p:nvSpPr>
        <p:spPr>
          <a:xfrm>
            <a:off x="13817600" y="1727200"/>
            <a:ext cx="1727200" cy="1778000"/>
          </a:xfrm>
          <a:prstGeom prst="rect">
            <a:avLst/>
          </a:prstGeom>
          <a:noFill/>
          <a:ln/>
        </p:spPr>
        <p:txBody>
          <a:bodyPr wrap="square" lIns="0" tIns="0" rIns="0" bIns="0" rtlCol="0" anchor="ctr"/>
          <a:lstStyle/>
          <a:p>
            <a:pPr>
              <a:lnSpc>
                <a:spcPct val="160000"/>
              </a:lnSpc>
            </a:pPr>
            <a:r>
              <a:rPr lang="en-US" sz="1400" dirty="0">
                <a:solidFill>
                  <a:srgbClr val="2C2C2C"/>
                </a:solidFill>
                <a:latin typeface="Quattrocento Sans" pitchFamily="34" charset="0"/>
                <a:ea typeface="Quattrocento Sans" pitchFamily="34" charset="-122"/>
                <a:cs typeface="Quattrocento Sans" pitchFamily="34" charset="-120"/>
              </a:rPr>
              <a:t>• Evidence chunks</a:t>
            </a:r>
            <a:endParaRPr lang="en-US" sz="1600" dirty="0"/>
          </a:p>
          <a:p>
            <a:pPr>
              <a:lnSpc>
                <a:spcPct val="160000"/>
              </a:lnSpc>
            </a:pPr>
            <a:r>
              <a:rPr lang="en-US" sz="1400" dirty="0">
                <a:solidFill>
                  <a:srgbClr val="2C2C2C"/>
                </a:solidFill>
                <a:latin typeface="Quattrocento Sans" pitchFamily="34" charset="0"/>
                <a:ea typeface="Quattrocento Sans" pitchFamily="34" charset="-122"/>
                <a:cs typeface="Quattrocento Sans" pitchFamily="34" charset="-120"/>
              </a:rPr>
              <a:t>• Graph context</a:t>
            </a:r>
            <a:endParaRPr lang="en-US" sz="1600" dirty="0"/>
          </a:p>
          <a:p>
            <a:pPr>
              <a:lnSpc>
                <a:spcPct val="160000"/>
              </a:lnSpc>
            </a:pPr>
            <a:r>
              <a:rPr lang="en-US" sz="1400" dirty="0">
                <a:solidFill>
                  <a:srgbClr val="2C2C2C"/>
                </a:solidFill>
                <a:latin typeface="Quattrocento Sans" pitchFamily="34" charset="0"/>
                <a:ea typeface="Quattrocento Sans" pitchFamily="34" charset="-122"/>
                <a:cs typeface="Quattrocento Sans" pitchFamily="34" charset="-120"/>
              </a:rPr>
              <a:t>• LLM prompt</a:t>
            </a:r>
            <a:endParaRPr lang="en-US" sz="1600" dirty="0"/>
          </a:p>
          <a:p>
            <a:pPr>
              <a:lnSpc>
                <a:spcPct val="160000"/>
              </a:lnSpc>
            </a:pPr>
            <a:r>
              <a:rPr lang="en-US" sz="1400" dirty="0">
                <a:solidFill>
                  <a:srgbClr val="2C2C2C"/>
                </a:solidFill>
                <a:latin typeface="Quattrocento Sans" pitchFamily="34" charset="0"/>
                <a:ea typeface="Quattrocento Sans" pitchFamily="34" charset="-122"/>
                <a:cs typeface="Quattrocento Sans" pitchFamily="34" charset="-120"/>
              </a:rPr>
              <a:t>• Answer</a:t>
            </a:r>
            <a:endParaRPr lang="en-US" sz="1600" dirty="0"/>
          </a:p>
        </p:txBody>
      </p:sp>
      <p:sp>
        <p:nvSpPr>
          <p:cNvPr id="226" name="Shape 20"/>
          <p:cNvSpPr/>
          <p:nvPr/>
        </p:nvSpPr>
        <p:spPr>
          <a:xfrm>
            <a:off x="508000" y="3937000"/>
            <a:ext cx="15240000" cy="1016000"/>
          </a:xfrm>
          <a:prstGeom prst="roundRect">
            <a:avLst>
              <a:gd name="adj" fmla="val 4000"/>
            </a:avLst>
          </a:prstGeom>
          <a:solidFill>
            <a:srgbClr val="E3F0FA"/>
          </a:solidFill>
          <a:ln/>
        </p:spPr>
        <p:txBody>
          <a:bodyPr/>
          <a:lstStyle/>
          <a:p>
            <a:endParaRPr/>
          </a:p>
        </p:txBody>
      </p:sp>
      <p:sp>
        <p:nvSpPr>
          <p:cNvPr id="227" name="Text 21"/>
          <p:cNvSpPr/>
          <p:nvPr/>
        </p:nvSpPr>
        <p:spPr>
          <a:xfrm>
            <a:off x="762000" y="3937000"/>
            <a:ext cx="14732000" cy="1016000"/>
          </a:xfrm>
          <a:prstGeom prst="rect">
            <a:avLst/>
          </a:prstGeom>
          <a:noFill/>
          <a:ln/>
        </p:spPr>
        <p:txBody>
          <a:bodyPr wrap="square" lIns="0" tIns="0" rIns="0" bIns="0" rtlCol="0" anchor="ctr"/>
          <a:lstStyle/>
          <a:p>
            <a:pPr>
              <a:lnSpc>
                <a:spcPct val="150000"/>
              </a:lnSpc>
            </a:pPr>
            <a:endParaRPr lang="en-US" sz="1600" b="1">
              <a:solidFill>
                <a:srgbClr val="1A4A7A">
                  <a:alpha val="100000"/>
                </a:srgbClr>
              </a:solidFill>
              <a:latin typeface="Quattrocento Sans"/>
              <a:ea typeface="Quattrocento Sans"/>
              <a:cs typeface="Quattrocento Sans"/>
            </a:endParaRPr>
          </a:p>
        </p:txBody>
      </p:sp>
      <p:sp>
        <p:nvSpPr>
          <p:cNvPr id="228" name="Text 22"/>
          <p:cNvSpPr/>
          <p:nvPr/>
        </p:nvSpPr>
        <p:spPr>
          <a:xfrm>
            <a:off x="508000" y="5257800"/>
            <a:ext cx="5080000" cy="355600"/>
          </a:xfrm>
          <a:prstGeom prst="rect">
            <a:avLst/>
          </a:prstGeom>
          <a:noFill/>
          <a:ln/>
        </p:spPr>
        <p:txBody>
          <a:bodyPr wrap="none" lIns="0" tIns="0" rIns="0" bIns="0" rtlCol="0" anchor="ctr"/>
          <a:lstStyle/>
          <a:p>
            <a:pPr>
              <a:lnSpc>
                <a:spcPct val="100000"/>
              </a:lnSpc>
            </a:pPr>
            <a:r>
              <a:rPr lang="en-US" sz="1800" b="1" dirty="0">
                <a:solidFill>
                  <a:srgbClr val="1A4A7A"/>
                </a:solidFill>
                <a:latin typeface="Quattrocento Sans" pitchFamily="34" charset="0"/>
                <a:ea typeface="Quattrocento Sans" pitchFamily="34" charset="-122"/>
                <a:cs typeface="Quattrocento Sans" pitchFamily="34" charset="-120"/>
              </a:rPr>
              <a:t>Component Details</a:t>
            </a:r>
            <a:endParaRPr lang="en-US" sz="1600" dirty="0"/>
          </a:p>
        </p:txBody>
      </p:sp>
      <p:sp>
        <p:nvSpPr>
          <p:cNvPr id="229" name="Shape 23"/>
          <p:cNvSpPr/>
          <p:nvPr/>
        </p:nvSpPr>
        <p:spPr>
          <a:xfrm>
            <a:off x="508000" y="5689600"/>
            <a:ext cx="15240000" cy="12700"/>
          </a:xfrm>
          <a:prstGeom prst="rect">
            <a:avLst/>
          </a:prstGeom>
          <a:solidFill>
            <a:srgbClr val="E0E0E0"/>
          </a:solidFill>
          <a:ln/>
        </p:spPr>
        <p:txBody>
          <a:bodyPr/>
          <a:lstStyle/>
          <a:p>
            <a:endParaRPr/>
          </a:p>
        </p:txBody>
      </p:sp>
      <p:sp>
        <p:nvSpPr>
          <p:cNvPr id="230" name="Shape 24"/>
          <p:cNvSpPr/>
          <p:nvPr/>
        </p:nvSpPr>
        <p:spPr>
          <a:xfrm>
            <a:off x="508000" y="5918200"/>
            <a:ext cx="7366000" cy="2286000"/>
          </a:xfrm>
          <a:prstGeom prst="roundRect">
            <a:avLst>
              <a:gd name="adj" fmla="val 4000"/>
            </a:avLst>
          </a:prstGeom>
          <a:solidFill>
            <a:srgbClr val="F5F5F5"/>
          </a:solidFill>
          <a:ln/>
        </p:spPr>
        <p:txBody>
          <a:bodyPr/>
          <a:lstStyle/>
          <a:p>
            <a:endParaRPr/>
          </a:p>
        </p:txBody>
      </p:sp>
      <p:sp>
        <p:nvSpPr>
          <p:cNvPr id="231" name="Text 25"/>
          <p:cNvSpPr/>
          <p:nvPr/>
        </p:nvSpPr>
        <p:spPr>
          <a:xfrm>
            <a:off x="711200" y="6019800"/>
            <a:ext cx="6959600" cy="355600"/>
          </a:xfrm>
          <a:prstGeom prst="rect">
            <a:avLst/>
          </a:prstGeom>
          <a:noFill/>
          <a:ln/>
        </p:spPr>
        <p:txBody>
          <a:bodyPr wrap="none" lIns="0" tIns="0" rIns="0" bIns="0" rtlCol="0" anchor="ctr"/>
          <a:lstStyle/>
          <a:p>
            <a:pPr>
              <a:lnSpc>
                <a:spcPct val="100000"/>
              </a:lnSpc>
            </a:pPr>
            <a:r>
              <a:rPr lang="en-US" sz="1800" b="1" dirty="0">
                <a:solidFill>
                  <a:srgbClr val="1A4A7A"/>
                </a:solidFill>
                <a:latin typeface="Quattrocento Sans" pitchFamily="34" charset="0"/>
                <a:ea typeface="Quattrocento Sans" pitchFamily="34" charset="-122"/>
                <a:cs typeface="Quattrocento Sans" pitchFamily="34" charset="-120"/>
              </a:rPr>
              <a:t>Text Indexing</a:t>
            </a:r>
            <a:endParaRPr lang="en-US" sz="1600" dirty="0"/>
          </a:p>
        </p:txBody>
      </p:sp>
      <p:sp>
        <p:nvSpPr>
          <p:cNvPr id="232" name="Text 26"/>
          <p:cNvSpPr/>
          <p:nvPr/>
        </p:nvSpPr>
        <p:spPr>
          <a:xfrm>
            <a:off x="711200" y="6451600"/>
            <a:ext cx="6959600" cy="1625600"/>
          </a:xfrm>
          <a:prstGeom prst="rect">
            <a:avLst/>
          </a:prstGeom>
          <a:noFill/>
          <a:ln/>
        </p:spPr>
        <p:txBody>
          <a:bodyPr wrap="square" lIns="0" tIns="0" rIns="0" bIns="0" rtlCol="0" anchor="ctr"/>
          <a:lstStyle/>
          <a:p>
            <a:pPr>
              <a:lnSpc>
                <a:spcPct val="160000"/>
              </a:lnSpc>
            </a:pPr>
            <a:r>
              <a:rPr lang="en-US" sz="1500" dirty="0">
                <a:solidFill>
                  <a:srgbClr val="2C2C2C"/>
                </a:solidFill>
                <a:latin typeface="Quattrocento Sans" pitchFamily="34" charset="0"/>
                <a:ea typeface="Quattrocento Sans" pitchFamily="34" charset="-122"/>
                <a:cs typeface="Quattrocento Sans" pitchFamily="34" charset="-120"/>
              </a:rPr>
              <a:t>• Sentence-Transformers (all-MiniLM-L6-v2)</a:t>
            </a:r>
            <a:endParaRPr lang="en-US" sz="1600" dirty="0"/>
          </a:p>
          <a:p>
            <a:pPr>
              <a:lnSpc>
                <a:spcPct val="160000"/>
              </a:lnSpc>
            </a:pPr>
            <a:r>
              <a:rPr lang="en-US" sz="1500" dirty="0">
                <a:solidFill>
                  <a:srgbClr val="2C2C2C"/>
                </a:solidFill>
                <a:latin typeface="Quattrocento Sans" pitchFamily="34" charset="0"/>
                <a:ea typeface="Quattrocento Sans" pitchFamily="34" charset="-122"/>
                <a:cs typeface="Quattrocento Sans" pitchFamily="34" charset="-120"/>
              </a:rPr>
              <a:t>• FAISS GPU index with metric=ip</a:t>
            </a:r>
            <a:endParaRPr lang="en-US" sz="1600" dirty="0"/>
          </a:p>
          <a:p>
            <a:pPr>
              <a:lnSpc>
                <a:spcPct val="160000"/>
              </a:lnSpc>
            </a:pPr>
            <a:r>
              <a:rPr lang="en-US" sz="1500" dirty="0">
                <a:solidFill>
                  <a:srgbClr val="2C2C2C"/>
                </a:solidFill>
                <a:latin typeface="Quattrocento Sans" pitchFamily="34" charset="0"/>
                <a:ea typeface="Quattrocento Sans" pitchFamily="34" charset="-122"/>
                <a:cs typeface="Quattrocento Sans" pitchFamily="34" charset="-120"/>
              </a:rPr>
              <a:t>• Cosine similarity approximation</a:t>
            </a:r>
            <a:endParaRPr lang="en-US" sz="1600" dirty="0"/>
          </a:p>
          <a:p>
            <a:pPr>
              <a:lnSpc>
                <a:spcPct val="160000"/>
              </a:lnSpc>
            </a:pPr>
            <a:r>
              <a:rPr lang="en-US" sz="1500" dirty="0">
                <a:solidFill>
                  <a:srgbClr val="2C2C2C"/>
                </a:solidFill>
                <a:latin typeface="Quattrocento Sans" pitchFamily="34" charset="0"/>
                <a:ea typeface="Quattrocento Sans" pitchFamily="34" charset="-122"/>
                <a:cs typeface="Quattrocento Sans" pitchFamily="34" charset="-120"/>
              </a:rPr>
              <a:t>• 50K document full-indexing</a:t>
            </a:r>
            <a:endParaRPr lang="en-US" sz="1600" dirty="0"/>
          </a:p>
        </p:txBody>
      </p:sp>
      <p:sp>
        <p:nvSpPr>
          <p:cNvPr id="233" name="Shape 27"/>
          <p:cNvSpPr/>
          <p:nvPr/>
        </p:nvSpPr>
        <p:spPr>
          <a:xfrm>
            <a:off x="8382000" y="5918200"/>
            <a:ext cx="7366000" cy="2286000"/>
          </a:xfrm>
          <a:prstGeom prst="roundRect">
            <a:avLst>
              <a:gd name="adj" fmla="val 4000"/>
            </a:avLst>
          </a:prstGeom>
          <a:solidFill>
            <a:srgbClr val="F5F5F5"/>
          </a:solidFill>
          <a:ln/>
        </p:spPr>
        <p:txBody>
          <a:bodyPr/>
          <a:lstStyle/>
          <a:p>
            <a:endParaRPr/>
          </a:p>
        </p:txBody>
      </p:sp>
      <p:sp>
        <p:nvSpPr>
          <p:cNvPr id="234" name="Text 28"/>
          <p:cNvSpPr/>
          <p:nvPr/>
        </p:nvSpPr>
        <p:spPr>
          <a:xfrm>
            <a:off x="8585200" y="6019800"/>
            <a:ext cx="6959600" cy="355600"/>
          </a:xfrm>
          <a:prstGeom prst="rect">
            <a:avLst/>
          </a:prstGeom>
          <a:noFill/>
          <a:ln/>
        </p:spPr>
        <p:txBody>
          <a:bodyPr wrap="none" lIns="0" tIns="0" rIns="0" bIns="0" rtlCol="0" anchor="ctr"/>
          <a:lstStyle/>
          <a:p>
            <a:pPr>
              <a:lnSpc>
                <a:spcPct val="100000"/>
              </a:lnSpc>
            </a:pPr>
            <a:r>
              <a:rPr lang="en-US" sz="1800" b="1" dirty="0">
                <a:solidFill>
                  <a:srgbClr val="1A4A7A"/>
                </a:solidFill>
                <a:latin typeface="Quattrocento Sans" pitchFamily="34" charset="0"/>
                <a:ea typeface="Quattrocento Sans" pitchFamily="34" charset="-122"/>
                <a:cs typeface="Quattrocento Sans" pitchFamily="34" charset="-120"/>
              </a:rPr>
              <a:t>Community &amp; Graph Indexing</a:t>
            </a:r>
            <a:endParaRPr lang="en-US" sz="1600" dirty="0"/>
          </a:p>
        </p:txBody>
      </p:sp>
      <p:sp>
        <p:nvSpPr>
          <p:cNvPr id="235" name="Text 29"/>
          <p:cNvSpPr/>
          <p:nvPr/>
        </p:nvSpPr>
        <p:spPr>
          <a:xfrm>
            <a:off x="8585200" y="6451600"/>
            <a:ext cx="6959600" cy="1625600"/>
          </a:xfrm>
          <a:prstGeom prst="rect">
            <a:avLst/>
          </a:prstGeom>
          <a:noFill/>
          <a:ln/>
        </p:spPr>
        <p:txBody>
          <a:bodyPr wrap="square" lIns="0" tIns="0" rIns="0" bIns="0" rtlCol="0" anchor="ctr"/>
          <a:lstStyle/>
          <a:p>
            <a:pPr>
              <a:lnSpc>
                <a:spcPct val="160000"/>
              </a:lnSpc>
            </a:pPr>
            <a:r>
              <a:rPr lang="en-US" sz="1500" dirty="0">
                <a:solidFill>
                  <a:srgbClr val="2C2C2C"/>
                </a:solidFill>
                <a:latin typeface="Quattrocento Sans" pitchFamily="34" charset="0"/>
                <a:ea typeface="Quattrocento Sans" pitchFamily="34" charset="-122"/>
                <a:cs typeface="Quattrocento Sans" pitchFamily="34" charset="-120"/>
              </a:rPr>
              <a:t>• Vectorize community_summary</a:t>
            </a:r>
            <a:endParaRPr lang="en-US" sz="1600" dirty="0"/>
          </a:p>
          <a:p>
            <a:pPr>
              <a:lnSpc>
                <a:spcPct val="160000"/>
              </a:lnSpc>
            </a:pPr>
            <a:r>
              <a:rPr lang="en-US" sz="1500" dirty="0">
                <a:solidFill>
                  <a:srgbClr val="2C2C2C"/>
                </a:solidFill>
                <a:latin typeface="Quattrocento Sans" pitchFamily="34" charset="0"/>
                <a:ea typeface="Quattrocento Sans" pitchFamily="34" charset="-122"/>
                <a:cs typeface="Quattrocento Sans" pitchFamily="34" charset="-120"/>
              </a:rPr>
              <a:t>• Community index for query-to-community</a:t>
            </a:r>
            <a:endParaRPr lang="en-US" sz="1600" dirty="0"/>
          </a:p>
          <a:p>
            <a:pPr>
              <a:lnSpc>
                <a:spcPct val="160000"/>
              </a:lnSpc>
            </a:pPr>
            <a:r>
              <a:rPr lang="en-US" sz="1500" dirty="0">
                <a:solidFill>
                  <a:srgbClr val="2C2C2C"/>
                </a:solidFill>
                <a:latin typeface="Quattrocento Sans" pitchFamily="34" charset="0"/>
                <a:ea typeface="Quattrocento Sans" pitchFamily="34" charset="-122"/>
                <a:cs typeface="Quattrocento Sans" pitchFamily="34" charset="-120"/>
              </a:rPr>
              <a:t>• Graph-guided retrieval paths</a:t>
            </a:r>
            <a:endParaRPr lang="en-US" sz="1600" dirty="0"/>
          </a:p>
          <a:p>
            <a:pPr>
              <a:lnSpc>
                <a:spcPct val="160000"/>
              </a:lnSpc>
            </a:pPr>
            <a:r>
              <a:rPr lang="en-US" sz="1500" dirty="0">
                <a:solidFill>
                  <a:srgbClr val="2C2C2C"/>
                </a:solidFill>
                <a:latin typeface="Quattrocento Sans" pitchFamily="34" charset="0"/>
                <a:ea typeface="Quattrocento Sans" pitchFamily="34" charset="-122"/>
                <a:cs typeface="Quattrocento Sans" pitchFamily="34" charset="-120"/>
              </a:rPr>
              <a:t>• Evidence chunks as primary context</a:t>
            </a:r>
            <a:endParaRPr lang="en-US" sz="1600" dirty="0"/>
          </a:p>
        </p:txBody>
      </p:sp>
      <p:sp>
        <p:nvSpPr>
          <p:cNvPr id="236" name="Text 30"/>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23</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F6F9FC"/>
        </a:solidFill>
        <a:effectLst/>
      </p:bgPr>
    </p:bg>
    <p:spTree>
      <p:nvGrpSpPr>
        <p:cNvPr id="1" name=""/>
        <p:cNvGrpSpPr/>
        <p:nvPr/>
      </p:nvGrpSpPr>
      <p:grpSpPr>
        <a:xfrm>
          <a:off x="0" y="0"/>
          <a:ext cx="0" cy="0"/>
          <a:chOff x="0" y="0"/>
          <a:chExt cx="0" cy="0"/>
        </a:xfrm>
      </p:grpSpPr>
      <p:sp>
        <p:nvSpPr>
          <p:cNvPr id="238" name="Shape 0"/>
          <p:cNvSpPr/>
          <p:nvPr/>
        </p:nvSpPr>
        <p:spPr>
          <a:xfrm>
            <a:off x="0" y="0"/>
            <a:ext cx="76200" cy="9144000"/>
          </a:xfrm>
          <a:prstGeom prst="rect">
            <a:avLst/>
          </a:prstGeom>
          <a:solidFill>
            <a:srgbClr val="1A4A7A"/>
          </a:solidFill>
          <a:ln/>
        </p:spPr>
        <p:txBody>
          <a:bodyPr/>
          <a:lstStyle/>
          <a:p>
            <a:endParaRPr/>
          </a:p>
        </p:txBody>
      </p:sp>
      <p:sp>
        <p:nvSpPr>
          <p:cNvPr id="239" name="Shape 1"/>
          <p:cNvSpPr/>
          <p:nvPr/>
        </p:nvSpPr>
        <p:spPr>
          <a:xfrm>
            <a:off x="0" y="0"/>
            <a:ext cx="16256000" cy="38100"/>
          </a:xfrm>
          <a:prstGeom prst="rect">
            <a:avLst/>
          </a:prstGeom>
          <a:solidFill>
            <a:srgbClr val="1A4A7A"/>
          </a:solidFill>
          <a:ln/>
        </p:spPr>
        <p:txBody>
          <a:bodyPr/>
          <a:lstStyle/>
          <a:p>
            <a:endParaRPr/>
          </a:p>
        </p:txBody>
      </p:sp>
      <p:sp>
        <p:nvSpPr>
          <p:cNvPr id="240"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dirty="0">
                <a:solidFill>
                  <a:srgbClr val="5B9BD5"/>
                </a:solidFill>
                <a:latin typeface="Quattrocento Sans" pitchFamily="34" charset="0"/>
                <a:ea typeface="Quattrocento Sans" pitchFamily="34" charset="-122"/>
                <a:cs typeface="Quattrocento Sans" pitchFamily="34" charset="-120"/>
              </a:rPr>
              <a:t>04 RAG System — Hybrid Retrieval</a:t>
            </a:r>
            <a:endParaRPr lang="en-US" sz="1600" dirty="0"/>
          </a:p>
        </p:txBody>
      </p:sp>
      <p:sp>
        <p:nvSpPr>
          <p:cNvPr id="241"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dirty="0">
                <a:solidFill>
                  <a:srgbClr val="1A4A7A"/>
                </a:solidFill>
                <a:latin typeface="Quattrocento Sans" pitchFamily="34" charset="0"/>
                <a:ea typeface="Quattrocento Sans" pitchFamily="34" charset="-122"/>
                <a:cs typeface="Quattrocento Sans" pitchFamily="34" charset="-120"/>
              </a:rPr>
              <a:t>Key Artifacts &amp; Data Flow</a:t>
            </a:r>
            <a:endParaRPr lang="en-US" sz="1600" dirty="0"/>
          </a:p>
        </p:txBody>
      </p:sp>
      <p:sp>
        <p:nvSpPr>
          <p:cNvPr id="242" name="Shape 4"/>
          <p:cNvSpPr/>
          <p:nvPr/>
        </p:nvSpPr>
        <p:spPr>
          <a:xfrm>
            <a:off x="508000" y="863600"/>
            <a:ext cx="15240000" cy="12700"/>
          </a:xfrm>
          <a:prstGeom prst="rect">
            <a:avLst/>
          </a:prstGeom>
          <a:solidFill>
            <a:srgbClr val="E0E0E0"/>
          </a:solidFill>
          <a:ln/>
        </p:spPr>
        <p:txBody>
          <a:bodyPr/>
          <a:lstStyle/>
          <a:p>
            <a:endParaRPr/>
          </a:p>
        </p:txBody>
      </p:sp>
      <p:sp>
        <p:nvSpPr>
          <p:cNvPr id="243" name="Shape 5"/>
          <p:cNvSpPr/>
          <p:nvPr/>
        </p:nvSpPr>
        <p:spPr>
          <a:xfrm>
            <a:off x="508000" y="1117600"/>
            <a:ext cx="4826000" cy="1778000"/>
          </a:xfrm>
          <a:prstGeom prst="roundRect">
            <a:avLst>
              <a:gd name="adj" fmla="val 4000"/>
            </a:avLst>
          </a:prstGeom>
          <a:solidFill>
            <a:srgbClr val="1A4A7A"/>
          </a:solidFill>
          <a:ln/>
        </p:spPr>
        <p:txBody>
          <a:bodyPr/>
          <a:lstStyle/>
          <a:p>
            <a:endParaRPr/>
          </a:p>
        </p:txBody>
      </p:sp>
      <p:sp>
        <p:nvSpPr>
          <p:cNvPr id="244" name="Text 6"/>
          <p:cNvSpPr/>
          <p:nvPr/>
        </p:nvSpPr>
        <p:spPr>
          <a:xfrm>
            <a:off x="711200" y="1219200"/>
            <a:ext cx="4419600" cy="304800"/>
          </a:xfrm>
          <a:prstGeom prst="rect">
            <a:avLst/>
          </a:prstGeom>
          <a:noFill/>
          <a:ln/>
        </p:spPr>
        <p:txBody>
          <a:bodyPr wrap="none" lIns="0" tIns="0" rIns="0" bIns="0" rtlCol="0" anchor="ctr"/>
          <a:lstStyle/>
          <a:p>
            <a:pPr>
              <a:lnSpc>
                <a:spcPct val="100000"/>
              </a:lnSpc>
            </a:pPr>
            <a:r>
              <a:rPr lang="en-US" sz="1300" dirty="0">
                <a:solidFill>
                  <a:srgbClr val="FFFFFF">
                    <a:alpha val="53333"/>
                  </a:srgbClr>
                </a:solidFill>
                <a:latin typeface="Quattrocento Sans" pitchFamily="34" charset="0"/>
                <a:ea typeface="Quattrocento Sans" pitchFamily="34" charset="-122"/>
                <a:cs typeface="Quattrocento Sans" pitchFamily="34" charset="-120"/>
              </a:rPr>
              <a:t>TEXT CORPUS</a:t>
            </a:r>
            <a:endParaRPr lang="en-US" sz="1600" dirty="0"/>
          </a:p>
        </p:txBody>
      </p:sp>
      <p:sp>
        <p:nvSpPr>
          <p:cNvPr id="245" name="Text 7"/>
          <p:cNvSpPr/>
          <p:nvPr/>
        </p:nvSpPr>
        <p:spPr>
          <a:xfrm>
            <a:off x="711200" y="1574800"/>
            <a:ext cx="4419600" cy="3556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clean_articles.jsonl</a:t>
            </a:r>
            <a:endParaRPr lang="en-US" sz="1600" dirty="0"/>
          </a:p>
        </p:txBody>
      </p:sp>
      <p:sp>
        <p:nvSpPr>
          <p:cNvPr id="246" name="Text 8"/>
          <p:cNvSpPr/>
          <p:nvPr/>
        </p:nvSpPr>
        <p:spPr>
          <a:xfrm>
            <a:off x="711200" y="2006600"/>
            <a:ext cx="4419600" cy="762000"/>
          </a:xfrm>
          <a:prstGeom prst="rect">
            <a:avLst/>
          </a:prstGeom>
          <a:noFill/>
          <a:ln/>
        </p:spPr>
        <p:txBody>
          <a:bodyPr wrap="square" lIns="0" tIns="0" rIns="0" bIns="0" rtlCol="0" anchor="ctr"/>
          <a:lstStyle/>
          <a:p>
            <a:pPr>
              <a:lnSpc>
                <a:spcPct val="15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50K document-level cleaned articles from Wikipedia parsing pipeline</a:t>
            </a:r>
            <a:endParaRPr lang="en-US" sz="1600" dirty="0"/>
          </a:p>
        </p:txBody>
      </p:sp>
      <p:sp>
        <p:nvSpPr>
          <p:cNvPr id="247" name="Shape 9"/>
          <p:cNvSpPr/>
          <p:nvPr/>
        </p:nvSpPr>
        <p:spPr>
          <a:xfrm rot="10800000">
            <a:off x="2667000" y="2946400"/>
            <a:ext cx="254000" cy="381000"/>
          </a:xfrm>
          <a:prstGeom prst="triangle">
            <a:avLst>
              <a:gd name="adj" fmla="val 50000"/>
            </a:avLst>
          </a:prstGeom>
          <a:solidFill>
            <a:srgbClr val="5B9BD5"/>
          </a:solidFill>
          <a:ln/>
        </p:spPr>
        <p:txBody>
          <a:bodyPr/>
          <a:lstStyle/>
          <a:p>
            <a:endParaRPr/>
          </a:p>
        </p:txBody>
      </p:sp>
      <p:sp>
        <p:nvSpPr>
          <p:cNvPr id="248" name="Shape 10"/>
          <p:cNvSpPr/>
          <p:nvPr/>
        </p:nvSpPr>
        <p:spPr>
          <a:xfrm>
            <a:off x="508000" y="3429000"/>
            <a:ext cx="4826000" cy="1778000"/>
          </a:xfrm>
          <a:prstGeom prst="roundRect">
            <a:avLst>
              <a:gd name="adj" fmla="val 4000"/>
            </a:avLst>
          </a:prstGeom>
          <a:solidFill>
            <a:srgbClr val="5B9BD5"/>
          </a:solidFill>
          <a:ln/>
        </p:spPr>
        <p:txBody>
          <a:bodyPr/>
          <a:lstStyle/>
          <a:p>
            <a:endParaRPr/>
          </a:p>
        </p:txBody>
      </p:sp>
      <p:sp>
        <p:nvSpPr>
          <p:cNvPr id="249" name="Text 11"/>
          <p:cNvSpPr/>
          <p:nvPr/>
        </p:nvSpPr>
        <p:spPr>
          <a:xfrm>
            <a:off x="711200" y="3530600"/>
            <a:ext cx="4419600" cy="304800"/>
          </a:xfrm>
          <a:prstGeom prst="rect">
            <a:avLst/>
          </a:prstGeom>
          <a:noFill/>
          <a:ln/>
        </p:spPr>
        <p:txBody>
          <a:bodyPr wrap="none" lIns="0" tIns="0" rIns="0" bIns="0" rtlCol="0" anchor="ctr"/>
          <a:lstStyle/>
          <a:p>
            <a:pPr>
              <a:lnSpc>
                <a:spcPct val="100000"/>
              </a:lnSpc>
            </a:pPr>
            <a:r>
              <a:rPr lang="en-US" sz="1300" dirty="0">
                <a:solidFill>
                  <a:srgbClr val="FFFFFF">
                    <a:alpha val="53333"/>
                  </a:srgbClr>
                </a:solidFill>
                <a:latin typeface="Quattrocento Sans" pitchFamily="34" charset="0"/>
                <a:ea typeface="Quattrocento Sans" pitchFamily="34" charset="-122"/>
                <a:cs typeface="Quattrocento Sans" pitchFamily="34" charset="-120"/>
              </a:rPr>
              <a:t>CHUNK-LEVEL</a:t>
            </a:r>
            <a:endParaRPr lang="en-US" sz="1600" dirty="0"/>
          </a:p>
        </p:txBody>
      </p:sp>
      <p:sp>
        <p:nvSpPr>
          <p:cNvPr id="250" name="Text 12"/>
          <p:cNvSpPr/>
          <p:nvPr/>
        </p:nvSpPr>
        <p:spPr>
          <a:xfrm>
            <a:off x="711200" y="3886200"/>
            <a:ext cx="4419600" cy="3556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clean_article_chunks_50k</a:t>
            </a:r>
            <a:endParaRPr lang="en-US" sz="1600" dirty="0"/>
          </a:p>
        </p:txBody>
      </p:sp>
      <p:sp>
        <p:nvSpPr>
          <p:cNvPr id="251" name="Text 13"/>
          <p:cNvSpPr/>
          <p:nvPr/>
        </p:nvSpPr>
        <p:spPr>
          <a:xfrm>
            <a:off x="711200" y="4318000"/>
            <a:ext cx="4419600" cy="762000"/>
          </a:xfrm>
          <a:prstGeom prst="rect">
            <a:avLst/>
          </a:prstGeom>
          <a:noFill/>
          <a:ln/>
        </p:spPr>
        <p:txBody>
          <a:bodyPr wrap="square" lIns="0" tIns="0" rIns="0" bIns="0" rtlCol="0" anchor="ctr"/>
          <a:lstStyle/>
          <a:p>
            <a:pPr>
              <a:lnSpc>
                <a:spcPct val="15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chunk_id=doc_id#i, chunk=1200 chars, overlap=200</a:t>
            </a:r>
            <a:endParaRPr lang="en-US" sz="1600" dirty="0"/>
          </a:p>
        </p:txBody>
      </p:sp>
      <p:sp>
        <p:nvSpPr>
          <p:cNvPr id="252" name="Shape 14"/>
          <p:cNvSpPr/>
          <p:nvPr/>
        </p:nvSpPr>
        <p:spPr>
          <a:xfrm>
            <a:off x="5486400" y="4191000"/>
            <a:ext cx="381000" cy="254000"/>
          </a:xfrm>
          <a:prstGeom prst="rightArrow">
            <a:avLst>
              <a:gd name="adj1" fmla="val 50000"/>
              <a:gd name="adj2" fmla="val 50000"/>
            </a:avLst>
          </a:prstGeom>
          <a:solidFill>
            <a:srgbClr val="5B9BD5"/>
          </a:solidFill>
          <a:ln/>
        </p:spPr>
        <p:txBody>
          <a:bodyPr/>
          <a:lstStyle/>
          <a:p>
            <a:endParaRPr/>
          </a:p>
        </p:txBody>
      </p:sp>
      <p:sp>
        <p:nvSpPr>
          <p:cNvPr id="253" name="Shape 15"/>
          <p:cNvSpPr/>
          <p:nvPr/>
        </p:nvSpPr>
        <p:spPr>
          <a:xfrm>
            <a:off x="6096000" y="3429000"/>
            <a:ext cx="4826000" cy="1778000"/>
          </a:xfrm>
          <a:prstGeom prst="roundRect">
            <a:avLst>
              <a:gd name="adj" fmla="val 4000"/>
            </a:avLst>
          </a:prstGeom>
          <a:solidFill>
            <a:srgbClr val="2E86C1"/>
          </a:solidFill>
          <a:ln/>
        </p:spPr>
        <p:txBody>
          <a:bodyPr/>
          <a:lstStyle/>
          <a:p>
            <a:endParaRPr/>
          </a:p>
        </p:txBody>
      </p:sp>
      <p:sp>
        <p:nvSpPr>
          <p:cNvPr id="254" name="Text 16"/>
          <p:cNvSpPr/>
          <p:nvPr/>
        </p:nvSpPr>
        <p:spPr>
          <a:xfrm>
            <a:off x="6299200" y="3530600"/>
            <a:ext cx="4419600" cy="304800"/>
          </a:xfrm>
          <a:prstGeom prst="rect">
            <a:avLst/>
          </a:prstGeom>
          <a:noFill/>
          <a:ln/>
        </p:spPr>
        <p:txBody>
          <a:bodyPr wrap="none" lIns="0" tIns="0" rIns="0" bIns="0" rtlCol="0" anchor="ctr"/>
          <a:lstStyle/>
          <a:p>
            <a:pPr>
              <a:lnSpc>
                <a:spcPct val="100000"/>
              </a:lnSpc>
            </a:pPr>
            <a:r>
              <a:rPr lang="en-US" sz="1300" dirty="0">
                <a:solidFill>
                  <a:srgbClr val="FFFFFF">
                    <a:alpha val="53333"/>
                  </a:srgbClr>
                </a:solidFill>
                <a:latin typeface="Quattrocento Sans" pitchFamily="34" charset="0"/>
                <a:ea typeface="Quattrocento Sans" pitchFamily="34" charset="-122"/>
                <a:cs typeface="Quattrocento Sans" pitchFamily="34" charset="-120"/>
              </a:rPr>
              <a:t>ALIGNMENT TABLES</a:t>
            </a:r>
            <a:endParaRPr lang="en-US" sz="1600" dirty="0"/>
          </a:p>
        </p:txBody>
      </p:sp>
      <p:sp>
        <p:nvSpPr>
          <p:cNvPr id="255" name="Text 17"/>
          <p:cNvSpPr/>
          <p:nvPr/>
        </p:nvSpPr>
        <p:spPr>
          <a:xfrm>
            <a:off x="6299200" y="3886200"/>
            <a:ext cx="4419600" cy="3556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doc_entities.jsonl</a:t>
            </a:r>
            <a:endParaRPr lang="en-US" sz="1600" dirty="0"/>
          </a:p>
        </p:txBody>
      </p:sp>
      <p:sp>
        <p:nvSpPr>
          <p:cNvPr id="256" name="Text 18"/>
          <p:cNvSpPr/>
          <p:nvPr/>
        </p:nvSpPr>
        <p:spPr>
          <a:xfrm>
            <a:off x="6299200" y="4318000"/>
            <a:ext cx="4419600" cy="762000"/>
          </a:xfrm>
          <a:prstGeom prst="rect">
            <a:avLst/>
          </a:prstGeom>
          <a:noFill/>
          <a:ln/>
        </p:spPr>
        <p:txBody>
          <a:bodyPr wrap="square" lIns="0" tIns="0" rIns="0" bIns="0" rtlCol="0" anchor="ctr"/>
          <a:lstStyle/>
          <a:p>
            <a:pPr>
              <a:lnSpc>
                <a:spcPct val="15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doc_id → entity_ids mapping for graph alignment</a:t>
            </a:r>
            <a:endParaRPr lang="en-US" sz="1600" dirty="0"/>
          </a:p>
        </p:txBody>
      </p:sp>
      <p:sp>
        <p:nvSpPr>
          <p:cNvPr id="257" name="Shape 19"/>
          <p:cNvSpPr/>
          <p:nvPr/>
        </p:nvSpPr>
        <p:spPr>
          <a:xfrm>
            <a:off x="11074400" y="4191000"/>
            <a:ext cx="381000" cy="254000"/>
          </a:xfrm>
          <a:prstGeom prst="rightArrow">
            <a:avLst>
              <a:gd name="adj1" fmla="val 50000"/>
              <a:gd name="adj2" fmla="val 50000"/>
            </a:avLst>
          </a:prstGeom>
          <a:solidFill>
            <a:srgbClr val="5B9BD5"/>
          </a:solidFill>
          <a:ln/>
        </p:spPr>
        <p:txBody>
          <a:bodyPr/>
          <a:lstStyle/>
          <a:p>
            <a:endParaRPr/>
          </a:p>
        </p:txBody>
      </p:sp>
      <p:sp>
        <p:nvSpPr>
          <p:cNvPr id="258" name="Shape 20"/>
          <p:cNvSpPr/>
          <p:nvPr/>
        </p:nvSpPr>
        <p:spPr>
          <a:xfrm>
            <a:off x="11684000" y="3429000"/>
            <a:ext cx="4064000" cy="1778000"/>
          </a:xfrm>
          <a:prstGeom prst="roundRect">
            <a:avLst>
              <a:gd name="adj" fmla="val 4000"/>
            </a:avLst>
          </a:prstGeom>
          <a:solidFill>
            <a:srgbClr val="F5F5F5"/>
          </a:solidFill>
          <a:ln w="25400">
            <a:solidFill>
              <a:srgbClr val="1A4A7A"/>
            </a:solidFill>
            <a:prstDash val="solid"/>
          </a:ln>
        </p:spPr>
        <p:txBody>
          <a:bodyPr/>
          <a:lstStyle/>
          <a:p>
            <a:endParaRPr/>
          </a:p>
        </p:txBody>
      </p:sp>
      <p:sp>
        <p:nvSpPr>
          <p:cNvPr id="259" name="Text 21"/>
          <p:cNvSpPr/>
          <p:nvPr/>
        </p:nvSpPr>
        <p:spPr>
          <a:xfrm>
            <a:off x="11887200" y="3530600"/>
            <a:ext cx="3657600" cy="304800"/>
          </a:xfrm>
          <a:prstGeom prst="rect">
            <a:avLst/>
          </a:prstGeom>
          <a:noFill/>
          <a:ln/>
        </p:spPr>
        <p:txBody>
          <a:bodyPr wrap="none" lIns="0" tIns="0" rIns="0" bIns="0" rtlCol="0" anchor="ctr"/>
          <a:lstStyle/>
          <a:p>
            <a:pPr>
              <a:lnSpc>
                <a:spcPct val="100000"/>
              </a:lnSpc>
            </a:pPr>
            <a:r>
              <a:rPr lang="en-US" sz="1300" dirty="0">
                <a:solidFill>
                  <a:srgbClr val="5B9BD5"/>
                </a:solidFill>
                <a:latin typeface="Quattrocento Sans" pitchFamily="34" charset="0"/>
                <a:ea typeface="Quattrocento Sans" pitchFamily="34" charset="-122"/>
                <a:cs typeface="Quattrocento Sans" pitchFamily="34" charset="-120"/>
              </a:rPr>
              <a:t>INVERTED INDEX</a:t>
            </a:r>
            <a:endParaRPr lang="en-US" sz="1600" dirty="0"/>
          </a:p>
        </p:txBody>
      </p:sp>
      <p:sp>
        <p:nvSpPr>
          <p:cNvPr id="260" name="Text 22"/>
          <p:cNvSpPr/>
          <p:nvPr/>
        </p:nvSpPr>
        <p:spPr>
          <a:xfrm>
            <a:off x="11887200" y="3886200"/>
            <a:ext cx="3657600" cy="355600"/>
          </a:xfrm>
          <a:prstGeom prst="rect">
            <a:avLst/>
          </a:prstGeom>
          <a:noFill/>
          <a:ln/>
        </p:spPr>
        <p:txBody>
          <a:bodyPr wrap="none" lIns="0" tIns="0" rIns="0" bIns="0" rtlCol="0" anchor="ctr"/>
          <a:lstStyle/>
          <a:p>
            <a:pPr>
              <a:lnSpc>
                <a:spcPct val="100000"/>
              </a:lnSpc>
            </a:pPr>
            <a:r>
              <a:rPr lang="en-US" sz="1800" b="1" dirty="0">
                <a:solidFill>
                  <a:srgbClr val="1A4A7A"/>
                </a:solidFill>
                <a:latin typeface="Quattrocento Sans" pitchFamily="34" charset="0"/>
                <a:ea typeface="Quattrocento Sans" pitchFamily="34" charset="-122"/>
                <a:cs typeface="Quattrocento Sans" pitchFamily="34" charset="-120"/>
              </a:rPr>
              <a:t>entity_docs.jsonl</a:t>
            </a:r>
            <a:endParaRPr lang="en-US" sz="1600" dirty="0"/>
          </a:p>
        </p:txBody>
      </p:sp>
      <p:sp>
        <p:nvSpPr>
          <p:cNvPr id="261" name="Text 23"/>
          <p:cNvSpPr/>
          <p:nvPr/>
        </p:nvSpPr>
        <p:spPr>
          <a:xfrm>
            <a:off x="11887200" y="4318000"/>
            <a:ext cx="3657600" cy="762000"/>
          </a:xfrm>
          <a:prstGeom prst="rect">
            <a:avLst/>
          </a:prstGeom>
          <a:noFill/>
          <a:ln/>
        </p:spPr>
        <p:txBody>
          <a:bodyPr wrap="square" lIns="0" tIns="0" rIns="0" bIns="0" rtlCol="0" anchor="ctr"/>
          <a:lstStyle/>
          <a:p>
            <a:pPr>
              <a:lnSpc>
                <a:spcPct val="150000"/>
              </a:lnSpc>
            </a:pPr>
            <a:r>
              <a:rPr lang="en-US" sz="1400" dirty="0">
                <a:solidFill>
                  <a:srgbClr val="2C2C2C"/>
                </a:solidFill>
                <a:latin typeface="Quattrocento Sans" pitchFamily="34" charset="0"/>
                <a:ea typeface="Quattrocento Sans" pitchFamily="34" charset="-122"/>
                <a:cs typeface="Quattrocento Sans" pitchFamily="34" charset="-120"/>
              </a:rPr>
              <a:t>entity_id → doc_ids for back-to-corpus retrieval</a:t>
            </a:r>
            <a:endParaRPr lang="en-US" sz="1600" dirty="0"/>
          </a:p>
        </p:txBody>
      </p:sp>
      <p:sp>
        <p:nvSpPr>
          <p:cNvPr id="262" name="Shape 24"/>
          <p:cNvSpPr/>
          <p:nvPr/>
        </p:nvSpPr>
        <p:spPr>
          <a:xfrm>
            <a:off x="7747000" y="5257800"/>
            <a:ext cx="254000" cy="381000"/>
          </a:xfrm>
          <a:prstGeom prst="triangle">
            <a:avLst>
              <a:gd name="adj" fmla="val 50000"/>
            </a:avLst>
          </a:prstGeom>
          <a:solidFill>
            <a:srgbClr val="5B9BD5"/>
          </a:solidFill>
          <a:ln/>
        </p:spPr>
        <p:txBody>
          <a:bodyPr/>
          <a:lstStyle/>
          <a:p>
            <a:endParaRPr/>
          </a:p>
        </p:txBody>
      </p:sp>
      <p:sp>
        <p:nvSpPr>
          <p:cNvPr id="263" name="Shape 25"/>
          <p:cNvSpPr/>
          <p:nvPr/>
        </p:nvSpPr>
        <p:spPr>
          <a:xfrm>
            <a:off x="6096000" y="5740400"/>
            <a:ext cx="4826000" cy="1778000"/>
          </a:xfrm>
          <a:prstGeom prst="roundRect">
            <a:avLst>
              <a:gd name="adj" fmla="val 4000"/>
            </a:avLst>
          </a:prstGeom>
          <a:solidFill>
            <a:srgbClr val="455A64"/>
          </a:solidFill>
          <a:ln/>
        </p:spPr>
        <p:txBody>
          <a:bodyPr/>
          <a:lstStyle/>
          <a:p>
            <a:endParaRPr/>
          </a:p>
        </p:txBody>
      </p:sp>
      <p:sp>
        <p:nvSpPr>
          <p:cNvPr id="264" name="Text 26"/>
          <p:cNvSpPr/>
          <p:nvPr/>
        </p:nvSpPr>
        <p:spPr>
          <a:xfrm>
            <a:off x="6299200" y="5842000"/>
            <a:ext cx="4419600" cy="304800"/>
          </a:xfrm>
          <a:prstGeom prst="rect">
            <a:avLst/>
          </a:prstGeom>
          <a:noFill/>
          <a:ln/>
        </p:spPr>
        <p:txBody>
          <a:bodyPr wrap="none" lIns="0" tIns="0" rIns="0" bIns="0" rtlCol="0" anchor="ctr"/>
          <a:lstStyle/>
          <a:p>
            <a:pPr>
              <a:lnSpc>
                <a:spcPct val="100000"/>
              </a:lnSpc>
            </a:pPr>
            <a:r>
              <a:rPr lang="en-US" sz="1300" dirty="0">
                <a:solidFill>
                  <a:srgbClr val="FFFFFF">
                    <a:alpha val="53333"/>
                  </a:srgbClr>
                </a:solidFill>
                <a:latin typeface="Quattrocento Sans" pitchFamily="34" charset="0"/>
                <a:ea typeface="Quattrocento Sans" pitchFamily="34" charset="-122"/>
                <a:cs typeface="Quattrocento Sans" pitchFamily="34" charset="-120"/>
              </a:rPr>
              <a:t>COMMUNITY INDEX</a:t>
            </a:r>
            <a:endParaRPr lang="en-US" sz="1600" dirty="0"/>
          </a:p>
        </p:txBody>
      </p:sp>
      <p:sp>
        <p:nvSpPr>
          <p:cNvPr id="265" name="Text 27"/>
          <p:cNvSpPr/>
          <p:nvPr/>
        </p:nvSpPr>
        <p:spPr>
          <a:xfrm>
            <a:off x="6299200" y="6197600"/>
            <a:ext cx="4419600" cy="3556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community_chunks.jsonl</a:t>
            </a:r>
            <a:endParaRPr lang="en-US" sz="1600" dirty="0"/>
          </a:p>
        </p:txBody>
      </p:sp>
      <p:sp>
        <p:nvSpPr>
          <p:cNvPr id="266" name="Text 28"/>
          <p:cNvSpPr/>
          <p:nvPr/>
        </p:nvSpPr>
        <p:spPr>
          <a:xfrm>
            <a:off x="6299200" y="6629400"/>
            <a:ext cx="4419600" cy="762000"/>
          </a:xfrm>
          <a:prstGeom prst="rect">
            <a:avLst/>
          </a:prstGeom>
          <a:noFill/>
          <a:ln/>
        </p:spPr>
        <p:txBody>
          <a:bodyPr wrap="square" lIns="0" tIns="0" rIns="0" bIns="0" rtlCol="0" anchor="ctr"/>
          <a:lstStyle/>
          <a:p>
            <a:pPr>
              <a:lnSpc>
                <a:spcPct val="150000"/>
              </a:lnSpc>
            </a:pPr>
            <a:r>
              <a:rPr lang="en-US" sz="1400" dirty="0">
                <a:solidFill>
                  <a:srgbClr val="FFFFFF">
                    <a:alpha val="80000"/>
                  </a:srgbClr>
                </a:solidFill>
                <a:latin typeface="Quattrocento Sans" pitchFamily="34" charset="0"/>
                <a:ea typeface="Quattrocento Sans" pitchFamily="34" charset="-122"/>
                <a:cs typeface="Quattrocento Sans" pitchFamily="34" charset="-120"/>
              </a:rPr>
              <a:t>chunk_id=community:&lt;id&gt; for community vector index</a:t>
            </a:r>
            <a:endParaRPr lang="en-US" sz="1600" dirty="0"/>
          </a:p>
        </p:txBody>
      </p:sp>
      <p:sp>
        <p:nvSpPr>
          <p:cNvPr id="267" name="Shape 29"/>
          <p:cNvSpPr/>
          <p:nvPr/>
        </p:nvSpPr>
        <p:spPr>
          <a:xfrm>
            <a:off x="508000" y="7747000"/>
            <a:ext cx="15240000" cy="635000"/>
          </a:xfrm>
          <a:prstGeom prst="roundRect">
            <a:avLst>
              <a:gd name="adj" fmla="val 4000"/>
            </a:avLst>
          </a:prstGeom>
          <a:solidFill>
            <a:srgbClr val="E3F0FA"/>
          </a:solidFill>
          <a:ln/>
        </p:spPr>
        <p:txBody>
          <a:bodyPr/>
          <a:lstStyle/>
          <a:p>
            <a:endParaRPr/>
          </a:p>
        </p:txBody>
      </p:sp>
      <p:sp>
        <p:nvSpPr>
          <p:cNvPr id="268" name="Text 31"/>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24</a:t>
            </a:r>
            <a:endParaRPr lang="en-US" sz="1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5">
    <p:bg>
      <p:bgPr>
        <a:solidFill>
          <a:srgbClr val="F6F9FC"/>
        </a:solidFill>
        <a:effectLst/>
      </p:bgPr>
    </p:bg>
    <p:spTree>
      <p:nvGrpSpPr>
        <p:cNvPr id="1" name=""/>
        <p:cNvGrpSpPr/>
        <p:nvPr/>
      </p:nvGrpSpPr>
      <p:grpSpPr>
        <a:xfrm>
          <a:off x="0" y="0"/>
          <a:ext cx="0" cy="0"/>
          <a:chOff x="0" y="0"/>
          <a:chExt cx="0" cy="0"/>
        </a:xfrm>
      </p:grpSpPr>
      <p:sp>
        <p:nvSpPr>
          <p:cNvPr id="270" name="Shape 0"/>
          <p:cNvSpPr/>
          <p:nvPr/>
        </p:nvSpPr>
        <p:spPr>
          <a:xfrm>
            <a:off x="0" y="0"/>
            <a:ext cx="76200" cy="9144000"/>
          </a:xfrm>
          <a:prstGeom prst="rect">
            <a:avLst/>
          </a:prstGeom>
          <a:solidFill>
            <a:srgbClr val="1A4A7A"/>
          </a:solidFill>
          <a:ln/>
        </p:spPr>
        <p:txBody>
          <a:bodyPr/>
          <a:lstStyle/>
          <a:p>
            <a:endParaRPr/>
          </a:p>
        </p:txBody>
      </p:sp>
      <p:sp>
        <p:nvSpPr>
          <p:cNvPr id="271" name="Shape 1"/>
          <p:cNvSpPr/>
          <p:nvPr/>
        </p:nvSpPr>
        <p:spPr>
          <a:xfrm>
            <a:off x="0" y="0"/>
            <a:ext cx="16256000" cy="38100"/>
          </a:xfrm>
          <a:prstGeom prst="rect">
            <a:avLst/>
          </a:prstGeom>
          <a:solidFill>
            <a:srgbClr val="1A4A7A"/>
          </a:solidFill>
          <a:ln/>
        </p:spPr>
        <p:txBody>
          <a:bodyPr/>
          <a:lstStyle/>
          <a:p>
            <a:endParaRPr/>
          </a:p>
        </p:txBody>
      </p:sp>
      <p:sp>
        <p:nvSpPr>
          <p:cNvPr id="272"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dirty="0">
                <a:solidFill>
                  <a:srgbClr val="5B9BD5"/>
                </a:solidFill>
                <a:latin typeface="Quattrocento Sans" pitchFamily="34" charset="0"/>
                <a:ea typeface="Quattrocento Sans" pitchFamily="34" charset="-122"/>
                <a:cs typeface="Quattrocento Sans" pitchFamily="34" charset="-120"/>
              </a:rPr>
              <a:t>04 RAG System — Hybrid Retrieval</a:t>
            </a:r>
            <a:endParaRPr lang="en-US" sz="1600" dirty="0"/>
          </a:p>
        </p:txBody>
      </p:sp>
      <p:sp>
        <p:nvSpPr>
          <p:cNvPr id="273"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dirty="0">
                <a:solidFill>
                  <a:srgbClr val="1A4A7A"/>
                </a:solidFill>
                <a:latin typeface="Quattrocento Sans" pitchFamily="34" charset="0"/>
                <a:ea typeface="Quattrocento Sans" pitchFamily="34" charset="-122"/>
                <a:cs typeface="Quattrocento Sans" pitchFamily="34" charset="-120"/>
              </a:rPr>
              <a:t>Retrieval Strategy — Three Versions</a:t>
            </a:r>
            <a:endParaRPr lang="en-US" sz="1600" dirty="0"/>
          </a:p>
        </p:txBody>
      </p:sp>
      <p:sp>
        <p:nvSpPr>
          <p:cNvPr id="274" name="Shape 4"/>
          <p:cNvSpPr/>
          <p:nvPr/>
        </p:nvSpPr>
        <p:spPr>
          <a:xfrm>
            <a:off x="508000" y="863600"/>
            <a:ext cx="15240000" cy="12700"/>
          </a:xfrm>
          <a:prstGeom prst="rect">
            <a:avLst/>
          </a:prstGeom>
          <a:solidFill>
            <a:srgbClr val="E0E0E0"/>
          </a:solidFill>
          <a:ln/>
        </p:spPr>
        <p:txBody>
          <a:bodyPr/>
          <a:lstStyle/>
          <a:p>
            <a:endParaRPr/>
          </a:p>
        </p:txBody>
      </p:sp>
      <p:sp>
        <p:nvSpPr>
          <p:cNvPr id="275" name="Shape 5"/>
          <p:cNvSpPr/>
          <p:nvPr/>
        </p:nvSpPr>
        <p:spPr>
          <a:xfrm>
            <a:off x="508000" y="1117600"/>
            <a:ext cx="1524000" cy="406400"/>
          </a:xfrm>
          <a:prstGeom prst="roundRect">
            <a:avLst>
              <a:gd name="adj" fmla="val 4000"/>
            </a:avLst>
          </a:prstGeom>
          <a:solidFill>
            <a:srgbClr val="888888"/>
          </a:solidFill>
          <a:ln/>
        </p:spPr>
        <p:txBody>
          <a:bodyPr/>
          <a:lstStyle/>
          <a:p>
            <a:endParaRPr/>
          </a:p>
        </p:txBody>
      </p:sp>
      <p:sp>
        <p:nvSpPr>
          <p:cNvPr id="276" name="Text 6"/>
          <p:cNvSpPr/>
          <p:nvPr/>
        </p:nvSpPr>
        <p:spPr>
          <a:xfrm>
            <a:off x="508000" y="1117600"/>
            <a:ext cx="1524000" cy="4064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 Sans" pitchFamily="34" charset="0"/>
                <a:ea typeface="Quattrocento Sans" pitchFamily="34" charset="-122"/>
                <a:cs typeface="Quattrocento Sans" pitchFamily="34" charset="-120"/>
              </a:rPr>
              <a:t>BASELINE</a:t>
            </a:r>
            <a:endParaRPr lang="en-US" sz="1600" dirty="0"/>
          </a:p>
        </p:txBody>
      </p:sp>
      <p:sp>
        <p:nvSpPr>
          <p:cNvPr id="277" name="Text 7"/>
          <p:cNvSpPr/>
          <p:nvPr/>
        </p:nvSpPr>
        <p:spPr>
          <a:xfrm>
            <a:off x="2235200" y="1117600"/>
            <a:ext cx="6350000" cy="406400"/>
          </a:xfrm>
          <a:prstGeom prst="rect">
            <a:avLst/>
          </a:prstGeom>
          <a:noFill/>
          <a:ln/>
        </p:spPr>
        <p:txBody>
          <a:bodyPr wrap="none" lIns="0" tIns="0" rIns="0" bIns="0" rtlCol="0" anchor="ctr"/>
          <a:lstStyle/>
          <a:p>
            <a:pPr>
              <a:lnSpc>
                <a:spcPct val="100000"/>
              </a:lnSpc>
            </a:pPr>
            <a:r>
              <a:rPr lang="en-US" sz="2000" b="1" dirty="0">
                <a:solidFill>
                  <a:srgbClr val="1A4A7A"/>
                </a:solidFill>
                <a:latin typeface="Quattrocento Sans" pitchFamily="34" charset="0"/>
                <a:ea typeface="Quattrocento Sans" pitchFamily="34" charset="-122"/>
                <a:cs typeface="Quattrocento Sans" pitchFamily="34" charset="-120"/>
              </a:rPr>
              <a:t>Vector-Only RAG</a:t>
            </a:r>
            <a:endParaRPr lang="en-US" sz="1600" dirty="0"/>
          </a:p>
        </p:txBody>
      </p:sp>
      <p:sp>
        <p:nvSpPr>
          <p:cNvPr id="278" name="Shape 8"/>
          <p:cNvSpPr/>
          <p:nvPr/>
        </p:nvSpPr>
        <p:spPr>
          <a:xfrm>
            <a:off x="508000" y="1651000"/>
            <a:ext cx="15240000" cy="889000"/>
          </a:xfrm>
          <a:prstGeom prst="roundRect">
            <a:avLst>
              <a:gd name="adj" fmla="val 4000"/>
            </a:avLst>
          </a:prstGeom>
          <a:solidFill>
            <a:srgbClr val="F5F5F5"/>
          </a:solidFill>
          <a:ln/>
        </p:spPr>
        <p:txBody>
          <a:bodyPr/>
          <a:lstStyle/>
          <a:p>
            <a:endParaRPr/>
          </a:p>
        </p:txBody>
      </p:sp>
      <p:sp>
        <p:nvSpPr>
          <p:cNvPr id="279" name="Text 9"/>
          <p:cNvSpPr/>
          <p:nvPr/>
        </p:nvSpPr>
        <p:spPr>
          <a:xfrm>
            <a:off x="762000" y="1651000"/>
            <a:ext cx="14732000" cy="889000"/>
          </a:xfrm>
          <a:prstGeom prst="rect">
            <a:avLst/>
          </a:prstGeom>
          <a:noFill/>
          <a:ln/>
        </p:spPr>
        <p:txBody>
          <a:bodyPr wrap="square" lIns="0" tIns="0" rIns="0" bIns="0" rtlCol="0" anchor="ctr"/>
          <a:lstStyle/>
          <a:p>
            <a:pPr>
              <a:lnSpc>
                <a:spcPct val="150000"/>
              </a:lnSpc>
            </a:pPr>
            <a:r>
              <a:rPr lang="en-US" sz="1600" dirty="0">
                <a:solidFill>
                  <a:srgbClr val="2C2C2C"/>
                </a:solidFill>
                <a:latin typeface="Quattrocento Sans" pitchFamily="34" charset="0"/>
                <a:ea typeface="Quattrocento Sans" pitchFamily="34" charset="-122"/>
                <a:cs typeface="Quattrocento Sans" pitchFamily="34" charset="-120"/>
              </a:rPr>
              <a:t>Query → FAISS top-k chunks → Vector Context → LLM → Answer</a:t>
            </a:r>
            <a:endParaRPr lang="en-US" sz="1600" dirty="0"/>
          </a:p>
          <a:p>
            <a:pPr>
              <a:lnSpc>
                <a:spcPct val="150000"/>
              </a:lnSpc>
            </a:pPr>
            <a:r>
              <a:rPr lang="en-US" sz="1600" dirty="0">
                <a:solidFill>
                  <a:srgbClr val="888888"/>
                </a:solidFill>
                <a:latin typeface="Quattrocento Sans" pitchFamily="34" charset="0"/>
                <a:ea typeface="Quattrocento Sans" pitchFamily="34" charset="-122"/>
                <a:cs typeface="Quattrocento Sans" pitchFamily="34" charset="-120"/>
              </a:rPr>
              <a:t>Control group to validate "does graph help multi-hop?"</a:t>
            </a:r>
            <a:endParaRPr lang="en-US" sz="1600" dirty="0"/>
          </a:p>
        </p:txBody>
      </p:sp>
      <p:sp>
        <p:nvSpPr>
          <p:cNvPr id="280" name="Shape 10"/>
          <p:cNvSpPr/>
          <p:nvPr/>
        </p:nvSpPr>
        <p:spPr>
          <a:xfrm>
            <a:off x="508000" y="2717800"/>
            <a:ext cx="15240000" cy="12700"/>
          </a:xfrm>
          <a:prstGeom prst="rect">
            <a:avLst/>
          </a:prstGeom>
          <a:solidFill>
            <a:srgbClr val="E0E0E0"/>
          </a:solidFill>
          <a:ln/>
        </p:spPr>
        <p:txBody>
          <a:bodyPr/>
          <a:lstStyle/>
          <a:p>
            <a:endParaRPr/>
          </a:p>
        </p:txBody>
      </p:sp>
      <p:sp>
        <p:nvSpPr>
          <p:cNvPr id="281" name="Shape 11"/>
          <p:cNvSpPr/>
          <p:nvPr/>
        </p:nvSpPr>
        <p:spPr>
          <a:xfrm>
            <a:off x="508000" y="2895600"/>
            <a:ext cx="1524000" cy="406400"/>
          </a:xfrm>
          <a:prstGeom prst="roundRect">
            <a:avLst>
              <a:gd name="adj" fmla="val 4000"/>
            </a:avLst>
          </a:prstGeom>
          <a:solidFill>
            <a:srgbClr val="5B9BD5"/>
          </a:solidFill>
          <a:ln/>
        </p:spPr>
        <p:txBody>
          <a:bodyPr/>
          <a:lstStyle/>
          <a:p>
            <a:endParaRPr/>
          </a:p>
        </p:txBody>
      </p:sp>
      <p:sp>
        <p:nvSpPr>
          <p:cNvPr id="282" name="Text 12"/>
          <p:cNvSpPr/>
          <p:nvPr/>
        </p:nvSpPr>
        <p:spPr>
          <a:xfrm>
            <a:off x="508000" y="2895600"/>
            <a:ext cx="1524000" cy="4064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 Sans" pitchFamily="34" charset="0"/>
                <a:ea typeface="Quattrocento Sans" pitchFamily="34" charset="-122"/>
                <a:cs typeface="Quattrocento Sans" pitchFamily="34" charset="-120"/>
              </a:rPr>
              <a:t>HYBRID</a:t>
            </a:r>
            <a:endParaRPr lang="en-US" sz="1600" dirty="0"/>
          </a:p>
        </p:txBody>
      </p:sp>
      <p:sp>
        <p:nvSpPr>
          <p:cNvPr id="283" name="Text 13"/>
          <p:cNvSpPr/>
          <p:nvPr/>
        </p:nvSpPr>
        <p:spPr>
          <a:xfrm>
            <a:off x="2235200" y="2895600"/>
            <a:ext cx="7620000" cy="406400"/>
          </a:xfrm>
          <a:prstGeom prst="rect">
            <a:avLst/>
          </a:prstGeom>
          <a:noFill/>
          <a:ln/>
        </p:spPr>
        <p:txBody>
          <a:bodyPr wrap="none" lIns="0" tIns="0" rIns="0" bIns="0" rtlCol="0" anchor="ctr"/>
          <a:lstStyle/>
          <a:p>
            <a:pPr>
              <a:lnSpc>
                <a:spcPct val="100000"/>
              </a:lnSpc>
            </a:pPr>
            <a:r>
              <a:rPr lang="en-US" sz="2000" b="1" dirty="0">
                <a:solidFill>
                  <a:srgbClr val="1A4A7A"/>
                </a:solidFill>
                <a:latin typeface="Quattrocento Sans" pitchFamily="34" charset="0"/>
                <a:ea typeface="Quattrocento Sans" pitchFamily="34" charset="-122"/>
                <a:cs typeface="Quattrocento Sans" pitchFamily="34" charset="-120"/>
              </a:rPr>
              <a:t>GraphRAG Hybrid (Vector + Graph Edges)</a:t>
            </a:r>
            <a:endParaRPr lang="en-US" sz="1600" dirty="0"/>
          </a:p>
        </p:txBody>
      </p:sp>
      <p:sp>
        <p:nvSpPr>
          <p:cNvPr id="284" name="Shape 14"/>
          <p:cNvSpPr/>
          <p:nvPr/>
        </p:nvSpPr>
        <p:spPr>
          <a:xfrm>
            <a:off x="508000" y="3429000"/>
            <a:ext cx="15240000" cy="889000"/>
          </a:xfrm>
          <a:prstGeom prst="roundRect">
            <a:avLst>
              <a:gd name="adj" fmla="val 4000"/>
            </a:avLst>
          </a:prstGeom>
          <a:solidFill>
            <a:srgbClr val="F5F5F5"/>
          </a:solidFill>
          <a:ln/>
        </p:spPr>
        <p:txBody>
          <a:bodyPr/>
          <a:lstStyle/>
          <a:p>
            <a:endParaRPr/>
          </a:p>
        </p:txBody>
      </p:sp>
      <p:sp>
        <p:nvSpPr>
          <p:cNvPr id="285" name="Text 15"/>
          <p:cNvSpPr/>
          <p:nvPr/>
        </p:nvSpPr>
        <p:spPr>
          <a:xfrm>
            <a:off x="762000" y="3429000"/>
            <a:ext cx="14732000" cy="889000"/>
          </a:xfrm>
          <a:prstGeom prst="rect">
            <a:avLst/>
          </a:prstGeom>
          <a:noFill/>
          <a:ln/>
        </p:spPr>
        <p:txBody>
          <a:bodyPr wrap="square" lIns="0" tIns="0" rIns="0" bIns="0" rtlCol="0" anchor="ctr"/>
          <a:lstStyle/>
          <a:p>
            <a:pPr>
              <a:lnSpc>
                <a:spcPct val="150000"/>
              </a:lnSpc>
            </a:pPr>
            <a:r>
              <a:rPr lang="en-US" sz="1600" dirty="0">
                <a:solidFill>
                  <a:srgbClr val="2C2C2C"/>
                </a:solidFill>
                <a:latin typeface="Quattrocento Sans" pitchFamily="34" charset="0"/>
                <a:ea typeface="Quattrocento Sans" pitchFamily="34" charset="-122"/>
                <a:cs typeface="Quattrocento Sans" pitchFamily="34" charset="-120"/>
              </a:rPr>
              <a:t>Query → FAISS top-k chunks (seed docs) → doc_entities → 1-hop graph expansion → Prompt(Vector + Graph Context) → LLM → Answer</a:t>
            </a:r>
            <a:endParaRPr lang="en-US" sz="1600" dirty="0"/>
          </a:p>
          <a:p>
            <a:pPr>
              <a:lnSpc>
                <a:spcPct val="150000"/>
              </a:lnSpc>
            </a:pPr>
            <a:r>
              <a:rPr lang="en-US" sz="1600" dirty="0">
                <a:solidFill>
                  <a:srgbClr val="888888"/>
                </a:solidFill>
                <a:latin typeface="Quattrocento Sans" pitchFamily="34" charset="0"/>
                <a:ea typeface="Quattrocento Sans" pitchFamily="34" charset="-122"/>
                <a:cs typeface="Quattrocento Sans" pitchFamily="34" charset="-120"/>
              </a:rPr>
              <a:t>Validates "does adding graph context help reasoning?"</a:t>
            </a:r>
            <a:endParaRPr lang="en-US" sz="1600" dirty="0"/>
          </a:p>
        </p:txBody>
      </p:sp>
      <p:sp>
        <p:nvSpPr>
          <p:cNvPr id="286" name="Shape 16"/>
          <p:cNvSpPr/>
          <p:nvPr/>
        </p:nvSpPr>
        <p:spPr>
          <a:xfrm>
            <a:off x="508000" y="4495800"/>
            <a:ext cx="15240000" cy="12700"/>
          </a:xfrm>
          <a:prstGeom prst="rect">
            <a:avLst/>
          </a:prstGeom>
          <a:solidFill>
            <a:srgbClr val="E0E0E0"/>
          </a:solidFill>
          <a:ln/>
        </p:spPr>
        <p:txBody>
          <a:bodyPr/>
          <a:lstStyle/>
          <a:p>
            <a:endParaRPr/>
          </a:p>
        </p:txBody>
      </p:sp>
      <p:sp>
        <p:nvSpPr>
          <p:cNvPr id="287" name="Shape 17"/>
          <p:cNvSpPr/>
          <p:nvPr/>
        </p:nvSpPr>
        <p:spPr>
          <a:xfrm>
            <a:off x="508000" y="4673600"/>
            <a:ext cx="1524000" cy="406400"/>
          </a:xfrm>
          <a:prstGeom prst="roundRect">
            <a:avLst>
              <a:gd name="adj" fmla="val 4000"/>
            </a:avLst>
          </a:prstGeom>
          <a:solidFill>
            <a:srgbClr val="2E86C1"/>
          </a:solidFill>
          <a:ln/>
        </p:spPr>
        <p:txBody>
          <a:bodyPr/>
          <a:lstStyle/>
          <a:p>
            <a:endParaRPr/>
          </a:p>
        </p:txBody>
      </p:sp>
      <p:sp>
        <p:nvSpPr>
          <p:cNvPr id="288" name="Text 18"/>
          <p:cNvSpPr/>
          <p:nvPr/>
        </p:nvSpPr>
        <p:spPr>
          <a:xfrm>
            <a:off x="508000" y="4673600"/>
            <a:ext cx="1524000" cy="406400"/>
          </a:xfrm>
          <a:prstGeom prst="rect">
            <a:avLst/>
          </a:prstGeom>
          <a:noFill/>
          <a:ln/>
        </p:spPr>
        <p:txBody>
          <a:bodyPr wrap="none" lIns="0" tIns="0" rIns="0" bIns="0" rtlCol="0" anchor="ctr"/>
          <a:lstStyle/>
          <a:p>
            <a:pPr algn="ctr">
              <a:lnSpc>
                <a:spcPct val="100000"/>
              </a:lnSpc>
            </a:pPr>
            <a:r>
              <a:rPr lang="en-US" sz="1300" dirty="0">
                <a:solidFill>
                  <a:srgbClr val="FFFFFF"/>
                </a:solidFill>
                <a:latin typeface="Quattrocento Sans" pitchFamily="34" charset="0"/>
                <a:ea typeface="Quattrocento Sans" pitchFamily="34" charset="-122"/>
                <a:cs typeface="Quattrocento Sans" pitchFamily="34" charset="-120"/>
              </a:rPr>
              <a:t>CORE</a:t>
            </a:r>
            <a:endParaRPr lang="en-US" sz="1600" dirty="0"/>
          </a:p>
        </p:txBody>
      </p:sp>
      <p:sp>
        <p:nvSpPr>
          <p:cNvPr id="289" name="Text 19"/>
          <p:cNvSpPr/>
          <p:nvPr/>
        </p:nvSpPr>
        <p:spPr>
          <a:xfrm>
            <a:off x="2235200" y="4673600"/>
            <a:ext cx="8890000" cy="406400"/>
          </a:xfrm>
          <a:prstGeom prst="rect">
            <a:avLst/>
          </a:prstGeom>
          <a:noFill/>
          <a:ln/>
        </p:spPr>
        <p:txBody>
          <a:bodyPr wrap="none" lIns="0" tIns="0" rIns="0" bIns="0" rtlCol="0" anchor="ctr"/>
          <a:lstStyle/>
          <a:p>
            <a:pPr>
              <a:lnSpc>
                <a:spcPct val="100000"/>
              </a:lnSpc>
            </a:pPr>
            <a:r>
              <a:rPr lang="en-US" sz="2000" b="1" dirty="0">
                <a:solidFill>
                  <a:srgbClr val="1A4A7A"/>
                </a:solidFill>
                <a:latin typeface="Quattrocento Sans" pitchFamily="34" charset="0"/>
                <a:ea typeface="Quattrocento Sans" pitchFamily="34" charset="-122"/>
                <a:cs typeface="Quattrocento Sans" pitchFamily="34" charset="-120"/>
              </a:rPr>
              <a:t>GraphRAG Graph-Guided (Core)</a:t>
            </a:r>
            <a:endParaRPr lang="en-US" sz="1600" dirty="0"/>
          </a:p>
        </p:txBody>
      </p:sp>
      <p:sp>
        <p:nvSpPr>
          <p:cNvPr id="290" name="Shape 20"/>
          <p:cNvSpPr/>
          <p:nvPr/>
        </p:nvSpPr>
        <p:spPr>
          <a:xfrm>
            <a:off x="508000" y="5207000"/>
            <a:ext cx="15240000" cy="1778000"/>
          </a:xfrm>
          <a:prstGeom prst="roundRect">
            <a:avLst>
              <a:gd name="adj" fmla="val 4000"/>
            </a:avLst>
          </a:prstGeom>
          <a:solidFill>
            <a:srgbClr val="E3F0FA"/>
          </a:solidFill>
          <a:ln/>
        </p:spPr>
        <p:txBody>
          <a:bodyPr/>
          <a:lstStyle/>
          <a:p>
            <a:endParaRPr/>
          </a:p>
        </p:txBody>
      </p:sp>
      <p:sp>
        <p:nvSpPr>
          <p:cNvPr id="291" name="Text 21"/>
          <p:cNvSpPr/>
          <p:nvPr/>
        </p:nvSpPr>
        <p:spPr>
          <a:xfrm>
            <a:off x="762000" y="5308600"/>
            <a:ext cx="14732000" cy="1574800"/>
          </a:xfrm>
          <a:prstGeom prst="rect">
            <a:avLst/>
          </a:prstGeom>
          <a:noFill/>
          <a:ln/>
        </p:spPr>
        <p:txBody>
          <a:bodyPr wrap="square" lIns="0" tIns="0" rIns="0" bIns="0" rtlCol="0" anchor="ctr"/>
          <a:lstStyle/>
          <a:p>
            <a:pPr>
              <a:lnSpc>
                <a:spcPct val="160000"/>
              </a:lnSpc>
            </a:pPr>
            <a:r>
              <a:rPr lang="en-US" sz="1500" dirty="0">
                <a:solidFill>
                  <a:srgbClr val="2C2C2C"/>
                </a:solidFill>
                <a:latin typeface="Quattrocento Sans" pitchFamily="34" charset="0"/>
                <a:ea typeface="Quattrocento Sans" pitchFamily="34" charset="-122"/>
                <a:cs typeface="Quattrocento Sans" pitchFamily="34" charset="-120"/>
              </a:rPr>
              <a:t>Query → FAISS chunks + community index → seed docs → </a:t>
            </a:r>
            <a:endParaRPr/>
          </a:p>
          <a:p>
            <a:pPr>
              <a:lnSpc>
                <a:spcPct val="160000"/>
              </a:lnSpc>
            </a:pPr>
            <a:r>
              <a:rPr lang="en-US" sz="1500" dirty="0">
                <a:solidFill>
                  <a:srgbClr val="888888"/>
                </a:solidFill>
                <a:latin typeface="Quattrocento Sans" pitchFamily="34" charset="0"/>
                <a:ea typeface="Quattrocento Sans" pitchFamily="34" charset="-122"/>
                <a:cs typeface="Quattrocento Sans" pitchFamily="34" charset="-120"/>
              </a:rPr>
              <a:t>Graph produces retrieval paths; evidence chunks are primary evidence — "graph first, then text"</a:t>
            </a:r>
            <a:endParaRPr lang="en-US" sz="1600" dirty="0"/>
          </a:p>
        </p:txBody>
      </p:sp>
      <p:sp>
        <p:nvSpPr>
          <p:cNvPr id="292" name="Text 24"/>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25</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6">
    <p:bg>
      <p:bgPr>
        <a:solidFill>
          <a:srgbClr val="F6F9FC"/>
        </a:solidFill>
        <a:effectLst/>
      </p:bgPr>
    </p:bg>
    <p:spTree>
      <p:nvGrpSpPr>
        <p:cNvPr id="1" name=""/>
        <p:cNvGrpSpPr/>
        <p:nvPr/>
      </p:nvGrpSpPr>
      <p:grpSpPr>
        <a:xfrm>
          <a:off x="0" y="0"/>
          <a:ext cx="0" cy="0"/>
          <a:chOff x="0" y="0"/>
          <a:chExt cx="0" cy="0"/>
        </a:xfrm>
      </p:grpSpPr>
      <p:sp>
        <p:nvSpPr>
          <p:cNvPr id="294" name="Shape 0"/>
          <p:cNvSpPr/>
          <p:nvPr/>
        </p:nvSpPr>
        <p:spPr>
          <a:xfrm>
            <a:off x="0" y="0"/>
            <a:ext cx="76200" cy="9144000"/>
          </a:xfrm>
          <a:prstGeom prst="rect">
            <a:avLst/>
          </a:prstGeom>
          <a:solidFill>
            <a:srgbClr val="1A4A7A"/>
          </a:solidFill>
          <a:ln/>
        </p:spPr>
        <p:txBody>
          <a:bodyPr/>
          <a:lstStyle/>
          <a:p>
            <a:endParaRPr/>
          </a:p>
        </p:txBody>
      </p:sp>
      <p:sp>
        <p:nvSpPr>
          <p:cNvPr id="295" name="Shape 1"/>
          <p:cNvSpPr/>
          <p:nvPr/>
        </p:nvSpPr>
        <p:spPr>
          <a:xfrm>
            <a:off x="0" y="0"/>
            <a:ext cx="16256000" cy="38100"/>
          </a:xfrm>
          <a:prstGeom prst="rect">
            <a:avLst/>
          </a:prstGeom>
          <a:solidFill>
            <a:srgbClr val="1A4A7A"/>
          </a:solidFill>
          <a:ln/>
        </p:spPr>
        <p:txBody>
          <a:bodyPr/>
          <a:lstStyle/>
          <a:p>
            <a:endParaRPr/>
          </a:p>
        </p:txBody>
      </p:sp>
      <p:sp>
        <p:nvSpPr>
          <p:cNvPr id="296"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dirty="0">
                <a:solidFill>
                  <a:srgbClr val="5B9BD5"/>
                </a:solidFill>
                <a:latin typeface="Quattrocento Sans" pitchFamily="34" charset="0"/>
                <a:ea typeface="Quattrocento Sans" pitchFamily="34" charset="-122"/>
                <a:cs typeface="Quattrocento Sans" pitchFamily="34" charset="-120"/>
              </a:rPr>
              <a:t>04 RAG System — Hybrid Retrieval</a:t>
            </a:r>
            <a:endParaRPr lang="en-US" sz="1600" dirty="0"/>
          </a:p>
        </p:txBody>
      </p:sp>
      <p:sp>
        <p:nvSpPr>
          <p:cNvPr id="297"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dirty="0">
                <a:solidFill>
                  <a:srgbClr val="1A4A7A"/>
                </a:solidFill>
                <a:latin typeface="Quattrocento Sans" pitchFamily="34" charset="0"/>
                <a:ea typeface="Quattrocento Sans" pitchFamily="34" charset="-122"/>
                <a:cs typeface="Quattrocento Sans" pitchFamily="34" charset="-120"/>
              </a:rPr>
              <a:t>Graph-Guided Retrieval Pipeline</a:t>
            </a:r>
            <a:endParaRPr lang="en-US" sz="1600" dirty="0"/>
          </a:p>
        </p:txBody>
      </p:sp>
      <p:sp>
        <p:nvSpPr>
          <p:cNvPr id="298" name="Shape 4"/>
          <p:cNvSpPr/>
          <p:nvPr/>
        </p:nvSpPr>
        <p:spPr>
          <a:xfrm>
            <a:off x="508000" y="863600"/>
            <a:ext cx="15240000" cy="12700"/>
          </a:xfrm>
          <a:prstGeom prst="rect">
            <a:avLst/>
          </a:prstGeom>
          <a:solidFill>
            <a:srgbClr val="E0E0E0"/>
          </a:solidFill>
          <a:ln/>
        </p:spPr>
        <p:txBody>
          <a:bodyPr/>
          <a:lstStyle/>
          <a:p>
            <a:endParaRPr/>
          </a:p>
        </p:txBody>
      </p:sp>
      <p:sp>
        <p:nvSpPr>
          <p:cNvPr id="299" name="Shape 5"/>
          <p:cNvSpPr/>
          <p:nvPr/>
        </p:nvSpPr>
        <p:spPr>
          <a:xfrm>
            <a:off x="508000" y="1117600"/>
            <a:ext cx="3429000" cy="914400"/>
          </a:xfrm>
          <a:prstGeom prst="roundRect">
            <a:avLst>
              <a:gd name="adj" fmla="val 4000"/>
            </a:avLst>
          </a:prstGeom>
          <a:solidFill>
            <a:srgbClr val="1A4A7A"/>
          </a:solidFill>
          <a:ln/>
        </p:spPr>
        <p:txBody>
          <a:bodyPr/>
          <a:lstStyle/>
          <a:p>
            <a:endParaRPr/>
          </a:p>
        </p:txBody>
      </p:sp>
      <p:sp>
        <p:nvSpPr>
          <p:cNvPr id="300" name="Text 6"/>
          <p:cNvSpPr/>
          <p:nvPr/>
        </p:nvSpPr>
        <p:spPr>
          <a:xfrm>
            <a:off x="635000" y="1193800"/>
            <a:ext cx="3175000" cy="762000"/>
          </a:xfrm>
          <a:prstGeom prst="rect">
            <a:avLst/>
          </a:prstGeom>
          <a:noFill/>
          <a:ln/>
        </p:spPr>
        <p:txBody>
          <a:bodyPr wrap="square" lIns="0" tIns="0" rIns="0" bIns="0" rtlCol="0" anchor="ctr"/>
          <a:lstStyle/>
          <a:p>
            <a:pPr>
              <a:lnSpc>
                <a:spcPct val="140000"/>
              </a:lnSpc>
            </a:pPr>
            <a:r>
              <a:rPr lang="en-US" sz="1300" b="1" dirty="0">
                <a:solidFill>
                  <a:srgbClr val="FFFFFF"/>
                </a:solidFill>
                <a:latin typeface="Quattrocento Sans" pitchFamily="34" charset="0"/>
                <a:ea typeface="Quattrocento Sans" pitchFamily="34" charset="-122"/>
                <a:cs typeface="Quattrocento Sans" pitchFamily="34" charset="-120"/>
              </a:rPr>
              <a:t>1. FAISS top-k</a:t>
            </a:r>
            <a:endParaRPr lang="en-US" sz="1600" dirty="0"/>
          </a:p>
          <a:p>
            <a:pPr>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seed docs from vector search</a:t>
            </a:r>
            <a:endParaRPr lang="en-US" sz="1600" dirty="0"/>
          </a:p>
        </p:txBody>
      </p:sp>
      <p:sp>
        <p:nvSpPr>
          <p:cNvPr id="301" name="Shape 7"/>
          <p:cNvSpPr/>
          <p:nvPr/>
        </p:nvSpPr>
        <p:spPr>
          <a:xfrm>
            <a:off x="4038600" y="1574800"/>
            <a:ext cx="381000" cy="203200"/>
          </a:xfrm>
          <a:prstGeom prst="rightArrow">
            <a:avLst>
              <a:gd name="adj1" fmla="val 50000"/>
              <a:gd name="adj2" fmla="val 50000"/>
            </a:avLst>
          </a:prstGeom>
          <a:solidFill>
            <a:srgbClr val="5B9BD5"/>
          </a:solidFill>
          <a:ln/>
        </p:spPr>
        <p:txBody>
          <a:bodyPr/>
          <a:lstStyle/>
          <a:p>
            <a:endParaRPr/>
          </a:p>
        </p:txBody>
      </p:sp>
      <p:sp>
        <p:nvSpPr>
          <p:cNvPr id="302" name="Shape 8"/>
          <p:cNvSpPr/>
          <p:nvPr/>
        </p:nvSpPr>
        <p:spPr>
          <a:xfrm>
            <a:off x="4521200" y="1117600"/>
            <a:ext cx="3429000" cy="914400"/>
          </a:xfrm>
          <a:prstGeom prst="roundRect">
            <a:avLst>
              <a:gd name="adj" fmla="val 4000"/>
            </a:avLst>
          </a:prstGeom>
          <a:solidFill>
            <a:srgbClr val="5B9BD5"/>
          </a:solidFill>
          <a:ln/>
        </p:spPr>
        <p:txBody>
          <a:bodyPr/>
          <a:lstStyle/>
          <a:p>
            <a:endParaRPr/>
          </a:p>
        </p:txBody>
      </p:sp>
      <p:sp>
        <p:nvSpPr>
          <p:cNvPr id="303" name="Text 9"/>
          <p:cNvSpPr/>
          <p:nvPr/>
        </p:nvSpPr>
        <p:spPr>
          <a:xfrm>
            <a:off x="4648200" y="1193800"/>
            <a:ext cx="3175000" cy="762000"/>
          </a:xfrm>
          <a:prstGeom prst="rect">
            <a:avLst/>
          </a:prstGeom>
          <a:noFill/>
          <a:ln/>
        </p:spPr>
        <p:txBody>
          <a:bodyPr wrap="square" lIns="0" tIns="0" rIns="0" bIns="0" rtlCol="0" anchor="ctr"/>
          <a:lstStyle/>
          <a:p>
            <a:pPr>
              <a:lnSpc>
                <a:spcPct val="140000"/>
              </a:lnSpc>
            </a:pPr>
            <a:r>
              <a:rPr lang="en-US" sz="1300" b="1" dirty="0">
                <a:solidFill>
                  <a:srgbClr val="FFFFFF"/>
                </a:solidFill>
                <a:latin typeface="Quattrocento Sans" pitchFamily="34" charset="0"/>
                <a:ea typeface="Quattrocento Sans" pitchFamily="34" charset="-122"/>
                <a:cs typeface="Quattrocento Sans" pitchFamily="34" charset="-120"/>
              </a:rPr>
              <a:t>2. Community Index</a:t>
            </a:r>
            <a:endParaRPr lang="en-US" sz="1600" dirty="0"/>
          </a:p>
          <a:p>
            <a:pPr>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top communities reduce scope</a:t>
            </a:r>
            <a:endParaRPr lang="en-US" sz="1600" dirty="0"/>
          </a:p>
        </p:txBody>
      </p:sp>
      <p:sp>
        <p:nvSpPr>
          <p:cNvPr id="304" name="Shape 10"/>
          <p:cNvSpPr/>
          <p:nvPr/>
        </p:nvSpPr>
        <p:spPr>
          <a:xfrm>
            <a:off x="8051800" y="1574800"/>
            <a:ext cx="381000" cy="203200"/>
          </a:xfrm>
          <a:prstGeom prst="rightArrow">
            <a:avLst>
              <a:gd name="adj1" fmla="val 50000"/>
              <a:gd name="adj2" fmla="val 50000"/>
            </a:avLst>
          </a:prstGeom>
          <a:solidFill>
            <a:srgbClr val="5B9BD5"/>
          </a:solidFill>
          <a:ln/>
        </p:spPr>
        <p:txBody>
          <a:bodyPr/>
          <a:lstStyle/>
          <a:p>
            <a:endParaRPr/>
          </a:p>
        </p:txBody>
      </p:sp>
      <p:sp>
        <p:nvSpPr>
          <p:cNvPr id="305" name="Shape 11"/>
          <p:cNvSpPr/>
          <p:nvPr/>
        </p:nvSpPr>
        <p:spPr>
          <a:xfrm>
            <a:off x="8534400" y="1117600"/>
            <a:ext cx="3429000" cy="914400"/>
          </a:xfrm>
          <a:prstGeom prst="roundRect">
            <a:avLst>
              <a:gd name="adj" fmla="val 4000"/>
            </a:avLst>
          </a:prstGeom>
          <a:solidFill>
            <a:srgbClr val="2E86C1"/>
          </a:solidFill>
          <a:ln/>
        </p:spPr>
        <p:txBody>
          <a:bodyPr/>
          <a:lstStyle/>
          <a:p>
            <a:endParaRPr/>
          </a:p>
        </p:txBody>
      </p:sp>
      <p:sp>
        <p:nvSpPr>
          <p:cNvPr id="306" name="Text 12"/>
          <p:cNvSpPr/>
          <p:nvPr/>
        </p:nvSpPr>
        <p:spPr>
          <a:xfrm>
            <a:off x="8661400" y="1193800"/>
            <a:ext cx="3175000" cy="762000"/>
          </a:xfrm>
          <a:prstGeom prst="rect">
            <a:avLst/>
          </a:prstGeom>
          <a:noFill/>
          <a:ln/>
        </p:spPr>
        <p:txBody>
          <a:bodyPr wrap="square" lIns="0" tIns="0" rIns="0" bIns="0" rtlCol="0" anchor="ctr"/>
          <a:lstStyle/>
          <a:p>
            <a:pPr>
              <a:lnSpc>
                <a:spcPct val="140000"/>
              </a:lnSpc>
            </a:pPr>
            <a:r>
              <a:rPr lang="en-US" sz="1300" b="1" dirty="0">
                <a:solidFill>
                  <a:srgbClr val="FFFFFF"/>
                </a:solidFill>
                <a:latin typeface="Quattrocento Sans" pitchFamily="34" charset="0"/>
                <a:ea typeface="Quattrocento Sans" pitchFamily="34" charset="-122"/>
                <a:cs typeface="Quattrocento Sans" pitchFamily="34" charset="-120"/>
              </a:rPr>
              <a:t>3. PageRank Filter</a:t>
            </a:r>
            <a:endParaRPr lang="en-US" sz="1600" dirty="0"/>
          </a:p>
          <a:p>
            <a:pPr>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prioritize important entities</a:t>
            </a:r>
            <a:endParaRPr lang="en-US" sz="1600" dirty="0"/>
          </a:p>
        </p:txBody>
      </p:sp>
      <p:sp>
        <p:nvSpPr>
          <p:cNvPr id="307" name="Shape 13"/>
          <p:cNvSpPr/>
          <p:nvPr/>
        </p:nvSpPr>
        <p:spPr>
          <a:xfrm>
            <a:off x="12065000" y="1574800"/>
            <a:ext cx="381000" cy="203200"/>
          </a:xfrm>
          <a:prstGeom prst="rightArrow">
            <a:avLst>
              <a:gd name="adj1" fmla="val 50000"/>
              <a:gd name="adj2" fmla="val 50000"/>
            </a:avLst>
          </a:prstGeom>
          <a:solidFill>
            <a:srgbClr val="5B9BD5"/>
          </a:solidFill>
          <a:ln/>
        </p:spPr>
        <p:txBody>
          <a:bodyPr/>
          <a:lstStyle/>
          <a:p>
            <a:endParaRPr/>
          </a:p>
        </p:txBody>
      </p:sp>
      <p:sp>
        <p:nvSpPr>
          <p:cNvPr id="308" name="Shape 14"/>
          <p:cNvSpPr/>
          <p:nvPr/>
        </p:nvSpPr>
        <p:spPr>
          <a:xfrm>
            <a:off x="12547600" y="1117600"/>
            <a:ext cx="3200400" cy="914400"/>
          </a:xfrm>
          <a:prstGeom prst="roundRect">
            <a:avLst>
              <a:gd name="adj" fmla="val 4000"/>
            </a:avLst>
          </a:prstGeom>
          <a:solidFill>
            <a:srgbClr val="1A4A7A"/>
          </a:solidFill>
          <a:ln/>
        </p:spPr>
        <p:txBody>
          <a:bodyPr/>
          <a:lstStyle/>
          <a:p>
            <a:endParaRPr/>
          </a:p>
        </p:txBody>
      </p:sp>
      <p:sp>
        <p:nvSpPr>
          <p:cNvPr id="309" name="Text 15"/>
          <p:cNvSpPr/>
          <p:nvPr/>
        </p:nvSpPr>
        <p:spPr>
          <a:xfrm>
            <a:off x="12674600" y="1193800"/>
            <a:ext cx="2946400" cy="762000"/>
          </a:xfrm>
          <a:prstGeom prst="rect">
            <a:avLst/>
          </a:prstGeom>
          <a:noFill/>
          <a:ln/>
        </p:spPr>
        <p:txBody>
          <a:bodyPr wrap="square" lIns="0" tIns="0" rIns="0" bIns="0" rtlCol="0" anchor="ctr"/>
          <a:lstStyle/>
          <a:p>
            <a:pPr>
              <a:lnSpc>
                <a:spcPct val="140000"/>
              </a:lnSpc>
            </a:pPr>
            <a:r>
              <a:rPr lang="en-US" sz="1300" b="1" dirty="0">
                <a:solidFill>
                  <a:srgbClr val="FFFFFF"/>
                </a:solidFill>
                <a:latin typeface="Quattrocento Sans" pitchFamily="34" charset="0"/>
                <a:ea typeface="Quattrocento Sans" pitchFamily="34" charset="-122"/>
                <a:cs typeface="Quattrocento Sans" pitchFamily="34" charset="-120"/>
              </a:rPr>
              <a:t>4. Louvain Expand</a:t>
            </a:r>
            <a:endParaRPr lang="en-US" sz="1600" dirty="0"/>
          </a:p>
          <a:p>
            <a:pPr>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intra-community neighbors</a:t>
            </a:r>
            <a:endParaRPr lang="en-US" sz="1600" dirty="0"/>
          </a:p>
        </p:txBody>
      </p:sp>
      <p:sp>
        <p:nvSpPr>
          <p:cNvPr id="310" name="Shape 16"/>
          <p:cNvSpPr/>
          <p:nvPr/>
        </p:nvSpPr>
        <p:spPr>
          <a:xfrm>
            <a:off x="7874000" y="2133600"/>
            <a:ext cx="254000" cy="304800"/>
          </a:xfrm>
          <a:prstGeom prst="triangle">
            <a:avLst>
              <a:gd name="adj" fmla="val 50000"/>
            </a:avLst>
          </a:prstGeom>
          <a:solidFill>
            <a:srgbClr val="5B9BD5"/>
          </a:solidFill>
          <a:ln/>
        </p:spPr>
        <p:txBody>
          <a:bodyPr/>
          <a:lstStyle/>
          <a:p>
            <a:endParaRPr/>
          </a:p>
        </p:txBody>
      </p:sp>
      <p:sp>
        <p:nvSpPr>
          <p:cNvPr id="311" name="Shape 17"/>
          <p:cNvSpPr/>
          <p:nvPr/>
        </p:nvSpPr>
        <p:spPr>
          <a:xfrm>
            <a:off x="508000" y="2540000"/>
            <a:ext cx="3429000" cy="914400"/>
          </a:xfrm>
          <a:prstGeom prst="roundRect">
            <a:avLst>
              <a:gd name="adj" fmla="val 4000"/>
            </a:avLst>
          </a:prstGeom>
          <a:solidFill>
            <a:srgbClr val="5B9BD5"/>
          </a:solidFill>
          <a:ln/>
        </p:spPr>
        <p:txBody>
          <a:bodyPr/>
          <a:lstStyle/>
          <a:p>
            <a:endParaRPr/>
          </a:p>
        </p:txBody>
      </p:sp>
      <p:sp>
        <p:nvSpPr>
          <p:cNvPr id="312" name="Text 18"/>
          <p:cNvSpPr/>
          <p:nvPr/>
        </p:nvSpPr>
        <p:spPr>
          <a:xfrm>
            <a:off x="635000" y="2616200"/>
            <a:ext cx="3175000" cy="762000"/>
          </a:xfrm>
          <a:prstGeom prst="rect">
            <a:avLst/>
          </a:prstGeom>
          <a:noFill/>
          <a:ln/>
        </p:spPr>
        <p:txBody>
          <a:bodyPr wrap="square" lIns="0" tIns="0" rIns="0" bIns="0" rtlCol="0" anchor="ctr"/>
          <a:lstStyle/>
          <a:p>
            <a:pPr>
              <a:lnSpc>
                <a:spcPct val="140000"/>
              </a:lnSpc>
            </a:pPr>
            <a:r>
              <a:rPr lang="en-US" sz="1300" b="1" dirty="0">
                <a:solidFill>
                  <a:srgbClr val="FFFFFF"/>
                </a:solidFill>
                <a:latin typeface="Quattrocento Sans" pitchFamily="34" charset="0"/>
                <a:ea typeface="Quattrocento Sans" pitchFamily="34" charset="-122"/>
                <a:cs typeface="Quattrocento Sans" pitchFamily="34" charset="-120"/>
              </a:rPr>
              <a:t>5. Graph 1-hop/2-hop</a:t>
            </a:r>
            <a:endParaRPr lang="en-US" sz="1600" dirty="0"/>
          </a:p>
          <a:p>
            <a:pPr>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edges sorted by dst_pagerank</a:t>
            </a:r>
            <a:endParaRPr lang="en-US" sz="1600" dirty="0"/>
          </a:p>
        </p:txBody>
      </p:sp>
      <p:sp>
        <p:nvSpPr>
          <p:cNvPr id="313" name="Shape 19"/>
          <p:cNvSpPr/>
          <p:nvPr/>
        </p:nvSpPr>
        <p:spPr>
          <a:xfrm>
            <a:off x="4038600" y="2997200"/>
            <a:ext cx="381000" cy="203200"/>
          </a:xfrm>
          <a:prstGeom prst="rightArrow">
            <a:avLst>
              <a:gd name="adj1" fmla="val 50000"/>
              <a:gd name="adj2" fmla="val 50000"/>
            </a:avLst>
          </a:prstGeom>
          <a:solidFill>
            <a:srgbClr val="5B9BD5"/>
          </a:solidFill>
          <a:ln/>
        </p:spPr>
        <p:txBody>
          <a:bodyPr/>
          <a:lstStyle/>
          <a:p>
            <a:endParaRPr/>
          </a:p>
        </p:txBody>
      </p:sp>
      <p:sp>
        <p:nvSpPr>
          <p:cNvPr id="314" name="Shape 20"/>
          <p:cNvSpPr/>
          <p:nvPr/>
        </p:nvSpPr>
        <p:spPr>
          <a:xfrm>
            <a:off x="4521200" y="2540000"/>
            <a:ext cx="3429000" cy="914400"/>
          </a:xfrm>
          <a:prstGeom prst="roundRect">
            <a:avLst>
              <a:gd name="adj" fmla="val 4000"/>
            </a:avLst>
          </a:prstGeom>
          <a:solidFill>
            <a:srgbClr val="2E86C1"/>
          </a:solidFill>
          <a:ln/>
        </p:spPr>
        <p:txBody>
          <a:bodyPr/>
          <a:lstStyle/>
          <a:p>
            <a:endParaRPr/>
          </a:p>
        </p:txBody>
      </p:sp>
      <p:sp>
        <p:nvSpPr>
          <p:cNvPr id="315" name="Text 21"/>
          <p:cNvSpPr/>
          <p:nvPr/>
        </p:nvSpPr>
        <p:spPr>
          <a:xfrm>
            <a:off x="4648200" y="2616200"/>
            <a:ext cx="3175000" cy="762000"/>
          </a:xfrm>
          <a:prstGeom prst="rect">
            <a:avLst/>
          </a:prstGeom>
          <a:noFill/>
          <a:ln/>
        </p:spPr>
        <p:txBody>
          <a:bodyPr wrap="square" lIns="0" tIns="0" rIns="0" bIns="0" rtlCol="0" anchor="ctr"/>
          <a:lstStyle/>
          <a:p>
            <a:pPr>
              <a:lnSpc>
                <a:spcPct val="140000"/>
              </a:lnSpc>
            </a:pPr>
            <a:r>
              <a:rPr lang="en-US" sz="1300" b="1" dirty="0">
                <a:solidFill>
                  <a:srgbClr val="FFFFFF"/>
                </a:solidFill>
                <a:latin typeface="Quattrocento Sans" pitchFamily="34" charset="0"/>
                <a:ea typeface="Quattrocento Sans" pitchFamily="34" charset="-122"/>
                <a:cs typeface="Quattrocento Sans" pitchFamily="34" charset="-120"/>
              </a:rPr>
              <a:t>6. entity_docs</a:t>
            </a:r>
            <a:endParaRPr lang="en-US" sz="1600" dirty="0"/>
          </a:p>
          <a:p>
            <a:pPr>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candidate doc_ids lookup</a:t>
            </a:r>
            <a:endParaRPr lang="en-US" sz="1600" dirty="0"/>
          </a:p>
        </p:txBody>
      </p:sp>
      <p:sp>
        <p:nvSpPr>
          <p:cNvPr id="316" name="Shape 22"/>
          <p:cNvSpPr/>
          <p:nvPr/>
        </p:nvSpPr>
        <p:spPr>
          <a:xfrm>
            <a:off x="8051800" y="2997200"/>
            <a:ext cx="381000" cy="203200"/>
          </a:xfrm>
          <a:prstGeom prst="rightArrow">
            <a:avLst>
              <a:gd name="adj1" fmla="val 50000"/>
              <a:gd name="adj2" fmla="val 50000"/>
            </a:avLst>
          </a:prstGeom>
          <a:solidFill>
            <a:srgbClr val="5B9BD5"/>
          </a:solidFill>
          <a:ln/>
        </p:spPr>
        <p:txBody>
          <a:bodyPr/>
          <a:lstStyle/>
          <a:p>
            <a:endParaRPr/>
          </a:p>
        </p:txBody>
      </p:sp>
      <p:sp>
        <p:nvSpPr>
          <p:cNvPr id="317" name="Shape 23"/>
          <p:cNvSpPr/>
          <p:nvPr/>
        </p:nvSpPr>
        <p:spPr>
          <a:xfrm>
            <a:off x="8534400" y="2540000"/>
            <a:ext cx="3429000" cy="914400"/>
          </a:xfrm>
          <a:prstGeom prst="roundRect">
            <a:avLst>
              <a:gd name="adj" fmla="val 4000"/>
            </a:avLst>
          </a:prstGeom>
          <a:solidFill>
            <a:srgbClr val="1A4A7A"/>
          </a:solidFill>
          <a:ln/>
        </p:spPr>
        <p:txBody>
          <a:bodyPr/>
          <a:lstStyle/>
          <a:p>
            <a:endParaRPr/>
          </a:p>
        </p:txBody>
      </p:sp>
      <p:sp>
        <p:nvSpPr>
          <p:cNvPr id="318" name="Text 24"/>
          <p:cNvSpPr/>
          <p:nvPr/>
        </p:nvSpPr>
        <p:spPr>
          <a:xfrm>
            <a:off x="8661400" y="2616200"/>
            <a:ext cx="3175000" cy="762000"/>
          </a:xfrm>
          <a:prstGeom prst="rect">
            <a:avLst/>
          </a:prstGeom>
          <a:noFill/>
          <a:ln/>
        </p:spPr>
        <p:txBody>
          <a:bodyPr wrap="square" lIns="0" tIns="0" rIns="0" bIns="0" rtlCol="0" anchor="ctr"/>
          <a:lstStyle/>
          <a:p>
            <a:pPr>
              <a:lnSpc>
                <a:spcPct val="140000"/>
              </a:lnSpc>
            </a:pPr>
            <a:r>
              <a:rPr lang="en-US" sz="1300" b="1" dirty="0">
                <a:solidFill>
                  <a:srgbClr val="FFFFFF"/>
                </a:solidFill>
                <a:latin typeface="Quattrocento Sans" pitchFamily="34" charset="0"/>
                <a:ea typeface="Quattrocento Sans" pitchFamily="34" charset="-122"/>
                <a:cs typeface="Quattrocento Sans" pitchFamily="34" charset="-120"/>
              </a:rPr>
              <a:t>7. Embedding Rerank</a:t>
            </a:r>
            <a:endParaRPr lang="en-US" sz="1600" dirty="0"/>
          </a:p>
          <a:p>
            <a:pPr>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extract &amp; rerank chunks</a:t>
            </a:r>
            <a:endParaRPr lang="en-US" sz="1600" dirty="0"/>
          </a:p>
        </p:txBody>
      </p:sp>
      <p:sp>
        <p:nvSpPr>
          <p:cNvPr id="319" name="Shape 25"/>
          <p:cNvSpPr/>
          <p:nvPr/>
        </p:nvSpPr>
        <p:spPr>
          <a:xfrm>
            <a:off x="12065000" y="2997200"/>
            <a:ext cx="381000" cy="203200"/>
          </a:xfrm>
          <a:prstGeom prst="rightArrow">
            <a:avLst>
              <a:gd name="adj1" fmla="val 50000"/>
              <a:gd name="adj2" fmla="val 50000"/>
            </a:avLst>
          </a:prstGeom>
          <a:solidFill>
            <a:srgbClr val="5B9BD5"/>
          </a:solidFill>
          <a:ln/>
        </p:spPr>
        <p:txBody>
          <a:bodyPr/>
          <a:lstStyle/>
          <a:p>
            <a:endParaRPr/>
          </a:p>
        </p:txBody>
      </p:sp>
      <p:sp>
        <p:nvSpPr>
          <p:cNvPr id="320" name="Shape 26"/>
          <p:cNvSpPr/>
          <p:nvPr/>
        </p:nvSpPr>
        <p:spPr>
          <a:xfrm>
            <a:off x="12547600" y="2540000"/>
            <a:ext cx="3200400" cy="914400"/>
          </a:xfrm>
          <a:prstGeom prst="roundRect">
            <a:avLst>
              <a:gd name="adj" fmla="val 4000"/>
            </a:avLst>
          </a:prstGeom>
          <a:solidFill>
            <a:srgbClr val="455A64"/>
          </a:solidFill>
          <a:ln/>
        </p:spPr>
        <p:txBody>
          <a:bodyPr/>
          <a:lstStyle/>
          <a:p>
            <a:endParaRPr/>
          </a:p>
        </p:txBody>
      </p:sp>
      <p:sp>
        <p:nvSpPr>
          <p:cNvPr id="321" name="Text 27"/>
          <p:cNvSpPr/>
          <p:nvPr/>
        </p:nvSpPr>
        <p:spPr>
          <a:xfrm>
            <a:off x="12674600" y="2616200"/>
            <a:ext cx="2946400" cy="762000"/>
          </a:xfrm>
          <a:prstGeom prst="rect">
            <a:avLst/>
          </a:prstGeom>
          <a:noFill/>
          <a:ln/>
        </p:spPr>
        <p:txBody>
          <a:bodyPr wrap="square" lIns="0" tIns="0" rIns="0" bIns="0" rtlCol="0" anchor="ctr"/>
          <a:lstStyle/>
          <a:p>
            <a:pPr>
              <a:lnSpc>
                <a:spcPct val="140000"/>
              </a:lnSpc>
            </a:pPr>
            <a:r>
              <a:rPr lang="en-US" sz="1300" b="1" dirty="0">
                <a:solidFill>
                  <a:srgbClr val="FFFFFF"/>
                </a:solidFill>
                <a:latin typeface="Quattrocento Sans" pitchFamily="34" charset="0"/>
                <a:ea typeface="Quattrocento Sans" pitchFamily="34" charset="-122"/>
                <a:cs typeface="Quattrocento Sans" pitchFamily="34" charset="-120"/>
              </a:rPr>
              <a:t>8. LLM Generation</a:t>
            </a:r>
            <a:endParaRPr lang="en-US" sz="1600" dirty="0"/>
          </a:p>
          <a:p>
            <a:pPr>
              <a:lnSpc>
                <a:spcPct val="140000"/>
              </a:lnSpc>
            </a:pPr>
            <a:r>
              <a:rPr lang="en-US" sz="1300" dirty="0">
                <a:solidFill>
                  <a:srgbClr val="FFFFFF"/>
                </a:solidFill>
                <a:latin typeface="Quattrocento Sans" pitchFamily="34" charset="0"/>
                <a:ea typeface="Quattrocento Sans" pitchFamily="34" charset="-122"/>
                <a:cs typeface="Quattrocento Sans" pitchFamily="34" charset="-120"/>
              </a:rPr>
              <a:t>Evidence + Graph → Answer</a:t>
            </a:r>
            <a:endParaRPr lang="en-US" sz="1600" dirty="0"/>
          </a:p>
        </p:txBody>
      </p:sp>
      <p:sp>
        <p:nvSpPr>
          <p:cNvPr id="322" name="Shape 28"/>
          <p:cNvSpPr/>
          <p:nvPr/>
        </p:nvSpPr>
        <p:spPr>
          <a:xfrm>
            <a:off x="508000" y="3810000"/>
            <a:ext cx="7493000" cy="508000"/>
          </a:xfrm>
          <a:prstGeom prst="roundRect">
            <a:avLst>
              <a:gd name="adj" fmla="val 4000"/>
            </a:avLst>
          </a:prstGeom>
          <a:solidFill>
            <a:srgbClr val="E3F0FA"/>
          </a:solidFill>
          <a:ln/>
        </p:spPr>
        <p:txBody>
          <a:bodyPr/>
          <a:lstStyle/>
          <a:p>
            <a:endParaRPr/>
          </a:p>
        </p:txBody>
      </p:sp>
      <p:sp>
        <p:nvSpPr>
          <p:cNvPr id="323" name="Text 29"/>
          <p:cNvSpPr/>
          <p:nvPr/>
        </p:nvSpPr>
        <p:spPr>
          <a:xfrm>
            <a:off x="762000" y="3810000"/>
            <a:ext cx="6985000" cy="508000"/>
          </a:xfrm>
          <a:prstGeom prst="rect">
            <a:avLst/>
          </a:prstGeom>
          <a:noFill/>
          <a:ln/>
        </p:spPr>
        <p:txBody>
          <a:bodyPr wrap="none" lIns="0" tIns="0" rIns="0" bIns="0" rtlCol="0" anchor="ctr"/>
          <a:lstStyle/>
          <a:p>
            <a:pPr>
              <a:lnSpc>
                <a:spcPct val="100000"/>
              </a:lnSpc>
            </a:pPr>
            <a:r>
              <a:rPr lang="en-US" sz="1400" b="1" dirty="0">
                <a:solidFill>
                  <a:srgbClr val="1A4A7A"/>
                </a:solidFill>
                <a:latin typeface="Quattrocento Sans" pitchFamily="34" charset="0"/>
                <a:ea typeface="Quattrocento Sans" pitchFamily="34" charset="-122"/>
                <a:cs typeface="Quattrocento Sans" pitchFamily="34" charset="-120"/>
              </a:rPr>
              <a:t>↑ Graph Expansion Phase (Steps 1-5)</a:t>
            </a:r>
            <a:endParaRPr lang="en-US" sz="1600" dirty="0"/>
          </a:p>
        </p:txBody>
      </p:sp>
      <p:sp>
        <p:nvSpPr>
          <p:cNvPr id="324" name="Shape 30"/>
          <p:cNvSpPr/>
          <p:nvPr/>
        </p:nvSpPr>
        <p:spPr>
          <a:xfrm>
            <a:off x="8255000" y="3810000"/>
            <a:ext cx="7493000" cy="508000"/>
          </a:xfrm>
          <a:prstGeom prst="roundRect">
            <a:avLst>
              <a:gd name="adj" fmla="val 4000"/>
            </a:avLst>
          </a:prstGeom>
          <a:solidFill>
            <a:srgbClr val="FFF3E0"/>
          </a:solidFill>
          <a:ln/>
        </p:spPr>
        <p:txBody>
          <a:bodyPr/>
          <a:lstStyle/>
          <a:p>
            <a:endParaRPr/>
          </a:p>
        </p:txBody>
      </p:sp>
      <p:sp>
        <p:nvSpPr>
          <p:cNvPr id="325" name="Text 31"/>
          <p:cNvSpPr/>
          <p:nvPr/>
        </p:nvSpPr>
        <p:spPr>
          <a:xfrm>
            <a:off x="8509000" y="3810000"/>
            <a:ext cx="6985000" cy="508000"/>
          </a:xfrm>
          <a:prstGeom prst="rect">
            <a:avLst/>
          </a:prstGeom>
          <a:noFill/>
          <a:ln/>
        </p:spPr>
        <p:txBody>
          <a:bodyPr wrap="none" lIns="0" tIns="0" rIns="0" bIns="0" rtlCol="0" anchor="ctr"/>
          <a:lstStyle/>
          <a:p>
            <a:pPr>
              <a:lnSpc>
                <a:spcPct val="100000"/>
              </a:lnSpc>
            </a:pPr>
            <a:r>
              <a:rPr lang="en-US" sz="1400" b="1" dirty="0">
                <a:solidFill>
                  <a:srgbClr val="E65100"/>
                </a:solidFill>
                <a:latin typeface="Quattrocento Sans" pitchFamily="34" charset="0"/>
                <a:ea typeface="Quattrocento Sans" pitchFamily="34" charset="-122"/>
                <a:cs typeface="Quattrocento Sans" pitchFamily="34" charset="-120"/>
              </a:rPr>
              <a:t>↓ Back-to-Corpus Phase (Steps 6-8)</a:t>
            </a:r>
            <a:endParaRPr lang="en-US" sz="1600" dirty="0"/>
          </a:p>
        </p:txBody>
      </p:sp>
      <p:sp>
        <p:nvSpPr>
          <p:cNvPr id="326" name="Text 35"/>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26</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F6F9FC"/>
        </a:solidFill>
        <a:effectLst/>
      </p:bgPr>
    </p:bg>
    <p:spTree>
      <p:nvGrpSpPr>
        <p:cNvPr id="1" name=""/>
        <p:cNvGrpSpPr/>
        <p:nvPr/>
      </p:nvGrpSpPr>
      <p:grpSpPr>
        <a:xfrm>
          <a:off x="0" y="0"/>
          <a:ext cx="0" cy="0"/>
          <a:chOff x="0" y="0"/>
          <a:chExt cx="0" cy="0"/>
        </a:xfrm>
      </p:grpSpPr>
      <p:sp>
        <p:nvSpPr>
          <p:cNvPr id="328" name="Shape 0"/>
          <p:cNvSpPr/>
          <p:nvPr/>
        </p:nvSpPr>
        <p:spPr>
          <a:xfrm>
            <a:off x="0" y="0"/>
            <a:ext cx="76200" cy="9144000"/>
          </a:xfrm>
          <a:prstGeom prst="rect">
            <a:avLst/>
          </a:prstGeom>
          <a:solidFill>
            <a:srgbClr val="1A4A7A"/>
          </a:solidFill>
          <a:ln/>
        </p:spPr>
        <p:txBody>
          <a:bodyPr/>
          <a:lstStyle/>
          <a:p>
            <a:endParaRPr/>
          </a:p>
        </p:txBody>
      </p:sp>
      <p:sp>
        <p:nvSpPr>
          <p:cNvPr id="329" name="Shape 1"/>
          <p:cNvSpPr/>
          <p:nvPr/>
        </p:nvSpPr>
        <p:spPr>
          <a:xfrm>
            <a:off x="0" y="0"/>
            <a:ext cx="16256000" cy="38100"/>
          </a:xfrm>
          <a:prstGeom prst="rect">
            <a:avLst/>
          </a:prstGeom>
          <a:solidFill>
            <a:srgbClr val="1A4A7A"/>
          </a:solidFill>
          <a:ln/>
        </p:spPr>
        <p:txBody>
          <a:bodyPr/>
          <a:lstStyle/>
          <a:p>
            <a:endParaRPr/>
          </a:p>
        </p:txBody>
      </p:sp>
      <p:sp>
        <p:nvSpPr>
          <p:cNvPr id="330"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dirty="0">
                <a:solidFill>
                  <a:srgbClr val="5B9BD5"/>
                </a:solidFill>
                <a:latin typeface="Quattrocento Sans" pitchFamily="34" charset="0"/>
                <a:ea typeface="Quattrocento Sans" pitchFamily="34" charset="-122"/>
                <a:cs typeface="Quattrocento Sans" pitchFamily="34" charset="-120"/>
              </a:rPr>
              <a:t>04 RAG System — Hybrid Retrieval</a:t>
            </a:r>
            <a:endParaRPr lang="en-US" sz="1600" dirty="0"/>
          </a:p>
        </p:txBody>
      </p:sp>
      <p:sp>
        <p:nvSpPr>
          <p:cNvPr id="331"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dirty="0">
                <a:solidFill>
                  <a:srgbClr val="1A4A7A"/>
                </a:solidFill>
                <a:latin typeface="Quattrocento Sans" pitchFamily="34" charset="0"/>
                <a:ea typeface="Quattrocento Sans" pitchFamily="34" charset="-122"/>
                <a:cs typeface="Quattrocento Sans" pitchFamily="34" charset="-120"/>
              </a:rPr>
              <a:t>Ranking &amp; Denoising Strategy</a:t>
            </a:r>
            <a:endParaRPr lang="en-US" sz="1600" dirty="0"/>
          </a:p>
        </p:txBody>
      </p:sp>
      <p:sp>
        <p:nvSpPr>
          <p:cNvPr id="332" name="Shape 4"/>
          <p:cNvSpPr/>
          <p:nvPr/>
        </p:nvSpPr>
        <p:spPr>
          <a:xfrm>
            <a:off x="508000" y="863600"/>
            <a:ext cx="15240000" cy="12700"/>
          </a:xfrm>
          <a:prstGeom prst="rect">
            <a:avLst/>
          </a:prstGeom>
          <a:solidFill>
            <a:srgbClr val="E0E0E0"/>
          </a:solidFill>
          <a:ln/>
        </p:spPr>
        <p:txBody>
          <a:bodyPr/>
          <a:lstStyle/>
          <a:p>
            <a:endParaRPr/>
          </a:p>
        </p:txBody>
      </p:sp>
      <p:sp>
        <p:nvSpPr>
          <p:cNvPr id="333" name="Shape 5"/>
          <p:cNvSpPr/>
          <p:nvPr/>
        </p:nvSpPr>
        <p:spPr>
          <a:xfrm>
            <a:off x="508000" y="1117600"/>
            <a:ext cx="7366000" cy="2540000"/>
          </a:xfrm>
          <a:prstGeom prst="roundRect">
            <a:avLst>
              <a:gd name="adj" fmla="val 4000"/>
            </a:avLst>
          </a:prstGeom>
          <a:solidFill>
            <a:srgbClr val="1A4A7A"/>
          </a:solidFill>
          <a:ln/>
        </p:spPr>
        <p:txBody>
          <a:bodyPr/>
          <a:lstStyle/>
          <a:p>
            <a:endParaRPr/>
          </a:p>
        </p:txBody>
      </p:sp>
      <p:sp>
        <p:nvSpPr>
          <p:cNvPr id="334" name="Text 6"/>
          <p:cNvSpPr/>
          <p:nvPr/>
        </p:nvSpPr>
        <p:spPr>
          <a:xfrm>
            <a:off x="762000" y="1219200"/>
            <a:ext cx="2540000" cy="304800"/>
          </a:xfrm>
          <a:prstGeom prst="rect">
            <a:avLst/>
          </a:prstGeom>
          <a:noFill/>
          <a:ln/>
        </p:spPr>
        <p:txBody>
          <a:bodyPr wrap="none" lIns="0" tIns="0" rIns="0" bIns="0" rtlCol="0" anchor="ctr"/>
          <a:lstStyle/>
          <a:p>
            <a:pPr>
              <a:lnSpc>
                <a:spcPct val="100000"/>
              </a:lnSpc>
            </a:pPr>
            <a:r>
              <a:rPr lang="en-US" sz="1400" dirty="0">
                <a:solidFill>
                  <a:srgbClr val="FFFFFF">
                    <a:alpha val="53333"/>
                  </a:srgbClr>
                </a:solidFill>
                <a:latin typeface="Quattrocento Sans" pitchFamily="34" charset="0"/>
                <a:ea typeface="Quattrocento Sans" pitchFamily="34" charset="-122"/>
                <a:cs typeface="Quattrocento Sans" pitchFamily="34" charset="-120"/>
              </a:rPr>
              <a:t>RANKING SIGNAL</a:t>
            </a:r>
            <a:endParaRPr lang="en-US" sz="1600" dirty="0"/>
          </a:p>
        </p:txBody>
      </p:sp>
      <p:sp>
        <p:nvSpPr>
          <p:cNvPr id="335" name="Text 7"/>
          <p:cNvSpPr/>
          <p:nvPr/>
        </p:nvSpPr>
        <p:spPr>
          <a:xfrm>
            <a:off x="762000" y="1574800"/>
            <a:ext cx="6858000" cy="355600"/>
          </a:xfrm>
          <a:prstGeom prst="rect">
            <a:avLst/>
          </a:prstGeom>
          <a:noFill/>
          <a:ln/>
        </p:spPr>
        <p:txBody>
          <a:bodyPr wrap="none" lIns="0" tIns="0" rIns="0" bIns="0" rtlCol="0" anchor="ctr"/>
          <a:lstStyle/>
          <a:p>
            <a:pPr>
              <a:lnSpc>
                <a:spcPct val="100000"/>
              </a:lnSpc>
            </a:pPr>
            <a:r>
              <a:rPr lang="en-US" sz="2000" b="1" dirty="0">
                <a:solidFill>
                  <a:srgbClr val="FFFFFF"/>
                </a:solidFill>
                <a:latin typeface="Quattrocento Sans" pitchFamily="34" charset="0"/>
                <a:ea typeface="Quattrocento Sans" pitchFamily="34" charset="-122"/>
                <a:cs typeface="Quattrocento Sans" pitchFamily="34" charset="-120"/>
              </a:rPr>
              <a:t>PageRank Scoring</a:t>
            </a:r>
            <a:endParaRPr lang="en-US" sz="1600" dirty="0"/>
          </a:p>
        </p:txBody>
      </p:sp>
      <p:sp>
        <p:nvSpPr>
          <p:cNvPr id="336" name="Text 8"/>
          <p:cNvSpPr/>
          <p:nvPr/>
        </p:nvSpPr>
        <p:spPr>
          <a:xfrm>
            <a:off x="762000" y="2032000"/>
            <a:ext cx="6858000" cy="1473200"/>
          </a:xfrm>
          <a:prstGeom prst="rect">
            <a:avLst/>
          </a:prstGeom>
          <a:noFill/>
          <a:ln/>
        </p:spPr>
        <p:txBody>
          <a:bodyPr wrap="square" lIns="0" tIns="0" rIns="0" bIns="0" rtlCol="0" anchor="ctr"/>
          <a:lstStyle/>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 Entity candidate ranking by importance score</a:t>
            </a:r>
            <a:endParaRPr lang="en-US" sz="1600" dirty="0"/>
          </a:p>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 Edge ranking: prioritize high-pagerank neighbors</a:t>
            </a:r>
            <a:endParaRPr lang="en-US" sz="1600" dirty="0"/>
          </a:p>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 Enhances entity disambiguation</a:t>
            </a:r>
            <a:endParaRPr lang="en-US" sz="1600" dirty="0"/>
          </a:p>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 Filters low-importance noise from expansion</a:t>
            </a:r>
            <a:endParaRPr lang="en-US" sz="1600" dirty="0"/>
          </a:p>
        </p:txBody>
      </p:sp>
      <p:sp>
        <p:nvSpPr>
          <p:cNvPr id="337" name="Shape 9"/>
          <p:cNvSpPr/>
          <p:nvPr/>
        </p:nvSpPr>
        <p:spPr>
          <a:xfrm>
            <a:off x="8382000" y="1117600"/>
            <a:ext cx="7366000" cy="2540000"/>
          </a:xfrm>
          <a:prstGeom prst="roundRect">
            <a:avLst>
              <a:gd name="adj" fmla="val 4000"/>
            </a:avLst>
          </a:prstGeom>
          <a:solidFill>
            <a:srgbClr val="5B9BD5"/>
          </a:solidFill>
          <a:ln/>
        </p:spPr>
        <p:txBody>
          <a:bodyPr/>
          <a:lstStyle/>
          <a:p>
            <a:endParaRPr/>
          </a:p>
        </p:txBody>
      </p:sp>
      <p:sp>
        <p:nvSpPr>
          <p:cNvPr id="338" name="Text 10"/>
          <p:cNvSpPr/>
          <p:nvPr/>
        </p:nvSpPr>
        <p:spPr>
          <a:xfrm>
            <a:off x="8636000" y="1219200"/>
            <a:ext cx="2540000" cy="304800"/>
          </a:xfrm>
          <a:prstGeom prst="rect">
            <a:avLst/>
          </a:prstGeom>
          <a:noFill/>
          <a:ln/>
        </p:spPr>
        <p:txBody>
          <a:bodyPr wrap="none" lIns="0" tIns="0" rIns="0" bIns="0" rtlCol="0" anchor="ctr"/>
          <a:lstStyle/>
          <a:p>
            <a:pPr>
              <a:lnSpc>
                <a:spcPct val="100000"/>
              </a:lnSpc>
            </a:pPr>
            <a:r>
              <a:rPr lang="en-US" sz="1400" dirty="0">
                <a:solidFill>
                  <a:srgbClr val="FFFFFF">
                    <a:alpha val="53333"/>
                  </a:srgbClr>
                </a:solidFill>
                <a:latin typeface="Quattrocento Sans" pitchFamily="34" charset="0"/>
                <a:ea typeface="Quattrocento Sans" pitchFamily="34" charset="-122"/>
                <a:cs typeface="Quattrocento Sans" pitchFamily="34" charset="-120"/>
              </a:rPr>
              <a:t>SCOPE CONTROL</a:t>
            </a:r>
            <a:endParaRPr lang="en-US" sz="1600" dirty="0"/>
          </a:p>
        </p:txBody>
      </p:sp>
      <p:sp>
        <p:nvSpPr>
          <p:cNvPr id="339" name="Text 11"/>
          <p:cNvSpPr/>
          <p:nvPr/>
        </p:nvSpPr>
        <p:spPr>
          <a:xfrm>
            <a:off x="8636000" y="1574800"/>
            <a:ext cx="6858000" cy="355600"/>
          </a:xfrm>
          <a:prstGeom prst="rect">
            <a:avLst/>
          </a:prstGeom>
          <a:noFill/>
          <a:ln/>
        </p:spPr>
        <p:txBody>
          <a:bodyPr wrap="none" lIns="0" tIns="0" rIns="0" bIns="0" rtlCol="0" anchor="ctr"/>
          <a:lstStyle/>
          <a:p>
            <a:pPr>
              <a:lnSpc>
                <a:spcPct val="100000"/>
              </a:lnSpc>
            </a:pPr>
            <a:r>
              <a:rPr lang="en-US" sz="2000" b="1" dirty="0">
                <a:solidFill>
                  <a:srgbClr val="FFFFFF"/>
                </a:solidFill>
                <a:latin typeface="Quattrocento Sans" pitchFamily="34" charset="0"/>
                <a:ea typeface="Quattrocento Sans" pitchFamily="34" charset="-122"/>
                <a:cs typeface="Quattrocento Sans" pitchFamily="34" charset="-120"/>
              </a:rPr>
              <a:t>Community ID Filtering</a:t>
            </a:r>
            <a:endParaRPr lang="en-US" sz="1600" dirty="0"/>
          </a:p>
        </p:txBody>
      </p:sp>
      <p:sp>
        <p:nvSpPr>
          <p:cNvPr id="340" name="Text 12"/>
          <p:cNvSpPr/>
          <p:nvPr/>
        </p:nvSpPr>
        <p:spPr>
          <a:xfrm>
            <a:off x="8636000" y="2032000"/>
            <a:ext cx="6858000" cy="1473200"/>
          </a:xfrm>
          <a:prstGeom prst="rect">
            <a:avLst/>
          </a:prstGeom>
          <a:noFill/>
          <a:ln/>
        </p:spPr>
        <p:txBody>
          <a:bodyPr wrap="square" lIns="0" tIns="0" rIns="0" bIns="0" rtlCol="0" anchor="ctr"/>
          <a:lstStyle/>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 Community index first locates relevant community</a:t>
            </a:r>
            <a:endParaRPr lang="en-US" sz="1600" dirty="0"/>
          </a:p>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 Reduces search scope dramatically</a:t>
            </a:r>
            <a:endParaRPr lang="en-US" sz="1600" dirty="0"/>
          </a:p>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 Intra-community expand supplements neighbors</a:t>
            </a:r>
            <a:endParaRPr lang="en-US" sz="1600" dirty="0"/>
          </a:p>
          <a:p>
            <a:pPr>
              <a:lnSpc>
                <a:spcPct val="160000"/>
              </a:lnSpc>
            </a:pPr>
            <a:r>
              <a:rPr lang="en-US" sz="1500" dirty="0">
                <a:solidFill>
                  <a:srgbClr val="FFFFFF">
                    <a:alpha val="80000"/>
                  </a:srgbClr>
                </a:solidFill>
                <a:latin typeface="Quattrocento Sans" pitchFamily="34" charset="0"/>
                <a:ea typeface="Quattrocento Sans" pitchFamily="34" charset="-122"/>
                <a:cs typeface="Quattrocento Sans" pitchFamily="34" charset="-120"/>
              </a:rPr>
              <a:t>• Semantic coherence by community membership</a:t>
            </a:r>
            <a:endParaRPr lang="en-US" sz="1600" dirty="0"/>
          </a:p>
        </p:txBody>
      </p:sp>
      <p:sp>
        <p:nvSpPr>
          <p:cNvPr id="341" name="Text 13"/>
          <p:cNvSpPr/>
          <p:nvPr/>
        </p:nvSpPr>
        <p:spPr>
          <a:xfrm>
            <a:off x="508000" y="3937000"/>
            <a:ext cx="5080000" cy="355600"/>
          </a:xfrm>
          <a:prstGeom prst="rect">
            <a:avLst/>
          </a:prstGeom>
          <a:noFill/>
          <a:ln/>
        </p:spPr>
        <p:txBody>
          <a:bodyPr wrap="none" lIns="0" tIns="0" rIns="0" bIns="0" rtlCol="0" anchor="ctr"/>
          <a:lstStyle/>
          <a:p>
            <a:pPr>
              <a:lnSpc>
                <a:spcPct val="100000"/>
              </a:lnSpc>
            </a:pPr>
            <a:r>
              <a:rPr lang="en-US" sz="1800" b="1" dirty="0">
                <a:solidFill>
                  <a:srgbClr val="1A4A7A"/>
                </a:solidFill>
                <a:latin typeface="Quattrocento Sans" pitchFamily="34" charset="0"/>
                <a:ea typeface="Quattrocento Sans" pitchFamily="34" charset="-122"/>
                <a:cs typeface="Quattrocento Sans" pitchFamily="34" charset="-120"/>
              </a:rPr>
              <a:t>Hard Limits (Prevent Prompt Explosion)</a:t>
            </a:r>
            <a:endParaRPr lang="en-US" sz="1600" dirty="0"/>
          </a:p>
        </p:txBody>
      </p:sp>
      <p:sp>
        <p:nvSpPr>
          <p:cNvPr id="342" name="Shape 14"/>
          <p:cNvSpPr/>
          <p:nvPr/>
        </p:nvSpPr>
        <p:spPr>
          <a:xfrm>
            <a:off x="508000" y="4368800"/>
            <a:ext cx="15240000" cy="12700"/>
          </a:xfrm>
          <a:prstGeom prst="rect">
            <a:avLst/>
          </a:prstGeom>
          <a:solidFill>
            <a:srgbClr val="E0E0E0"/>
          </a:solidFill>
          <a:ln/>
        </p:spPr>
        <p:txBody>
          <a:bodyPr/>
          <a:lstStyle/>
          <a:p>
            <a:endParaRPr/>
          </a:p>
        </p:txBody>
      </p:sp>
      <p:sp>
        <p:nvSpPr>
          <p:cNvPr id="343" name="Shape 15"/>
          <p:cNvSpPr/>
          <p:nvPr/>
        </p:nvSpPr>
        <p:spPr>
          <a:xfrm>
            <a:off x="508000" y="4597400"/>
            <a:ext cx="3556000" cy="1397000"/>
          </a:xfrm>
          <a:prstGeom prst="roundRect">
            <a:avLst>
              <a:gd name="adj" fmla="val 4000"/>
            </a:avLst>
          </a:prstGeom>
          <a:solidFill>
            <a:srgbClr val="F5F5F5"/>
          </a:solidFill>
          <a:ln/>
        </p:spPr>
        <p:txBody>
          <a:bodyPr/>
          <a:lstStyle/>
          <a:p>
            <a:endParaRPr/>
          </a:p>
        </p:txBody>
      </p:sp>
      <p:sp>
        <p:nvSpPr>
          <p:cNvPr id="344" name="Text 16"/>
          <p:cNvSpPr/>
          <p:nvPr/>
        </p:nvSpPr>
        <p:spPr>
          <a:xfrm>
            <a:off x="711200" y="4699000"/>
            <a:ext cx="3149600" cy="457200"/>
          </a:xfrm>
          <a:prstGeom prst="rect">
            <a:avLst/>
          </a:prstGeom>
          <a:noFill/>
          <a:ln/>
        </p:spPr>
        <p:txBody>
          <a:bodyPr wrap="none" lIns="0" tIns="0" rIns="0" bIns="0" rtlCol="0" anchor="ctr"/>
          <a:lstStyle/>
          <a:p>
            <a:pPr>
              <a:lnSpc>
                <a:spcPct val="100000"/>
              </a:lnSpc>
            </a:pPr>
            <a:r>
              <a:rPr lang="en-US" sz="2800" b="1" dirty="0">
                <a:solidFill>
                  <a:srgbClr val="1A4A7A"/>
                </a:solidFill>
                <a:latin typeface="Quattrocento Sans" pitchFamily="34" charset="0"/>
                <a:ea typeface="Quattrocento Sans" pitchFamily="34" charset="-122"/>
                <a:cs typeface="Quattrocento Sans" pitchFamily="34" charset="-120"/>
              </a:rPr>
              <a:t>3</a:t>
            </a:r>
            <a:endParaRPr lang="en-US" sz="1600" dirty="0"/>
          </a:p>
        </p:txBody>
      </p:sp>
      <p:sp>
        <p:nvSpPr>
          <p:cNvPr id="345" name="Text 17"/>
          <p:cNvSpPr/>
          <p:nvPr/>
        </p:nvSpPr>
        <p:spPr>
          <a:xfrm>
            <a:off x="711200" y="5207000"/>
            <a:ext cx="3149600" cy="711200"/>
          </a:xfrm>
          <a:prstGeom prst="rect">
            <a:avLst/>
          </a:prstGeom>
          <a:noFill/>
          <a:ln/>
        </p:spPr>
        <p:txBody>
          <a:bodyPr wrap="square" lIns="0" tIns="0" rIns="0" bIns="0" rtlCol="0" anchor="ctr"/>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community_top_k</a:t>
            </a:r>
            <a:endParaRPr lang="en-US" sz="1600" dirty="0"/>
          </a:p>
          <a:p>
            <a:pPr>
              <a:lnSpc>
                <a:spcPct val="140000"/>
              </a:lnSpc>
            </a:pPr>
            <a:r>
              <a:rPr lang="en-US" sz="1400" dirty="0">
                <a:solidFill>
                  <a:srgbClr val="888888"/>
                </a:solidFill>
                <a:latin typeface="Quattrocento Sans" pitchFamily="34" charset="0"/>
                <a:ea typeface="Quattrocento Sans" pitchFamily="34" charset="-122"/>
                <a:cs typeface="Quattrocento Sans" pitchFamily="34" charset="-120"/>
              </a:rPr>
              <a:t>max communities per query</a:t>
            </a:r>
            <a:endParaRPr lang="en-US" sz="1600" dirty="0"/>
          </a:p>
        </p:txBody>
      </p:sp>
      <p:sp>
        <p:nvSpPr>
          <p:cNvPr id="346" name="Shape 18"/>
          <p:cNvSpPr/>
          <p:nvPr/>
        </p:nvSpPr>
        <p:spPr>
          <a:xfrm>
            <a:off x="4318000" y="4597400"/>
            <a:ext cx="3556000" cy="1397000"/>
          </a:xfrm>
          <a:prstGeom prst="roundRect">
            <a:avLst>
              <a:gd name="adj" fmla="val 4000"/>
            </a:avLst>
          </a:prstGeom>
          <a:solidFill>
            <a:srgbClr val="F5F5F5"/>
          </a:solidFill>
          <a:ln/>
        </p:spPr>
        <p:txBody>
          <a:bodyPr/>
          <a:lstStyle/>
          <a:p>
            <a:endParaRPr/>
          </a:p>
        </p:txBody>
      </p:sp>
      <p:sp>
        <p:nvSpPr>
          <p:cNvPr id="347" name="Text 19"/>
          <p:cNvSpPr/>
          <p:nvPr/>
        </p:nvSpPr>
        <p:spPr>
          <a:xfrm>
            <a:off x="4521200" y="4699000"/>
            <a:ext cx="3149600" cy="457200"/>
          </a:xfrm>
          <a:prstGeom prst="rect">
            <a:avLst/>
          </a:prstGeom>
          <a:noFill/>
          <a:ln/>
        </p:spPr>
        <p:txBody>
          <a:bodyPr wrap="none" lIns="0" tIns="0" rIns="0" bIns="0" rtlCol="0" anchor="ctr"/>
          <a:lstStyle/>
          <a:p>
            <a:pPr>
              <a:lnSpc>
                <a:spcPct val="100000"/>
              </a:lnSpc>
            </a:pPr>
            <a:r>
              <a:rPr lang="en-US" sz="2800" b="1" dirty="0">
                <a:solidFill>
                  <a:srgbClr val="1A4A7A"/>
                </a:solidFill>
                <a:latin typeface="Quattrocento Sans" pitchFamily="34" charset="0"/>
                <a:ea typeface="Quattrocento Sans" pitchFamily="34" charset="-122"/>
                <a:cs typeface="Quattrocento Sans" pitchFamily="34" charset="-120"/>
              </a:rPr>
              <a:t>8</a:t>
            </a:r>
            <a:endParaRPr lang="en-US" sz="1600" dirty="0"/>
          </a:p>
        </p:txBody>
      </p:sp>
      <p:sp>
        <p:nvSpPr>
          <p:cNvPr id="348" name="Text 20"/>
          <p:cNvSpPr/>
          <p:nvPr/>
        </p:nvSpPr>
        <p:spPr>
          <a:xfrm>
            <a:off x="4521200" y="5207000"/>
            <a:ext cx="3149600" cy="711200"/>
          </a:xfrm>
          <a:prstGeom prst="rect">
            <a:avLst/>
          </a:prstGeom>
          <a:noFill/>
          <a:ln/>
        </p:spPr>
        <p:txBody>
          <a:bodyPr wrap="square" lIns="0" tIns="0" rIns="0" bIns="0" rtlCol="0" anchor="ctr"/>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expand_entities_per_doc</a:t>
            </a:r>
            <a:endParaRPr lang="en-US" sz="1600" dirty="0"/>
          </a:p>
          <a:p>
            <a:pPr>
              <a:lnSpc>
                <a:spcPct val="140000"/>
              </a:lnSpc>
            </a:pPr>
            <a:r>
              <a:rPr lang="en-US" sz="1400" dirty="0">
                <a:solidFill>
                  <a:srgbClr val="888888"/>
                </a:solidFill>
                <a:latin typeface="Quattrocento Sans" pitchFamily="34" charset="0"/>
                <a:ea typeface="Quattrocento Sans" pitchFamily="34" charset="-122"/>
                <a:cs typeface="Quattrocento Sans" pitchFamily="34" charset="-120"/>
              </a:rPr>
              <a:t>max entities from each doc</a:t>
            </a:r>
            <a:endParaRPr lang="en-US" sz="1600" dirty="0"/>
          </a:p>
        </p:txBody>
      </p:sp>
      <p:sp>
        <p:nvSpPr>
          <p:cNvPr id="349" name="Shape 21"/>
          <p:cNvSpPr/>
          <p:nvPr/>
        </p:nvSpPr>
        <p:spPr>
          <a:xfrm>
            <a:off x="8128000" y="4597400"/>
            <a:ext cx="3556000" cy="1397000"/>
          </a:xfrm>
          <a:prstGeom prst="roundRect">
            <a:avLst>
              <a:gd name="adj" fmla="val 4000"/>
            </a:avLst>
          </a:prstGeom>
          <a:solidFill>
            <a:srgbClr val="F5F5F5"/>
          </a:solidFill>
          <a:ln/>
        </p:spPr>
        <p:txBody>
          <a:bodyPr/>
          <a:lstStyle/>
          <a:p>
            <a:endParaRPr/>
          </a:p>
        </p:txBody>
      </p:sp>
      <p:sp>
        <p:nvSpPr>
          <p:cNvPr id="350" name="Text 22"/>
          <p:cNvSpPr/>
          <p:nvPr/>
        </p:nvSpPr>
        <p:spPr>
          <a:xfrm>
            <a:off x="8331200" y="4699000"/>
            <a:ext cx="3149600" cy="457200"/>
          </a:xfrm>
          <a:prstGeom prst="rect">
            <a:avLst/>
          </a:prstGeom>
          <a:noFill/>
          <a:ln/>
        </p:spPr>
        <p:txBody>
          <a:bodyPr wrap="none" lIns="0" tIns="0" rIns="0" bIns="0" rtlCol="0" anchor="ctr"/>
          <a:lstStyle/>
          <a:p>
            <a:pPr>
              <a:lnSpc>
                <a:spcPct val="100000"/>
              </a:lnSpc>
            </a:pPr>
            <a:r>
              <a:rPr lang="en-US" sz="2800" b="1" dirty="0">
                <a:solidFill>
                  <a:srgbClr val="1A4A7A"/>
                </a:solidFill>
                <a:latin typeface="Quattrocento Sans" pitchFamily="34" charset="0"/>
                <a:ea typeface="Quattrocento Sans" pitchFamily="34" charset="-122"/>
                <a:cs typeface="Quattrocento Sans" pitchFamily="34" charset="-120"/>
              </a:rPr>
              <a:t>8</a:t>
            </a:r>
            <a:endParaRPr lang="en-US" sz="1600" dirty="0"/>
          </a:p>
        </p:txBody>
      </p:sp>
      <p:sp>
        <p:nvSpPr>
          <p:cNvPr id="351" name="Text 23"/>
          <p:cNvSpPr/>
          <p:nvPr/>
        </p:nvSpPr>
        <p:spPr>
          <a:xfrm>
            <a:off x="8331200" y="5207000"/>
            <a:ext cx="3149600" cy="711200"/>
          </a:xfrm>
          <a:prstGeom prst="rect">
            <a:avLst/>
          </a:prstGeom>
          <a:noFill/>
          <a:ln/>
        </p:spPr>
        <p:txBody>
          <a:bodyPr wrap="square" lIns="0" tIns="0" rIns="0" bIns="0" rtlCol="0" anchor="ctr"/>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expand_edges_per_entity</a:t>
            </a:r>
            <a:endParaRPr lang="en-US" sz="1600" dirty="0"/>
          </a:p>
          <a:p>
            <a:pPr>
              <a:lnSpc>
                <a:spcPct val="140000"/>
              </a:lnSpc>
            </a:pPr>
            <a:r>
              <a:rPr lang="en-US" sz="1400" dirty="0">
                <a:solidFill>
                  <a:srgbClr val="888888"/>
                </a:solidFill>
                <a:latin typeface="Quattrocento Sans" pitchFamily="34" charset="0"/>
                <a:ea typeface="Quattrocento Sans" pitchFamily="34" charset="-122"/>
                <a:cs typeface="Quattrocento Sans" pitchFamily="34" charset="-120"/>
              </a:rPr>
              <a:t>max edges per entity node</a:t>
            </a:r>
            <a:endParaRPr lang="en-US" sz="1600" dirty="0"/>
          </a:p>
        </p:txBody>
      </p:sp>
      <p:sp>
        <p:nvSpPr>
          <p:cNvPr id="352" name="Shape 24"/>
          <p:cNvSpPr/>
          <p:nvPr/>
        </p:nvSpPr>
        <p:spPr>
          <a:xfrm>
            <a:off x="11938000" y="4597400"/>
            <a:ext cx="3810000" cy="1397000"/>
          </a:xfrm>
          <a:prstGeom prst="roundRect">
            <a:avLst>
              <a:gd name="adj" fmla="val 4000"/>
            </a:avLst>
          </a:prstGeom>
          <a:solidFill>
            <a:srgbClr val="F5F5F5"/>
          </a:solidFill>
          <a:ln/>
        </p:spPr>
        <p:txBody>
          <a:bodyPr/>
          <a:lstStyle/>
          <a:p>
            <a:endParaRPr/>
          </a:p>
        </p:txBody>
      </p:sp>
      <p:sp>
        <p:nvSpPr>
          <p:cNvPr id="353" name="Text 25"/>
          <p:cNvSpPr/>
          <p:nvPr/>
        </p:nvSpPr>
        <p:spPr>
          <a:xfrm>
            <a:off x="12141200" y="4699000"/>
            <a:ext cx="3403600" cy="457200"/>
          </a:xfrm>
          <a:prstGeom prst="rect">
            <a:avLst/>
          </a:prstGeom>
          <a:noFill/>
          <a:ln/>
        </p:spPr>
        <p:txBody>
          <a:bodyPr wrap="none" lIns="0" tIns="0" rIns="0" bIns="0" rtlCol="0" anchor="ctr"/>
          <a:lstStyle/>
          <a:p>
            <a:pPr>
              <a:lnSpc>
                <a:spcPct val="100000"/>
              </a:lnSpc>
            </a:pPr>
            <a:r>
              <a:rPr lang="en-US" sz="2800" b="1" dirty="0">
                <a:solidFill>
                  <a:srgbClr val="1A4A7A"/>
                </a:solidFill>
                <a:latin typeface="Quattrocento Sans" pitchFamily="34" charset="0"/>
                <a:ea typeface="Quattrocento Sans" pitchFamily="34" charset="-122"/>
                <a:cs typeface="Quattrocento Sans" pitchFamily="34" charset="-120"/>
              </a:rPr>
              <a:t>N</a:t>
            </a:r>
            <a:endParaRPr lang="en-US" sz="1600" dirty="0"/>
          </a:p>
        </p:txBody>
      </p:sp>
      <p:sp>
        <p:nvSpPr>
          <p:cNvPr id="354" name="Text 26"/>
          <p:cNvSpPr/>
          <p:nvPr/>
        </p:nvSpPr>
        <p:spPr>
          <a:xfrm>
            <a:off x="12141200" y="5207000"/>
            <a:ext cx="3403600" cy="711200"/>
          </a:xfrm>
          <a:prstGeom prst="rect">
            <a:avLst/>
          </a:prstGeom>
          <a:noFill/>
          <a:ln/>
        </p:spPr>
        <p:txBody>
          <a:bodyPr wrap="square" lIns="0" tIns="0" rIns="0" bIns="0" rtlCol="0" anchor="ctr"/>
          <a:lstStyle/>
          <a:p>
            <a:pPr>
              <a:lnSpc>
                <a:spcPct val="140000"/>
              </a:lnSpc>
            </a:pPr>
            <a:r>
              <a:rPr lang="en-US" sz="1400" dirty="0">
                <a:solidFill>
                  <a:srgbClr val="2C2C2C"/>
                </a:solidFill>
                <a:latin typeface="Quattrocento Sans" pitchFamily="34" charset="0"/>
                <a:ea typeface="Quattrocento Sans" pitchFamily="34" charset="-122"/>
                <a:cs typeface="Quattrocento Sans" pitchFamily="34" charset="-120"/>
              </a:rPr>
              <a:t>max_candidate_docs</a:t>
            </a:r>
            <a:endParaRPr lang="en-US" sz="1600" dirty="0"/>
          </a:p>
          <a:p>
            <a:pPr>
              <a:lnSpc>
                <a:spcPct val="140000"/>
              </a:lnSpc>
            </a:pPr>
            <a:r>
              <a:rPr lang="en-US" sz="1400" dirty="0">
                <a:solidFill>
                  <a:srgbClr val="888888"/>
                </a:solidFill>
                <a:latin typeface="Quattrocento Sans" pitchFamily="34" charset="0"/>
                <a:ea typeface="Quattrocento Sans" pitchFamily="34" charset="-122"/>
                <a:cs typeface="Quattrocento Sans" pitchFamily="34" charset="-120"/>
              </a:rPr>
              <a:t>max docs &amp; chunks per doc</a:t>
            </a:r>
            <a:endParaRPr lang="en-US" sz="1600" dirty="0"/>
          </a:p>
        </p:txBody>
      </p:sp>
      <p:sp>
        <p:nvSpPr>
          <p:cNvPr id="355" name="Text 29"/>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27</a:t>
            </a:r>
            <a:endParaRPr lang="en-US" sz="16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F6F9FC"/>
        </a:solidFill>
        <a:effectLst/>
      </p:bgPr>
    </p:bg>
    <p:spTree>
      <p:nvGrpSpPr>
        <p:cNvPr id="1" name=""/>
        <p:cNvGrpSpPr/>
        <p:nvPr/>
      </p:nvGrpSpPr>
      <p:grpSpPr>
        <a:xfrm>
          <a:off x="0" y="0"/>
          <a:ext cx="0" cy="0"/>
          <a:chOff x="0" y="0"/>
          <a:chExt cx="0" cy="0"/>
        </a:xfrm>
      </p:grpSpPr>
      <p:sp>
        <p:nvSpPr>
          <p:cNvPr id="357" name="Shape 0"/>
          <p:cNvSpPr/>
          <p:nvPr/>
        </p:nvSpPr>
        <p:spPr>
          <a:xfrm>
            <a:off x="0" y="0"/>
            <a:ext cx="76200" cy="9144000"/>
          </a:xfrm>
          <a:prstGeom prst="rect">
            <a:avLst/>
          </a:prstGeom>
          <a:solidFill>
            <a:srgbClr val="1A4A7A"/>
          </a:solidFill>
          <a:ln/>
        </p:spPr>
        <p:txBody>
          <a:bodyPr/>
          <a:lstStyle/>
          <a:p>
            <a:endParaRPr/>
          </a:p>
        </p:txBody>
      </p:sp>
      <p:sp>
        <p:nvSpPr>
          <p:cNvPr id="358" name="Shape 1"/>
          <p:cNvSpPr/>
          <p:nvPr/>
        </p:nvSpPr>
        <p:spPr>
          <a:xfrm>
            <a:off x="0" y="0"/>
            <a:ext cx="16256000" cy="38100"/>
          </a:xfrm>
          <a:prstGeom prst="rect">
            <a:avLst/>
          </a:prstGeom>
          <a:solidFill>
            <a:srgbClr val="1A4A7A"/>
          </a:solidFill>
          <a:ln/>
        </p:spPr>
        <p:txBody>
          <a:bodyPr/>
          <a:lstStyle/>
          <a:p>
            <a:endParaRPr/>
          </a:p>
        </p:txBody>
      </p:sp>
      <p:sp>
        <p:nvSpPr>
          <p:cNvPr id="359"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dirty="0">
                <a:solidFill>
                  <a:srgbClr val="5B9BD5"/>
                </a:solidFill>
                <a:latin typeface="Quattrocento Sans" pitchFamily="34" charset="0"/>
                <a:ea typeface="Quattrocento Sans" pitchFamily="34" charset="-122"/>
                <a:cs typeface="Quattrocento Sans" pitchFamily="34" charset="-120"/>
              </a:rPr>
              <a:t>04 RAG System — Hybrid Retrieval</a:t>
            </a:r>
            <a:endParaRPr lang="en-US" sz="1600" dirty="0"/>
          </a:p>
        </p:txBody>
      </p:sp>
      <p:sp>
        <p:nvSpPr>
          <p:cNvPr id="360"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dirty="0">
                <a:solidFill>
                  <a:srgbClr val="1A4A7A"/>
                </a:solidFill>
                <a:latin typeface="Quattrocento Sans" pitchFamily="34" charset="0"/>
                <a:ea typeface="Quattrocento Sans" pitchFamily="34" charset="-122"/>
                <a:cs typeface="Quattrocento Sans" pitchFamily="34" charset="-120"/>
              </a:rPr>
              <a:t>Implementation Highlights</a:t>
            </a:r>
            <a:endParaRPr lang="en-US" sz="1600" dirty="0"/>
          </a:p>
        </p:txBody>
      </p:sp>
      <p:sp>
        <p:nvSpPr>
          <p:cNvPr id="361" name="Shape 4"/>
          <p:cNvSpPr/>
          <p:nvPr/>
        </p:nvSpPr>
        <p:spPr>
          <a:xfrm>
            <a:off x="508000" y="863600"/>
            <a:ext cx="15240000" cy="12700"/>
          </a:xfrm>
          <a:prstGeom prst="rect">
            <a:avLst/>
          </a:prstGeom>
          <a:solidFill>
            <a:srgbClr val="E0E0E0"/>
          </a:solidFill>
          <a:ln/>
        </p:spPr>
        <p:txBody>
          <a:bodyPr/>
          <a:lstStyle/>
          <a:p>
            <a:endParaRPr/>
          </a:p>
        </p:txBody>
      </p:sp>
      <p:sp>
        <p:nvSpPr>
          <p:cNvPr id="362" name="Shape 5"/>
          <p:cNvSpPr/>
          <p:nvPr/>
        </p:nvSpPr>
        <p:spPr>
          <a:xfrm>
            <a:off x="508000" y="1117600"/>
            <a:ext cx="7366000" cy="3429000"/>
          </a:xfrm>
          <a:prstGeom prst="roundRect">
            <a:avLst>
              <a:gd name="adj" fmla="val 4000"/>
            </a:avLst>
          </a:prstGeom>
          <a:solidFill>
            <a:srgbClr val="F5F5F5"/>
          </a:solidFill>
          <a:ln/>
        </p:spPr>
        <p:txBody>
          <a:bodyPr/>
          <a:lstStyle/>
          <a:p>
            <a:endParaRPr/>
          </a:p>
        </p:txBody>
      </p:sp>
      <p:sp>
        <p:nvSpPr>
          <p:cNvPr id="363" name="Shape 6"/>
          <p:cNvSpPr/>
          <p:nvPr/>
        </p:nvSpPr>
        <p:spPr>
          <a:xfrm>
            <a:off x="508000" y="1117600"/>
            <a:ext cx="1524000" cy="355600"/>
          </a:xfrm>
          <a:prstGeom prst="rect">
            <a:avLst/>
          </a:prstGeom>
          <a:solidFill>
            <a:srgbClr val="1A4A7A"/>
          </a:solidFill>
          <a:ln/>
        </p:spPr>
        <p:txBody>
          <a:bodyPr/>
          <a:lstStyle/>
          <a:p>
            <a:endParaRPr/>
          </a:p>
        </p:txBody>
      </p:sp>
      <p:sp>
        <p:nvSpPr>
          <p:cNvPr id="364" name="Text 7"/>
          <p:cNvSpPr/>
          <p:nvPr/>
        </p:nvSpPr>
        <p:spPr>
          <a:xfrm>
            <a:off x="508000" y="1117600"/>
            <a:ext cx="1524000" cy="355600"/>
          </a:xfrm>
          <a:prstGeom prst="rect">
            <a:avLst/>
          </a:prstGeom>
          <a:noFill/>
          <a:ln/>
        </p:spPr>
        <p:txBody>
          <a:bodyPr wrap="none" lIns="0" tIns="0" rIns="0" bIns="0" rtlCol="0" anchor="ctr"/>
          <a:lstStyle/>
          <a:p>
            <a:pPr algn="ctr">
              <a:lnSpc>
                <a:spcPct val="100000"/>
              </a:lnSpc>
            </a:pPr>
            <a:r>
              <a:rPr lang="en-US" sz="1200" dirty="0">
                <a:solidFill>
                  <a:srgbClr val="FFFFFF"/>
                </a:solidFill>
                <a:latin typeface="Quattrocento Sans" pitchFamily="34" charset="0"/>
                <a:ea typeface="Quattrocento Sans" pitchFamily="34" charset="-122"/>
                <a:cs typeface="Quattrocento Sans" pitchFamily="34" charset="-120"/>
              </a:rPr>
              <a:t>MODULAR</a:t>
            </a:r>
            <a:endParaRPr lang="en-US" sz="1600" dirty="0"/>
          </a:p>
        </p:txBody>
      </p:sp>
      <p:sp>
        <p:nvSpPr>
          <p:cNvPr id="365" name="Text 8"/>
          <p:cNvSpPr/>
          <p:nvPr/>
        </p:nvSpPr>
        <p:spPr>
          <a:xfrm>
            <a:off x="711200" y="1625600"/>
            <a:ext cx="6959600" cy="381000"/>
          </a:xfrm>
          <a:prstGeom prst="rect">
            <a:avLst/>
          </a:prstGeom>
          <a:noFill/>
          <a:ln/>
        </p:spPr>
        <p:txBody>
          <a:bodyPr wrap="none" lIns="0" tIns="0" rIns="0" bIns="0" rtlCol="0" anchor="ctr"/>
          <a:lstStyle/>
          <a:p>
            <a:pPr>
              <a:lnSpc>
                <a:spcPct val="100000"/>
              </a:lnSpc>
            </a:pPr>
            <a:r>
              <a:rPr lang="en-US" sz="1800" b="1" dirty="0">
                <a:solidFill>
                  <a:srgbClr val="1A4A7A"/>
                </a:solidFill>
                <a:latin typeface="Quattrocento Sans" pitchFamily="34" charset="0"/>
                <a:ea typeface="Quattrocento Sans" pitchFamily="34" charset="-122"/>
                <a:cs typeface="Quattrocento Sans" pitchFamily="34" charset="-120"/>
              </a:rPr>
              <a:t>Decoupled Pipeline Design</a:t>
            </a:r>
            <a:endParaRPr lang="en-US" sz="1600" dirty="0"/>
          </a:p>
        </p:txBody>
      </p:sp>
      <p:sp>
        <p:nvSpPr>
          <p:cNvPr id="366" name="Text 9"/>
          <p:cNvSpPr/>
          <p:nvPr/>
        </p:nvSpPr>
        <p:spPr>
          <a:xfrm>
            <a:off x="711200" y="2082800"/>
            <a:ext cx="6959600" cy="2159000"/>
          </a:xfrm>
          <a:prstGeom prst="rect">
            <a:avLst/>
          </a:prstGeom>
          <a:noFill/>
          <a:ln/>
        </p:spPr>
        <p:txBody>
          <a:bodyPr wrap="square" lIns="0" tIns="0" rIns="0" bIns="0" rtlCol="0" anchor="ctr"/>
          <a:lstStyle/>
          <a:p>
            <a:pPr>
              <a:lnSpc>
                <a:spcPct val="170000"/>
              </a:lnSpc>
            </a:pPr>
            <a:r>
              <a:rPr lang="en-US" sz="1600" dirty="0">
                <a:solidFill>
                  <a:srgbClr val="2C2C2C"/>
                </a:solidFill>
                <a:latin typeface="Quattrocento Sans" pitchFamily="34" charset="0"/>
                <a:ea typeface="Quattrocento Sans" pitchFamily="34" charset="-122"/>
                <a:cs typeface="Quattrocento Sans" pitchFamily="34" charset="-120"/>
              </a:rPr>
              <a:t>• Indexing / alignment / inverted index / community index / retrieval / generation are fully decoupled</a:t>
            </a:r>
            <a:endParaRPr lang="en-US" sz="1600" dirty="0"/>
          </a:p>
          <a:p>
            <a:pPr>
              <a:lnSpc>
                <a:spcPct val="170000"/>
              </a:lnSpc>
            </a:pPr>
            <a:r>
              <a:rPr lang="en-US" sz="1600" dirty="0">
                <a:solidFill>
                  <a:srgbClr val="2C2C2C"/>
                </a:solidFill>
                <a:latin typeface="Quattrocento Sans" pitchFamily="34" charset="0"/>
                <a:ea typeface="Quattrocento Sans" pitchFamily="34" charset="-122"/>
                <a:cs typeface="Quattrocento Sans" pitchFamily="34" charset="-120"/>
              </a:rPr>
              <a:t>• Each module can be independently updated, tested, and replaced</a:t>
            </a:r>
            <a:endParaRPr lang="en-US" sz="1600" dirty="0"/>
          </a:p>
          <a:p>
            <a:pPr>
              <a:lnSpc>
                <a:spcPct val="170000"/>
              </a:lnSpc>
            </a:pPr>
            <a:r>
              <a:rPr lang="en-US" sz="1600" dirty="0">
                <a:solidFill>
                  <a:srgbClr val="2C2C2C"/>
                </a:solidFill>
                <a:latin typeface="Quattrocento Sans" pitchFamily="34" charset="0"/>
                <a:ea typeface="Quattrocento Sans" pitchFamily="34" charset="-122"/>
                <a:cs typeface="Quattrocento Sans" pitchFamily="34" charset="-120"/>
              </a:rPr>
              <a:t>• Clean interfaces via JSONL and Parquet artifacts</a:t>
            </a:r>
            <a:endParaRPr lang="en-US" sz="1600" dirty="0"/>
          </a:p>
        </p:txBody>
      </p:sp>
      <p:sp>
        <p:nvSpPr>
          <p:cNvPr id="367" name="Shape 10"/>
          <p:cNvSpPr/>
          <p:nvPr/>
        </p:nvSpPr>
        <p:spPr>
          <a:xfrm>
            <a:off x="8382000" y="1117600"/>
            <a:ext cx="7366000" cy="3429000"/>
          </a:xfrm>
          <a:prstGeom prst="roundRect">
            <a:avLst>
              <a:gd name="adj" fmla="val 4000"/>
            </a:avLst>
          </a:prstGeom>
          <a:solidFill>
            <a:srgbClr val="F5F5F5"/>
          </a:solidFill>
          <a:ln/>
        </p:spPr>
        <p:txBody>
          <a:bodyPr/>
          <a:lstStyle/>
          <a:p>
            <a:endParaRPr/>
          </a:p>
        </p:txBody>
      </p:sp>
      <p:sp>
        <p:nvSpPr>
          <p:cNvPr id="368" name="Shape 11"/>
          <p:cNvSpPr/>
          <p:nvPr/>
        </p:nvSpPr>
        <p:spPr>
          <a:xfrm>
            <a:off x="8382000" y="1117600"/>
            <a:ext cx="1524000" cy="355600"/>
          </a:xfrm>
          <a:prstGeom prst="rect">
            <a:avLst/>
          </a:prstGeom>
          <a:solidFill>
            <a:srgbClr val="5B9BD5"/>
          </a:solidFill>
          <a:ln/>
        </p:spPr>
        <p:txBody>
          <a:bodyPr/>
          <a:lstStyle/>
          <a:p>
            <a:endParaRPr/>
          </a:p>
        </p:txBody>
      </p:sp>
      <p:sp>
        <p:nvSpPr>
          <p:cNvPr id="369" name="Text 12"/>
          <p:cNvSpPr/>
          <p:nvPr/>
        </p:nvSpPr>
        <p:spPr>
          <a:xfrm>
            <a:off x="8382000" y="1117600"/>
            <a:ext cx="1524000" cy="355600"/>
          </a:xfrm>
          <a:prstGeom prst="rect">
            <a:avLst/>
          </a:prstGeom>
          <a:noFill/>
          <a:ln/>
        </p:spPr>
        <p:txBody>
          <a:bodyPr wrap="none" lIns="0" tIns="0" rIns="0" bIns="0" rtlCol="0" anchor="ctr"/>
          <a:lstStyle/>
          <a:p>
            <a:pPr algn="ctr">
              <a:lnSpc>
                <a:spcPct val="100000"/>
              </a:lnSpc>
            </a:pPr>
            <a:r>
              <a:rPr lang="en-US" sz="1200" dirty="0">
                <a:solidFill>
                  <a:srgbClr val="FFFFFF"/>
                </a:solidFill>
                <a:latin typeface="Quattrocento Sans" pitchFamily="34" charset="0"/>
                <a:ea typeface="Quattrocento Sans" pitchFamily="34" charset="-122"/>
                <a:cs typeface="Quattrocento Sans" pitchFamily="34" charset="-120"/>
              </a:rPr>
              <a:t>SCALABLE</a:t>
            </a:r>
            <a:endParaRPr lang="en-US" sz="1600" dirty="0"/>
          </a:p>
        </p:txBody>
      </p:sp>
      <p:sp>
        <p:nvSpPr>
          <p:cNvPr id="370" name="Text 13"/>
          <p:cNvSpPr/>
          <p:nvPr/>
        </p:nvSpPr>
        <p:spPr>
          <a:xfrm>
            <a:off x="8585200" y="1625600"/>
            <a:ext cx="6959600" cy="381000"/>
          </a:xfrm>
          <a:prstGeom prst="rect">
            <a:avLst/>
          </a:prstGeom>
          <a:noFill/>
          <a:ln/>
        </p:spPr>
        <p:txBody>
          <a:bodyPr wrap="none" lIns="0" tIns="0" rIns="0" bIns="0" rtlCol="0" anchor="ctr"/>
          <a:lstStyle/>
          <a:p>
            <a:pPr>
              <a:lnSpc>
                <a:spcPct val="100000"/>
              </a:lnSpc>
            </a:pPr>
            <a:r>
              <a:rPr lang="en-US" sz="1800" b="1" dirty="0">
                <a:solidFill>
                  <a:srgbClr val="1A4A7A"/>
                </a:solidFill>
                <a:latin typeface="Quattrocento Sans" pitchFamily="34" charset="0"/>
                <a:ea typeface="Quattrocento Sans" pitchFamily="34" charset="-122"/>
                <a:cs typeface="Quattrocento Sans" pitchFamily="34" charset="-120"/>
              </a:rPr>
              <a:t>50K Document Full-Indexing</a:t>
            </a:r>
            <a:endParaRPr lang="en-US" sz="1600" dirty="0"/>
          </a:p>
        </p:txBody>
      </p:sp>
      <p:sp>
        <p:nvSpPr>
          <p:cNvPr id="371" name="Text 14"/>
          <p:cNvSpPr/>
          <p:nvPr/>
        </p:nvSpPr>
        <p:spPr>
          <a:xfrm>
            <a:off x="8585200" y="2082800"/>
            <a:ext cx="6959600" cy="2159000"/>
          </a:xfrm>
          <a:prstGeom prst="rect">
            <a:avLst/>
          </a:prstGeom>
          <a:noFill/>
          <a:ln/>
        </p:spPr>
        <p:txBody>
          <a:bodyPr wrap="square" lIns="0" tIns="0" rIns="0" bIns="0" rtlCol="0" anchor="ctr"/>
          <a:lstStyle/>
          <a:p>
            <a:pPr>
              <a:lnSpc>
                <a:spcPct val="170000"/>
              </a:lnSpc>
            </a:pPr>
            <a:r>
              <a:rPr lang="en-US" sz="1600" dirty="0">
                <a:solidFill>
                  <a:srgbClr val="2C2C2C"/>
                </a:solidFill>
                <a:latin typeface="Quattrocento Sans" pitchFamily="34" charset="0"/>
                <a:ea typeface="Quattrocento Sans" pitchFamily="34" charset="-122"/>
                <a:cs typeface="Quattrocento Sans" pitchFamily="34" charset="-120"/>
              </a:rPr>
              <a:t>• Supports 50K document full-indexing with FAISS GPU</a:t>
            </a:r>
            <a:endParaRPr lang="en-US" sz="1600" dirty="0"/>
          </a:p>
          <a:p>
            <a:pPr>
              <a:lnSpc>
                <a:spcPct val="170000"/>
              </a:lnSpc>
            </a:pPr>
            <a:r>
              <a:rPr lang="en-US" sz="1600" dirty="0">
                <a:solidFill>
                  <a:srgbClr val="2C2C2C"/>
                </a:solidFill>
                <a:latin typeface="Quattrocento Sans" pitchFamily="34" charset="0"/>
                <a:ea typeface="Quattrocento Sans" pitchFamily="34" charset="-122"/>
                <a:cs typeface="Quattrocento Sans" pitchFamily="34" charset="-120"/>
              </a:rPr>
              <a:t>• Incremental updates possible without full rebuild</a:t>
            </a:r>
            <a:endParaRPr lang="en-US" sz="1600" dirty="0"/>
          </a:p>
          <a:p>
            <a:pPr>
              <a:lnSpc>
                <a:spcPct val="170000"/>
              </a:lnSpc>
            </a:pPr>
            <a:r>
              <a:rPr lang="en-US" sz="1600" dirty="0">
                <a:solidFill>
                  <a:srgbClr val="2C2C2C"/>
                </a:solidFill>
                <a:latin typeface="Quattrocento Sans" pitchFamily="34" charset="0"/>
                <a:ea typeface="Quattrocento Sans" pitchFamily="34" charset="-122"/>
                <a:cs typeface="Quattrocento Sans" pitchFamily="34" charset="-120"/>
              </a:rPr>
              <a:t>• Spark distributed pipeline scales to larger corpora</a:t>
            </a:r>
            <a:endParaRPr lang="en-US" sz="1600" dirty="0"/>
          </a:p>
        </p:txBody>
      </p:sp>
      <p:sp>
        <p:nvSpPr>
          <p:cNvPr id="372" name="Shape 15"/>
          <p:cNvSpPr/>
          <p:nvPr/>
        </p:nvSpPr>
        <p:spPr>
          <a:xfrm>
            <a:off x="508000" y="4800600"/>
            <a:ext cx="7366000" cy="3429000"/>
          </a:xfrm>
          <a:prstGeom prst="roundRect">
            <a:avLst>
              <a:gd name="adj" fmla="val 4000"/>
            </a:avLst>
          </a:prstGeom>
          <a:solidFill>
            <a:srgbClr val="F5F5F5"/>
          </a:solidFill>
          <a:ln/>
        </p:spPr>
        <p:txBody>
          <a:bodyPr/>
          <a:lstStyle/>
          <a:p>
            <a:endParaRPr/>
          </a:p>
        </p:txBody>
      </p:sp>
      <p:sp>
        <p:nvSpPr>
          <p:cNvPr id="373" name="Shape 16"/>
          <p:cNvSpPr/>
          <p:nvPr/>
        </p:nvSpPr>
        <p:spPr>
          <a:xfrm>
            <a:off x="508000" y="4800600"/>
            <a:ext cx="1524000" cy="355600"/>
          </a:xfrm>
          <a:prstGeom prst="rect">
            <a:avLst/>
          </a:prstGeom>
          <a:solidFill>
            <a:srgbClr val="2E86C1"/>
          </a:solidFill>
          <a:ln/>
        </p:spPr>
        <p:txBody>
          <a:bodyPr/>
          <a:lstStyle/>
          <a:p>
            <a:endParaRPr/>
          </a:p>
        </p:txBody>
      </p:sp>
      <p:sp>
        <p:nvSpPr>
          <p:cNvPr id="374" name="Text 17"/>
          <p:cNvSpPr/>
          <p:nvPr/>
        </p:nvSpPr>
        <p:spPr>
          <a:xfrm>
            <a:off x="508000" y="4800600"/>
            <a:ext cx="1524000" cy="355600"/>
          </a:xfrm>
          <a:prstGeom prst="rect">
            <a:avLst/>
          </a:prstGeom>
          <a:noFill/>
          <a:ln/>
        </p:spPr>
        <p:txBody>
          <a:bodyPr wrap="none" lIns="0" tIns="0" rIns="0" bIns="0" rtlCol="0" anchor="ctr"/>
          <a:lstStyle/>
          <a:p>
            <a:pPr algn="ctr">
              <a:lnSpc>
                <a:spcPct val="100000"/>
              </a:lnSpc>
            </a:pPr>
            <a:r>
              <a:rPr lang="en-US" sz="1200" dirty="0">
                <a:solidFill>
                  <a:srgbClr val="FFFFFF"/>
                </a:solidFill>
                <a:latin typeface="Quattrocento Sans" pitchFamily="34" charset="0"/>
                <a:ea typeface="Quattrocento Sans" pitchFamily="34" charset="-122"/>
                <a:cs typeface="Quattrocento Sans" pitchFamily="34" charset="-120"/>
              </a:rPr>
              <a:t>EXPLAINABLE</a:t>
            </a:r>
            <a:endParaRPr lang="en-US" sz="1600" dirty="0"/>
          </a:p>
        </p:txBody>
      </p:sp>
      <p:sp>
        <p:nvSpPr>
          <p:cNvPr id="375" name="Text 18"/>
          <p:cNvSpPr/>
          <p:nvPr/>
        </p:nvSpPr>
        <p:spPr>
          <a:xfrm>
            <a:off x="711200" y="5308600"/>
            <a:ext cx="6959600" cy="381000"/>
          </a:xfrm>
          <a:prstGeom prst="rect">
            <a:avLst/>
          </a:prstGeom>
          <a:noFill/>
          <a:ln/>
        </p:spPr>
        <p:txBody>
          <a:bodyPr wrap="none" lIns="0" tIns="0" rIns="0" bIns="0" rtlCol="0" anchor="ctr"/>
          <a:lstStyle/>
          <a:p>
            <a:pPr>
              <a:lnSpc>
                <a:spcPct val="100000"/>
              </a:lnSpc>
            </a:pPr>
            <a:r>
              <a:rPr lang="en-US" sz="1800" b="1" dirty="0">
                <a:solidFill>
                  <a:srgbClr val="1A4A7A"/>
                </a:solidFill>
                <a:latin typeface="Quattrocento Sans" pitchFamily="34" charset="0"/>
                <a:ea typeface="Quattrocento Sans" pitchFamily="34" charset="-122"/>
                <a:cs typeface="Quattrocento Sans" pitchFamily="34" charset="-120"/>
              </a:rPr>
              <a:t>Traceable Evidence Chain</a:t>
            </a:r>
            <a:endParaRPr lang="en-US" sz="1600" dirty="0"/>
          </a:p>
        </p:txBody>
      </p:sp>
      <p:sp>
        <p:nvSpPr>
          <p:cNvPr id="376" name="Text 19"/>
          <p:cNvSpPr/>
          <p:nvPr/>
        </p:nvSpPr>
        <p:spPr>
          <a:xfrm>
            <a:off x="711200" y="5765800"/>
            <a:ext cx="6959600" cy="2159000"/>
          </a:xfrm>
          <a:prstGeom prst="rect">
            <a:avLst/>
          </a:prstGeom>
          <a:noFill/>
          <a:ln/>
        </p:spPr>
        <p:txBody>
          <a:bodyPr wrap="square" lIns="0" tIns="0" rIns="0" bIns="0" rtlCol="0" anchor="ctr"/>
          <a:lstStyle/>
          <a:p>
            <a:pPr>
              <a:lnSpc>
                <a:spcPct val="170000"/>
              </a:lnSpc>
            </a:pPr>
            <a:r>
              <a:rPr lang="en-US" sz="1600" dirty="0">
                <a:solidFill>
                  <a:srgbClr val="2C2C2C"/>
                </a:solidFill>
                <a:latin typeface="Quattrocento Sans" pitchFamily="34" charset="0"/>
                <a:ea typeface="Quattrocento Sans" pitchFamily="34" charset="-122"/>
                <a:cs typeface="Quattrocento Sans" pitchFamily="34" charset="-120"/>
              </a:rPr>
              <a:t>• Outputs vector hits and graph expansion edges for every query</a:t>
            </a:r>
            <a:endParaRPr lang="en-US" sz="1600" dirty="0"/>
          </a:p>
          <a:p>
            <a:pPr>
              <a:lnSpc>
                <a:spcPct val="170000"/>
              </a:lnSpc>
            </a:pPr>
            <a:r>
              <a:rPr lang="en-US" sz="1600" dirty="0">
                <a:solidFill>
                  <a:srgbClr val="2C2C2C"/>
                </a:solidFill>
                <a:latin typeface="Quattrocento Sans" pitchFamily="34" charset="0"/>
                <a:ea typeface="Quattrocento Sans" pitchFamily="34" charset="-122"/>
                <a:cs typeface="Quattrocento Sans" pitchFamily="34" charset="-120"/>
              </a:rPr>
              <a:t>• Full evidence chain: query → seed → expand → rerank → answer</a:t>
            </a:r>
            <a:endParaRPr lang="en-US" sz="1600" dirty="0"/>
          </a:p>
          <a:p>
            <a:pPr>
              <a:lnSpc>
                <a:spcPct val="170000"/>
              </a:lnSpc>
            </a:pPr>
            <a:r>
              <a:rPr lang="en-US" sz="1600" dirty="0">
                <a:solidFill>
                  <a:srgbClr val="2C2C2C"/>
                </a:solidFill>
                <a:latin typeface="Quattrocento Sans" pitchFamily="34" charset="0"/>
                <a:ea typeface="Quattrocento Sans" pitchFamily="34" charset="-122"/>
                <a:cs typeface="Quattrocento Sans" pitchFamily="34" charset="-120"/>
              </a:rPr>
              <a:t>• Enables debugging and failure analysis</a:t>
            </a:r>
            <a:endParaRPr lang="en-US" sz="1600" dirty="0"/>
          </a:p>
        </p:txBody>
      </p:sp>
      <p:sp>
        <p:nvSpPr>
          <p:cNvPr id="377" name="Shape 20"/>
          <p:cNvSpPr/>
          <p:nvPr/>
        </p:nvSpPr>
        <p:spPr>
          <a:xfrm>
            <a:off x="8382000" y="4800600"/>
            <a:ext cx="7366000" cy="3429000"/>
          </a:xfrm>
          <a:prstGeom prst="roundRect">
            <a:avLst>
              <a:gd name="adj" fmla="val 4000"/>
            </a:avLst>
          </a:prstGeom>
          <a:solidFill>
            <a:srgbClr val="F5F5F5"/>
          </a:solidFill>
          <a:ln/>
        </p:spPr>
        <p:txBody>
          <a:bodyPr/>
          <a:lstStyle/>
          <a:p>
            <a:endParaRPr/>
          </a:p>
        </p:txBody>
      </p:sp>
      <p:sp>
        <p:nvSpPr>
          <p:cNvPr id="378" name="Shape 21"/>
          <p:cNvSpPr/>
          <p:nvPr/>
        </p:nvSpPr>
        <p:spPr>
          <a:xfrm>
            <a:off x="8382000" y="4800600"/>
            <a:ext cx="1524000" cy="355600"/>
          </a:xfrm>
          <a:prstGeom prst="rect">
            <a:avLst/>
          </a:prstGeom>
          <a:solidFill>
            <a:srgbClr val="455A64"/>
          </a:solidFill>
          <a:ln/>
        </p:spPr>
        <p:txBody>
          <a:bodyPr/>
          <a:lstStyle/>
          <a:p>
            <a:endParaRPr/>
          </a:p>
        </p:txBody>
      </p:sp>
      <p:sp>
        <p:nvSpPr>
          <p:cNvPr id="379" name="Text 22"/>
          <p:cNvSpPr/>
          <p:nvPr/>
        </p:nvSpPr>
        <p:spPr>
          <a:xfrm>
            <a:off x="8382000" y="4800600"/>
            <a:ext cx="1524000" cy="355600"/>
          </a:xfrm>
          <a:prstGeom prst="rect">
            <a:avLst/>
          </a:prstGeom>
          <a:noFill/>
          <a:ln/>
        </p:spPr>
        <p:txBody>
          <a:bodyPr wrap="none" lIns="0" tIns="0" rIns="0" bIns="0" rtlCol="0" anchor="ctr"/>
          <a:lstStyle/>
          <a:p>
            <a:pPr algn="ctr">
              <a:lnSpc>
                <a:spcPct val="100000"/>
              </a:lnSpc>
            </a:pPr>
            <a:r>
              <a:rPr lang="en-US" sz="1200" dirty="0">
                <a:solidFill>
                  <a:srgbClr val="FFFFFF"/>
                </a:solidFill>
                <a:latin typeface="Quattrocento Sans" pitchFamily="34" charset="0"/>
                <a:ea typeface="Quattrocento Sans" pitchFamily="34" charset="-122"/>
                <a:cs typeface="Quattrocento Sans" pitchFamily="34" charset="-120"/>
              </a:rPr>
              <a:t>CONFIGURABLE</a:t>
            </a:r>
            <a:endParaRPr lang="en-US" sz="1600" dirty="0"/>
          </a:p>
        </p:txBody>
      </p:sp>
      <p:sp>
        <p:nvSpPr>
          <p:cNvPr id="380" name="Text 23"/>
          <p:cNvSpPr/>
          <p:nvPr/>
        </p:nvSpPr>
        <p:spPr>
          <a:xfrm>
            <a:off x="8585200" y="5308600"/>
            <a:ext cx="6959600" cy="381000"/>
          </a:xfrm>
          <a:prstGeom prst="rect">
            <a:avLst/>
          </a:prstGeom>
          <a:noFill/>
          <a:ln/>
        </p:spPr>
        <p:txBody>
          <a:bodyPr wrap="none" lIns="0" tIns="0" rIns="0" bIns="0" rtlCol="0" anchor="ctr"/>
          <a:lstStyle/>
          <a:p>
            <a:pPr>
              <a:lnSpc>
                <a:spcPct val="100000"/>
              </a:lnSpc>
            </a:pPr>
            <a:r>
              <a:rPr lang="en-US" sz="1800" b="1" dirty="0">
                <a:solidFill>
                  <a:srgbClr val="1A4A7A"/>
                </a:solidFill>
                <a:latin typeface="Quattrocento Sans" pitchFamily="34" charset="0"/>
                <a:ea typeface="Quattrocento Sans" pitchFamily="34" charset="-122"/>
                <a:cs typeface="Quattrocento Sans" pitchFamily="34" charset="-120"/>
              </a:rPr>
              <a:t>Tunable Parameters</a:t>
            </a:r>
            <a:endParaRPr lang="en-US" sz="1600" dirty="0"/>
          </a:p>
        </p:txBody>
      </p:sp>
      <p:sp>
        <p:nvSpPr>
          <p:cNvPr id="381" name="Text 24"/>
          <p:cNvSpPr/>
          <p:nvPr/>
        </p:nvSpPr>
        <p:spPr>
          <a:xfrm>
            <a:off x="8585200" y="5765800"/>
            <a:ext cx="6959600" cy="2159000"/>
          </a:xfrm>
          <a:prstGeom prst="rect">
            <a:avLst/>
          </a:prstGeom>
          <a:noFill/>
          <a:ln/>
        </p:spPr>
        <p:txBody>
          <a:bodyPr wrap="square" lIns="0" tIns="0" rIns="0" bIns="0" rtlCol="0" anchor="ctr"/>
          <a:lstStyle/>
          <a:p>
            <a:pPr>
              <a:lnSpc>
                <a:spcPct val="170000"/>
              </a:lnSpc>
            </a:pPr>
            <a:r>
              <a:rPr lang="en-US" sz="1600" dirty="0">
                <a:solidFill>
                  <a:srgbClr val="2C2C2C"/>
                </a:solidFill>
                <a:latin typeface="Quattrocento Sans" pitchFamily="34" charset="0"/>
                <a:ea typeface="Quattrocento Sans" pitchFamily="34" charset="-122"/>
                <a:cs typeface="Quattrocento Sans" pitchFamily="34" charset="-120"/>
              </a:rPr>
              <a:t>• community top-k, pagerank sorting, intra-community expand</a:t>
            </a:r>
            <a:endParaRPr lang="en-US" sz="1600" dirty="0"/>
          </a:p>
          <a:p>
            <a:pPr>
              <a:lnSpc>
                <a:spcPct val="170000"/>
              </a:lnSpc>
            </a:pPr>
            <a:r>
              <a:rPr lang="en-US" sz="1600" dirty="0">
                <a:solidFill>
                  <a:srgbClr val="2C2C2C"/>
                </a:solidFill>
                <a:latin typeface="Quattrocento Sans" pitchFamily="34" charset="0"/>
                <a:ea typeface="Quattrocento Sans" pitchFamily="34" charset="-122"/>
                <a:cs typeface="Quattrocento Sans" pitchFamily="34" charset="-120"/>
              </a:rPr>
              <a:t>• back-to-corpus limits, chunk size, overlap all tunable</a:t>
            </a:r>
            <a:endParaRPr lang="en-US" sz="1600" dirty="0"/>
          </a:p>
          <a:p>
            <a:pPr>
              <a:lnSpc>
                <a:spcPct val="170000"/>
              </a:lnSpc>
            </a:pPr>
            <a:r>
              <a:rPr lang="en-US" sz="1600" dirty="0">
                <a:solidFill>
                  <a:srgbClr val="2C2C2C"/>
                </a:solidFill>
                <a:latin typeface="Quattrocento Sans" pitchFamily="34" charset="0"/>
                <a:ea typeface="Quattrocento Sans" pitchFamily="34" charset="-122"/>
                <a:cs typeface="Quattrocento Sans" pitchFamily="34" charset="-120"/>
              </a:rPr>
              <a:t>• Easy ablation study configuration via YAML</a:t>
            </a:r>
            <a:endParaRPr lang="en-US" sz="1600" dirty="0"/>
          </a:p>
        </p:txBody>
      </p:sp>
      <p:sp>
        <p:nvSpPr>
          <p:cNvPr id="382" name="Text 25"/>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28</a:t>
            </a:r>
            <a:endParaRPr lang="en-US" sz="1600" dirty="0"/>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F6F9FC"/>
        </a:solidFill>
        <a:effectLst/>
      </p:bgPr>
    </p:bg>
    <p:spTree>
      <p:nvGrpSpPr>
        <p:cNvPr id="1" name=""/>
        <p:cNvGrpSpPr/>
        <p:nvPr/>
      </p:nvGrpSpPr>
      <p:grpSpPr>
        <a:xfrm>
          <a:off x="0" y="0"/>
          <a:ext cx="0" cy="0"/>
          <a:chOff x="0" y="0"/>
          <a:chExt cx="0" cy="0"/>
        </a:xfrm>
      </p:grpSpPr>
      <p:sp>
        <p:nvSpPr>
          <p:cNvPr id="384" name="Shape 0"/>
          <p:cNvSpPr/>
          <p:nvPr/>
        </p:nvSpPr>
        <p:spPr>
          <a:xfrm>
            <a:off x="0" y="0"/>
            <a:ext cx="76200" cy="9144000"/>
          </a:xfrm>
          <a:prstGeom prst="rect">
            <a:avLst/>
          </a:prstGeom>
          <a:solidFill>
            <a:srgbClr val="1A4A7A"/>
          </a:solidFill>
          <a:ln/>
        </p:spPr>
        <p:txBody>
          <a:bodyPr/>
          <a:lstStyle/>
          <a:p>
            <a:endParaRPr/>
          </a:p>
        </p:txBody>
      </p:sp>
      <p:sp>
        <p:nvSpPr>
          <p:cNvPr id="385" name="Shape 1"/>
          <p:cNvSpPr/>
          <p:nvPr/>
        </p:nvSpPr>
        <p:spPr>
          <a:xfrm>
            <a:off x="6096000" y="1778000"/>
            <a:ext cx="12700" cy="5588000"/>
          </a:xfrm>
          <a:prstGeom prst="rect">
            <a:avLst/>
          </a:prstGeom>
          <a:solidFill>
            <a:srgbClr val="E0E0E0"/>
          </a:solidFill>
          <a:ln/>
        </p:spPr>
        <p:txBody>
          <a:bodyPr/>
          <a:lstStyle/>
          <a:p>
            <a:endParaRPr/>
          </a:p>
        </p:txBody>
      </p:sp>
      <p:sp>
        <p:nvSpPr>
          <p:cNvPr id="386" name="Text 2"/>
          <p:cNvSpPr/>
          <p:nvPr/>
        </p:nvSpPr>
        <p:spPr>
          <a:xfrm>
            <a:off x="762000" y="2540000"/>
            <a:ext cx="4826000" cy="2540000"/>
          </a:xfrm>
          <a:prstGeom prst="rect">
            <a:avLst/>
          </a:prstGeom>
          <a:noFill/>
          <a:ln/>
        </p:spPr>
        <p:txBody>
          <a:bodyPr wrap="none" lIns="0" tIns="0" rIns="0" bIns="0" rtlCol="0" anchor="ctr"/>
          <a:lstStyle/>
          <a:p>
            <a:pPr algn="ctr">
              <a:lnSpc>
                <a:spcPct val="100000"/>
              </a:lnSpc>
            </a:pPr>
            <a:r>
              <a:rPr lang="en-US" sz="12000" dirty="0">
                <a:solidFill>
                  <a:srgbClr val="5B9BD5"/>
                </a:solidFill>
                <a:latin typeface="Quattrocento Sans" pitchFamily="34" charset="0"/>
                <a:ea typeface="Quattrocento Sans" pitchFamily="34" charset="-122"/>
                <a:cs typeface="Quattrocento Sans" pitchFamily="34" charset="-120"/>
              </a:rPr>
              <a:t>05</a:t>
            </a:r>
            <a:endParaRPr lang="en-US" sz="1600" dirty="0"/>
          </a:p>
        </p:txBody>
      </p:sp>
      <p:sp>
        <p:nvSpPr>
          <p:cNvPr id="387" name="Text 3"/>
          <p:cNvSpPr/>
          <p:nvPr/>
        </p:nvSpPr>
        <p:spPr>
          <a:xfrm>
            <a:off x="762000" y="5080000"/>
            <a:ext cx="4826000" cy="355600"/>
          </a:xfrm>
          <a:prstGeom prst="rect">
            <a:avLst/>
          </a:prstGeom>
          <a:noFill/>
          <a:ln/>
        </p:spPr>
        <p:txBody>
          <a:bodyPr wrap="none" lIns="0" tIns="0" rIns="0" bIns="0" rtlCol="0" anchor="ctr"/>
          <a:lstStyle/>
          <a:p>
            <a:pPr algn="ctr">
              <a:lnSpc>
                <a:spcPct val="100000"/>
              </a:lnSpc>
            </a:pPr>
            <a:r>
              <a:rPr lang="en-US" sz="1600" kern="0" spc="400" dirty="0">
                <a:solidFill>
                  <a:srgbClr val="5B9BD5"/>
                </a:solidFill>
                <a:latin typeface="Quattrocento Sans" pitchFamily="34" charset="0"/>
                <a:ea typeface="Quattrocento Sans" pitchFamily="34" charset="-122"/>
                <a:cs typeface="Quattrocento Sans" pitchFamily="34" charset="-120"/>
              </a:rPr>
              <a:t>CHAPTER FIVE</a:t>
            </a:r>
            <a:endParaRPr lang="en-US" sz="1600" dirty="0"/>
          </a:p>
        </p:txBody>
      </p:sp>
      <p:sp>
        <p:nvSpPr>
          <p:cNvPr id="388" name="Text 4"/>
          <p:cNvSpPr/>
          <p:nvPr/>
        </p:nvSpPr>
        <p:spPr>
          <a:xfrm>
            <a:off x="6616700" y="3454400"/>
            <a:ext cx="8890000" cy="711200"/>
          </a:xfrm>
          <a:prstGeom prst="rect">
            <a:avLst/>
          </a:prstGeom>
          <a:noFill/>
          <a:ln/>
        </p:spPr>
        <p:txBody>
          <a:bodyPr wrap="none" lIns="0" tIns="0" rIns="0" bIns="0" rtlCol="0" anchor="ctr"/>
          <a:lstStyle/>
          <a:p>
            <a:pPr>
              <a:lnSpc>
                <a:spcPct val="100000"/>
              </a:lnSpc>
            </a:pPr>
            <a:r>
              <a:rPr lang="en-US" sz="3600" b="1" dirty="0">
                <a:solidFill>
                  <a:srgbClr val="1A4A7A"/>
                </a:solidFill>
                <a:latin typeface="Quattrocento Sans" pitchFamily="34" charset="0"/>
                <a:ea typeface="Quattrocento Sans" pitchFamily="34" charset="-122"/>
                <a:cs typeface="Quattrocento Sans" pitchFamily="34" charset="-120"/>
              </a:rPr>
              <a:t>Evaluation Framework</a:t>
            </a:r>
            <a:endParaRPr lang="en-US" sz="1600" dirty="0"/>
          </a:p>
        </p:txBody>
      </p:sp>
      <p:sp>
        <p:nvSpPr>
          <p:cNvPr id="389" name="Text 5"/>
          <p:cNvSpPr/>
          <p:nvPr/>
        </p:nvSpPr>
        <p:spPr>
          <a:xfrm>
            <a:off x="6604000" y="5080000"/>
            <a:ext cx="8890000" cy="355600"/>
          </a:xfrm>
          <a:prstGeom prst="rect">
            <a:avLst/>
          </a:prstGeom>
          <a:noFill/>
          <a:ln/>
        </p:spPr>
        <p:txBody>
          <a:bodyPr wrap="none" lIns="0" tIns="0" rIns="0" bIns="0" rtlCol="0" anchor="ctr"/>
          <a:lstStyle/>
          <a:p>
            <a:pPr>
              <a:lnSpc>
                <a:spcPct val="100000"/>
              </a:lnSpc>
            </a:pPr>
            <a:r>
              <a:rPr lang="en-US" sz="1800" dirty="0">
                <a:solidFill>
                  <a:srgbClr val="AAAAAA"/>
                </a:solidFill>
                <a:latin typeface="Quattrocento Sans" pitchFamily="34" charset="0"/>
                <a:ea typeface="Quattrocento Sans" pitchFamily="34" charset="-122"/>
                <a:cs typeface="Quattrocento Sans" pitchFamily="34" charset="-120"/>
              </a:rPr>
              <a:t>HotpotQA-Based Local Benchmark and Ablation Study</a:t>
            </a:r>
            <a:endParaRPr lang="en-US" sz="1600" dirty="0"/>
          </a:p>
        </p:txBody>
      </p:sp>
      <p:sp>
        <p:nvSpPr>
          <p:cNvPr id="390" name="Text 10"/>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29</a:t>
            </a:r>
            <a:endParaRPr lang="en-US" sz="1600"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92" name="Google Shape;84;p13" descr="image.png"/>
          <p:cNvPicPr/>
          <p:nvPr/>
        </p:nvPicPr>
        <p:blipFill rotWithShape="1">
          <a:blip r:embed="rId3">
            <a:alphaModFix/>
          </a:blip>
          <a:srcRect/>
          <a:stretch/>
        </p:blipFill>
        <p:spPr>
          <a:xfrm>
            <a:off x="0" y="0"/>
            <a:ext cx="16256000" cy="9144000"/>
          </a:xfrm>
          <a:prstGeom prst="rect">
            <a:avLst/>
          </a:prstGeom>
          <a:noFill/>
          <a:ln>
            <a:noFill/>
          </a:ln>
        </p:spPr>
      </p:pic>
      <p:pic>
        <p:nvPicPr>
          <p:cNvPr id="393" name="Google Shape;85;p13" descr="image.png"/>
          <p:cNvPicPr/>
          <p:nvPr/>
        </p:nvPicPr>
        <p:blipFill rotWithShape="1">
          <a:blip r:embed="rId4">
            <a:alphaModFix/>
          </a:blip>
          <a:srcRect/>
          <a:stretch/>
        </p:blipFill>
        <p:spPr>
          <a:xfrm>
            <a:off x="762000" y="3741340"/>
            <a:ext cx="3444874" cy="2349500"/>
          </a:xfrm>
          <a:prstGeom prst="rect">
            <a:avLst/>
          </a:prstGeom>
          <a:noFill/>
          <a:ln>
            <a:noFill/>
          </a:ln>
        </p:spPr>
      </p:pic>
      <p:pic>
        <p:nvPicPr>
          <p:cNvPr id="394" name="Google Shape;86;p13" descr="image.png"/>
          <p:cNvPicPr/>
          <p:nvPr/>
        </p:nvPicPr>
        <p:blipFill rotWithShape="1">
          <a:blip r:embed="rId5">
            <a:alphaModFix/>
          </a:blip>
          <a:srcRect/>
          <a:stretch/>
        </p:blipFill>
        <p:spPr>
          <a:xfrm>
            <a:off x="4524374" y="3741340"/>
            <a:ext cx="3444874" cy="2349500"/>
          </a:xfrm>
          <a:prstGeom prst="rect">
            <a:avLst/>
          </a:prstGeom>
          <a:noFill/>
          <a:ln>
            <a:noFill/>
          </a:ln>
        </p:spPr>
      </p:pic>
      <p:pic>
        <p:nvPicPr>
          <p:cNvPr id="395" name="Google Shape;87;p13" descr="image.png"/>
          <p:cNvPicPr/>
          <p:nvPr/>
        </p:nvPicPr>
        <p:blipFill rotWithShape="1">
          <a:blip r:embed="rId6">
            <a:alphaModFix/>
          </a:blip>
          <a:srcRect/>
          <a:stretch/>
        </p:blipFill>
        <p:spPr>
          <a:xfrm>
            <a:off x="8286749" y="3741340"/>
            <a:ext cx="3444874" cy="2349500"/>
          </a:xfrm>
          <a:prstGeom prst="rect">
            <a:avLst/>
          </a:prstGeom>
          <a:noFill/>
          <a:ln>
            <a:noFill/>
          </a:ln>
        </p:spPr>
      </p:pic>
      <p:pic>
        <p:nvPicPr>
          <p:cNvPr id="396" name="Google Shape;88;p13" descr="image.png"/>
          <p:cNvPicPr/>
          <p:nvPr/>
        </p:nvPicPr>
        <p:blipFill rotWithShape="1">
          <a:blip r:embed="rId6">
            <a:alphaModFix/>
          </a:blip>
          <a:srcRect/>
          <a:stretch/>
        </p:blipFill>
        <p:spPr>
          <a:xfrm>
            <a:off x="12049124" y="3741340"/>
            <a:ext cx="3444874" cy="2349500"/>
          </a:xfrm>
          <a:prstGeom prst="rect">
            <a:avLst/>
          </a:prstGeom>
          <a:noFill/>
          <a:ln>
            <a:noFill/>
          </a:ln>
        </p:spPr>
      </p:pic>
      <p:pic>
        <p:nvPicPr>
          <p:cNvPr id="397" name="Google Shape;89;p13" descr="image.png"/>
          <p:cNvPicPr/>
          <p:nvPr/>
        </p:nvPicPr>
        <p:blipFill rotWithShape="1">
          <a:blip r:embed="rId7">
            <a:alphaModFix/>
          </a:blip>
          <a:srcRect/>
          <a:stretch/>
        </p:blipFill>
        <p:spPr>
          <a:xfrm>
            <a:off x="11620500" y="7471369"/>
            <a:ext cx="3873500" cy="762000"/>
          </a:xfrm>
          <a:prstGeom prst="rect">
            <a:avLst/>
          </a:prstGeom>
          <a:noFill/>
          <a:ln>
            <a:noFill/>
          </a:ln>
        </p:spPr>
      </p:pic>
      <p:pic>
        <p:nvPicPr>
          <p:cNvPr id="398" name="Google Shape;90;p13" descr="image.png"/>
          <p:cNvPicPr/>
          <p:nvPr/>
        </p:nvPicPr>
        <p:blipFill rotWithShape="1">
          <a:blip r:embed="rId8">
            <a:alphaModFix/>
          </a:blip>
          <a:srcRect/>
          <a:stretch/>
        </p:blipFill>
        <p:spPr>
          <a:xfrm>
            <a:off x="8001000" y="7471369"/>
            <a:ext cx="3873500" cy="762000"/>
          </a:xfrm>
          <a:prstGeom prst="rect">
            <a:avLst/>
          </a:prstGeom>
          <a:noFill/>
          <a:ln>
            <a:noFill/>
          </a:ln>
        </p:spPr>
      </p:pic>
      <p:pic>
        <p:nvPicPr>
          <p:cNvPr id="399" name="Google Shape;91;p13" descr="image.png"/>
          <p:cNvPicPr/>
          <p:nvPr/>
        </p:nvPicPr>
        <p:blipFill rotWithShape="1">
          <a:blip r:embed="rId9">
            <a:alphaModFix/>
          </a:blip>
          <a:srcRect/>
          <a:stretch/>
        </p:blipFill>
        <p:spPr>
          <a:xfrm>
            <a:off x="4381500" y="7471369"/>
            <a:ext cx="3873500" cy="762000"/>
          </a:xfrm>
          <a:prstGeom prst="rect">
            <a:avLst/>
          </a:prstGeom>
          <a:noFill/>
          <a:ln>
            <a:noFill/>
          </a:ln>
        </p:spPr>
      </p:pic>
      <p:pic>
        <p:nvPicPr>
          <p:cNvPr id="400" name="Google Shape;92;p13" descr="image.png"/>
          <p:cNvPicPr/>
          <p:nvPr/>
        </p:nvPicPr>
        <p:blipFill rotWithShape="1">
          <a:blip r:embed="rId10">
            <a:alphaModFix/>
          </a:blip>
          <a:srcRect/>
          <a:stretch/>
        </p:blipFill>
        <p:spPr>
          <a:xfrm>
            <a:off x="762000" y="7471369"/>
            <a:ext cx="3873500" cy="762000"/>
          </a:xfrm>
          <a:prstGeom prst="rect">
            <a:avLst/>
          </a:prstGeom>
          <a:noFill/>
          <a:ln>
            <a:noFill/>
          </a:ln>
        </p:spPr>
      </p:pic>
      <p:sp>
        <p:nvSpPr>
          <p:cNvPr id="401" name="Google Shape;93;p13"/>
          <p:cNvSpPr txBox="1"/>
          <p:nvPr/>
        </p:nvSpPr>
        <p:spPr>
          <a:xfrm>
            <a:off x="762000" y="762000"/>
            <a:ext cx="14732000" cy="609600"/>
          </a:xfrm>
          <a:prstGeom prst="rect">
            <a:avLst/>
          </a:prstGeom>
          <a:noFill/>
          <a:ln>
            <a:noFill/>
          </a:ln>
        </p:spPr>
        <p:txBody>
          <a:bodyPr spcFirstLastPara="1" wrap="square" lIns="0" tIns="0" rIns="0" bIns="0" anchor="b" anchorCtr="0">
            <a:spAutoFit/>
          </a:bodyPr>
          <a:lstStyle/>
          <a:p>
            <a:pPr marL="0" marR="0" lvl="0" indent="0" algn="l" rtl="0">
              <a:spcBef>
                <a:spcPts val="0"/>
              </a:spcBef>
              <a:spcAft>
                <a:spcPts val="0"/>
              </a:spcAft>
              <a:buNone/>
            </a:pPr>
            <a:r>
              <a:rPr lang="en-US" sz="1600" b="0" i="0" u="none" strike="noStrike" cap="none">
                <a:solidFill>
                  <a:srgbClr val="64748B"/>
                </a:solidFill>
                <a:latin typeface="Inter"/>
                <a:ea typeface="Inter"/>
                <a:cs typeface="Inter"/>
                <a:sym typeface="Inter"/>
              </a:rPr>
              <a:t>Section 05 | Evaluation Framework</a:t>
            </a:r>
            <a:endParaRPr/>
          </a:p>
        </p:txBody>
      </p:sp>
      <p:sp>
        <p:nvSpPr>
          <p:cNvPr id="402" name="Google Shape;94;p13"/>
          <p:cNvSpPr/>
          <p:nvPr/>
        </p:nvSpPr>
        <p:spPr>
          <a:xfrm>
            <a:off x="762000" y="1536700"/>
            <a:ext cx="14732000" cy="25400"/>
          </a:xfrm>
          <a:prstGeom prst="rect">
            <a:avLst/>
          </a:prstGeom>
          <a:solidFill>
            <a:srgbClr val="002B4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403" name="Google Shape;95;p13"/>
          <p:cNvSpPr txBox="1"/>
          <p:nvPr/>
        </p:nvSpPr>
        <p:spPr>
          <a:xfrm>
            <a:off x="8445500" y="8572500"/>
            <a:ext cx="7048500"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1" u="none" strike="noStrike" cap="none">
                <a:solidFill>
                  <a:srgbClr val="64748B"/>
                </a:solidFill>
                <a:latin typeface="Inter"/>
                <a:ea typeface="Inter"/>
                <a:cs typeface="Inter"/>
                <a:sym typeface="Inter"/>
              </a:rPr>
              <a:t> * Local benchmark ensures the "Bridge" in multi-hop questions is traversable in the current graph. </a:t>
            </a:r>
            <a:endParaRPr/>
          </a:p>
        </p:txBody>
      </p:sp>
      <p:sp>
        <p:nvSpPr>
          <p:cNvPr id="404" name="Google Shape;96;p13"/>
          <p:cNvSpPr txBox="1"/>
          <p:nvPr/>
        </p:nvSpPr>
        <p:spPr>
          <a:xfrm>
            <a:off x="762000" y="520100"/>
            <a:ext cx="7387600" cy="5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800" b="1" i="0" u="none" strike="noStrike" cap="none">
                <a:solidFill>
                  <a:srgbClr val="002B49"/>
                </a:solidFill>
                <a:latin typeface="Inter"/>
                <a:ea typeface="Inter"/>
                <a:cs typeface="Inter"/>
                <a:sym typeface="Inter"/>
              </a:rPr>
              <a:t>Why Build a Local Benchmark?</a:t>
            </a:r>
            <a:endParaRPr/>
          </a:p>
        </p:txBody>
      </p:sp>
      <p:pic>
        <p:nvPicPr>
          <p:cNvPr id="405" name="Google Shape;97;p13" descr="image.png"/>
          <p:cNvPicPr/>
          <p:nvPr/>
        </p:nvPicPr>
        <p:blipFill rotWithShape="1">
          <a:blip r:embed="rId11">
            <a:alphaModFix/>
          </a:blip>
          <a:srcRect/>
          <a:stretch/>
        </p:blipFill>
        <p:spPr>
          <a:xfrm>
            <a:off x="1219200" y="2385020"/>
            <a:ext cx="406400" cy="406400"/>
          </a:xfrm>
          <a:prstGeom prst="rect">
            <a:avLst/>
          </a:prstGeom>
          <a:noFill/>
          <a:ln>
            <a:noFill/>
          </a:ln>
        </p:spPr>
      </p:pic>
      <p:sp>
        <p:nvSpPr>
          <p:cNvPr id="406" name="Google Shape;98;p13"/>
          <p:cNvSpPr txBox="1"/>
          <p:nvPr/>
        </p:nvSpPr>
        <p:spPr>
          <a:xfrm>
            <a:off x="1879600" y="2197100"/>
            <a:ext cx="13233400" cy="78224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2200" b="0" i="0" u="none" strike="noStrike" cap="none">
                <a:solidFill>
                  <a:srgbClr val="991B1B"/>
                </a:solidFill>
                <a:latin typeface="Inter SemiBold"/>
                <a:ea typeface="Inter SemiBold"/>
                <a:cs typeface="Inter SemiBold"/>
                <a:sym typeface="Inter SemiBold"/>
              </a:rPr>
              <a:t>Problem: Misattributing data scarcity as model weakness would lead to scientifically flawed conclusions.</a:t>
            </a:r>
            <a:endParaRPr/>
          </a:p>
        </p:txBody>
      </p:sp>
      <p:sp>
        <p:nvSpPr>
          <p:cNvPr id="407" name="Google Shape;99;p13"/>
          <p:cNvSpPr txBox="1"/>
          <p:nvPr/>
        </p:nvSpPr>
        <p:spPr>
          <a:xfrm>
            <a:off x="762000" y="7001469"/>
            <a:ext cx="14732000" cy="215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i="0" u="none" strike="noStrike" cap="none">
                <a:solidFill>
                  <a:srgbClr val="1E293B"/>
                </a:solidFill>
                <a:latin typeface="Inter"/>
                <a:ea typeface="Inter"/>
                <a:cs typeface="Inter"/>
                <a:sym typeface="Inter"/>
              </a:rPr>
              <a:t>FILTERING PROCESS FOR LOCAL EVALUATION</a:t>
            </a:r>
            <a:endParaRPr/>
          </a:p>
        </p:txBody>
      </p:sp>
      <p:pic>
        <p:nvPicPr>
          <p:cNvPr id="408" name="Google Shape;100;p13" descr="image.png"/>
          <p:cNvPicPr/>
          <p:nvPr/>
        </p:nvPicPr>
        <p:blipFill rotWithShape="1">
          <a:blip r:embed="rId12">
            <a:alphaModFix/>
          </a:blip>
          <a:srcRect/>
          <a:stretch/>
        </p:blipFill>
        <p:spPr>
          <a:xfrm>
            <a:off x="1092200" y="4071540"/>
            <a:ext cx="2784474" cy="304800"/>
          </a:xfrm>
          <a:prstGeom prst="rect">
            <a:avLst/>
          </a:prstGeom>
          <a:noFill/>
          <a:ln>
            <a:noFill/>
          </a:ln>
        </p:spPr>
      </p:pic>
      <p:sp>
        <p:nvSpPr>
          <p:cNvPr id="409" name="Google Shape;101;p13"/>
          <p:cNvSpPr txBox="1"/>
          <p:nvPr/>
        </p:nvSpPr>
        <p:spPr>
          <a:xfrm>
            <a:off x="1092200" y="4566840"/>
            <a:ext cx="2923698"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B49"/>
                </a:solidFill>
                <a:latin typeface="Inter"/>
                <a:ea typeface="Inter"/>
                <a:cs typeface="Inter"/>
                <a:sym typeface="Inter"/>
              </a:rPr>
              <a:t>Relevance</a:t>
            </a:r>
            <a:endParaRPr/>
          </a:p>
        </p:txBody>
      </p:sp>
      <p:sp>
        <p:nvSpPr>
          <p:cNvPr id="410" name="Google Shape;102;p13"/>
          <p:cNvSpPr txBox="1"/>
          <p:nvPr/>
        </p:nvSpPr>
        <p:spPr>
          <a:xfrm>
            <a:off x="1092200" y="4960540"/>
            <a:ext cx="2784474" cy="800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00" b="0" i="0" u="none" strike="noStrike" cap="none">
                <a:solidFill>
                  <a:srgbClr val="64748B"/>
                </a:solidFill>
                <a:latin typeface="Inter"/>
                <a:ea typeface="Inter"/>
                <a:cs typeface="Inter"/>
                <a:sym typeface="Inter"/>
              </a:rPr>
              <a:t>Ensures questions are strictly derived from the 50k Wikipedia corpus.</a:t>
            </a:r>
            <a:endParaRPr/>
          </a:p>
        </p:txBody>
      </p:sp>
      <p:pic>
        <p:nvPicPr>
          <p:cNvPr id="411" name="Google Shape;103;p13" descr="image.png"/>
          <p:cNvPicPr/>
          <p:nvPr/>
        </p:nvPicPr>
        <p:blipFill rotWithShape="1">
          <a:blip r:embed="rId13">
            <a:alphaModFix/>
          </a:blip>
          <a:srcRect/>
          <a:stretch/>
        </p:blipFill>
        <p:spPr>
          <a:xfrm>
            <a:off x="4854574" y="4071540"/>
            <a:ext cx="2784474" cy="304800"/>
          </a:xfrm>
          <a:prstGeom prst="rect">
            <a:avLst/>
          </a:prstGeom>
          <a:noFill/>
          <a:ln>
            <a:noFill/>
          </a:ln>
        </p:spPr>
      </p:pic>
      <p:sp>
        <p:nvSpPr>
          <p:cNvPr id="412" name="Google Shape;104;p13"/>
          <p:cNvSpPr txBox="1"/>
          <p:nvPr/>
        </p:nvSpPr>
        <p:spPr>
          <a:xfrm>
            <a:off x="4854574" y="4566840"/>
            <a:ext cx="2923698"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B49"/>
                </a:solidFill>
                <a:latin typeface="Inter"/>
                <a:ea typeface="Inter"/>
                <a:cs typeface="Inter"/>
                <a:sym typeface="Inter"/>
              </a:rPr>
              <a:t>Graph Usability</a:t>
            </a:r>
            <a:endParaRPr/>
          </a:p>
        </p:txBody>
      </p:sp>
      <p:sp>
        <p:nvSpPr>
          <p:cNvPr id="413" name="Google Shape;105;p13"/>
          <p:cNvSpPr txBox="1"/>
          <p:nvPr/>
        </p:nvSpPr>
        <p:spPr>
          <a:xfrm>
            <a:off x="4854574" y="4960540"/>
            <a:ext cx="2784474" cy="800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00" b="0" i="0" u="none" strike="noStrike" cap="none">
                <a:solidFill>
                  <a:srgbClr val="64748B"/>
                </a:solidFill>
                <a:latin typeface="Inter"/>
                <a:ea typeface="Inter"/>
                <a:cs typeface="Inter"/>
                <a:sym typeface="Inter"/>
              </a:rPr>
              <a:t>Validates if GraphRAG can physically navigate the extracted knowledge.</a:t>
            </a:r>
            <a:endParaRPr/>
          </a:p>
        </p:txBody>
      </p:sp>
      <p:pic>
        <p:nvPicPr>
          <p:cNvPr id="414" name="Google Shape;106;p13" descr="image.png"/>
          <p:cNvPicPr/>
          <p:nvPr/>
        </p:nvPicPr>
        <p:blipFill rotWithShape="1">
          <a:blip r:embed="rId14">
            <a:alphaModFix/>
          </a:blip>
          <a:srcRect/>
          <a:stretch/>
        </p:blipFill>
        <p:spPr>
          <a:xfrm>
            <a:off x="8616949" y="4071540"/>
            <a:ext cx="2784474" cy="304800"/>
          </a:xfrm>
          <a:prstGeom prst="rect">
            <a:avLst/>
          </a:prstGeom>
          <a:noFill/>
          <a:ln>
            <a:noFill/>
          </a:ln>
        </p:spPr>
      </p:pic>
      <p:sp>
        <p:nvSpPr>
          <p:cNvPr id="415" name="Google Shape;107;p13"/>
          <p:cNvSpPr txBox="1"/>
          <p:nvPr/>
        </p:nvSpPr>
        <p:spPr>
          <a:xfrm>
            <a:off x="8616949" y="4566840"/>
            <a:ext cx="2923698"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B49"/>
                </a:solidFill>
                <a:latin typeface="Inter"/>
                <a:ea typeface="Inter"/>
                <a:cs typeface="Inter"/>
                <a:sym typeface="Inter"/>
              </a:rPr>
              <a:t>Fairness</a:t>
            </a:r>
            <a:endParaRPr/>
          </a:p>
        </p:txBody>
      </p:sp>
      <p:sp>
        <p:nvSpPr>
          <p:cNvPr id="416" name="Google Shape;108;p13"/>
          <p:cNvSpPr txBox="1"/>
          <p:nvPr/>
        </p:nvSpPr>
        <p:spPr>
          <a:xfrm>
            <a:off x="8616949" y="4960540"/>
            <a:ext cx="2784474" cy="5334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00" b="0" i="0" u="none" strike="noStrike" cap="none">
                <a:solidFill>
                  <a:srgbClr val="64748B"/>
                </a:solidFill>
                <a:latin typeface="Inter"/>
                <a:ea typeface="Inter"/>
                <a:cs typeface="Inter"/>
                <a:sym typeface="Inter"/>
              </a:rPr>
              <a:t>Eliminates external "knowledge gaps" between models and data.</a:t>
            </a:r>
            <a:endParaRPr/>
          </a:p>
        </p:txBody>
      </p:sp>
      <p:pic>
        <p:nvPicPr>
          <p:cNvPr id="417" name="Google Shape;109;p13" descr="image.png"/>
          <p:cNvPicPr/>
          <p:nvPr/>
        </p:nvPicPr>
        <p:blipFill rotWithShape="1">
          <a:blip r:embed="rId15">
            <a:alphaModFix/>
          </a:blip>
          <a:srcRect/>
          <a:stretch/>
        </p:blipFill>
        <p:spPr>
          <a:xfrm>
            <a:off x="12379324" y="4071540"/>
            <a:ext cx="2784474" cy="304800"/>
          </a:xfrm>
          <a:prstGeom prst="rect">
            <a:avLst/>
          </a:prstGeom>
          <a:noFill/>
          <a:ln>
            <a:noFill/>
          </a:ln>
        </p:spPr>
      </p:pic>
      <p:sp>
        <p:nvSpPr>
          <p:cNvPr id="418" name="Google Shape;110;p13"/>
          <p:cNvSpPr txBox="1"/>
          <p:nvPr/>
        </p:nvSpPr>
        <p:spPr>
          <a:xfrm>
            <a:off x="12379324" y="4566840"/>
            <a:ext cx="2923698"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B49"/>
                </a:solidFill>
                <a:latin typeface="Inter"/>
                <a:ea typeface="Inter"/>
                <a:cs typeface="Inter"/>
                <a:sym typeface="Inter"/>
              </a:rPr>
              <a:t>Deep Analysis</a:t>
            </a:r>
            <a:endParaRPr/>
          </a:p>
        </p:txBody>
      </p:sp>
      <p:sp>
        <p:nvSpPr>
          <p:cNvPr id="419" name="Google Shape;111;p13"/>
          <p:cNvSpPr txBox="1"/>
          <p:nvPr/>
        </p:nvSpPr>
        <p:spPr>
          <a:xfrm>
            <a:off x="12379324" y="4960540"/>
            <a:ext cx="2784474" cy="800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00" b="0" i="0" u="none" strike="noStrike" cap="none">
                <a:solidFill>
                  <a:srgbClr val="64748B"/>
                </a:solidFill>
                <a:latin typeface="Inter"/>
                <a:ea typeface="Inter"/>
                <a:cs typeface="Inter"/>
                <a:sym typeface="Inter"/>
              </a:rPr>
              <a:t>Enables per-coverage-level failure analysis (Chunk vs. Graph vs. Path).</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21" name="Google Shape;116;p14" descr="image.png"/>
          <p:cNvPicPr/>
          <p:nvPr/>
        </p:nvPicPr>
        <p:blipFill rotWithShape="1">
          <a:blip r:embed="rId3">
            <a:alphaModFix/>
          </a:blip>
          <a:srcRect/>
          <a:stretch/>
        </p:blipFill>
        <p:spPr>
          <a:xfrm>
            <a:off x="431733" y="1790700"/>
            <a:ext cx="5249266" cy="3322438"/>
          </a:xfrm>
          <a:prstGeom prst="rect">
            <a:avLst/>
          </a:prstGeom>
          <a:noFill/>
          <a:ln>
            <a:noFill/>
          </a:ln>
        </p:spPr>
      </p:pic>
      <p:pic>
        <p:nvPicPr>
          <p:cNvPr id="422" name="Google Shape;117;p14" descr="image.png"/>
          <p:cNvPicPr/>
          <p:nvPr/>
        </p:nvPicPr>
        <p:blipFill rotWithShape="1">
          <a:blip r:embed="rId4">
            <a:alphaModFix/>
          </a:blip>
          <a:srcRect/>
          <a:stretch/>
        </p:blipFill>
        <p:spPr>
          <a:xfrm>
            <a:off x="5719133" y="1790700"/>
            <a:ext cx="5249266" cy="3322438"/>
          </a:xfrm>
          <a:prstGeom prst="rect">
            <a:avLst/>
          </a:prstGeom>
          <a:noFill/>
          <a:ln>
            <a:noFill/>
          </a:ln>
        </p:spPr>
      </p:pic>
      <p:pic>
        <p:nvPicPr>
          <p:cNvPr id="423" name="Google Shape;118;p14" descr="image.png"/>
          <p:cNvPicPr/>
          <p:nvPr/>
        </p:nvPicPr>
        <p:blipFill rotWithShape="1">
          <a:blip r:embed="rId5">
            <a:alphaModFix/>
          </a:blip>
          <a:srcRect/>
          <a:stretch/>
        </p:blipFill>
        <p:spPr>
          <a:xfrm>
            <a:off x="11006533" y="1790700"/>
            <a:ext cx="5249465" cy="3322438"/>
          </a:xfrm>
          <a:prstGeom prst="rect">
            <a:avLst/>
          </a:prstGeom>
          <a:noFill/>
          <a:ln>
            <a:noFill/>
          </a:ln>
        </p:spPr>
      </p:pic>
      <p:pic>
        <p:nvPicPr>
          <p:cNvPr id="424" name="Google Shape;119;p14" descr="image.png"/>
          <p:cNvPicPr/>
          <p:nvPr/>
        </p:nvPicPr>
        <p:blipFill rotWithShape="1">
          <a:blip r:embed="rId6">
            <a:alphaModFix/>
          </a:blip>
          <a:srcRect/>
          <a:stretch/>
        </p:blipFill>
        <p:spPr>
          <a:xfrm>
            <a:off x="761933" y="2641600"/>
            <a:ext cx="4588866" cy="508000"/>
          </a:xfrm>
          <a:prstGeom prst="rect">
            <a:avLst/>
          </a:prstGeom>
          <a:noFill/>
          <a:ln>
            <a:noFill/>
          </a:ln>
        </p:spPr>
      </p:pic>
      <p:pic>
        <p:nvPicPr>
          <p:cNvPr id="425" name="Google Shape;120;p14" descr="image.png"/>
          <p:cNvPicPr/>
          <p:nvPr/>
        </p:nvPicPr>
        <p:blipFill rotWithShape="1">
          <a:blip r:embed="rId7">
            <a:alphaModFix/>
          </a:blip>
          <a:srcRect/>
          <a:stretch/>
        </p:blipFill>
        <p:spPr>
          <a:xfrm>
            <a:off x="6049333" y="2641600"/>
            <a:ext cx="4588866" cy="508000"/>
          </a:xfrm>
          <a:prstGeom prst="rect">
            <a:avLst/>
          </a:prstGeom>
          <a:noFill/>
          <a:ln>
            <a:noFill/>
          </a:ln>
        </p:spPr>
      </p:pic>
      <p:pic>
        <p:nvPicPr>
          <p:cNvPr id="426" name="Google Shape;121;p14" descr="image.png"/>
          <p:cNvPicPr/>
          <p:nvPr/>
        </p:nvPicPr>
        <p:blipFill rotWithShape="1">
          <a:blip r:embed="rId8">
            <a:alphaModFix/>
          </a:blip>
          <a:srcRect/>
          <a:stretch/>
        </p:blipFill>
        <p:spPr>
          <a:xfrm>
            <a:off x="11336733" y="2641600"/>
            <a:ext cx="4589065" cy="508000"/>
          </a:xfrm>
          <a:prstGeom prst="rect">
            <a:avLst/>
          </a:prstGeom>
          <a:noFill/>
          <a:ln>
            <a:noFill/>
          </a:ln>
        </p:spPr>
      </p:pic>
      <p:sp>
        <p:nvSpPr>
          <p:cNvPr id="427" name="Google Shape;122;p14"/>
          <p:cNvSpPr txBox="1"/>
          <p:nvPr/>
        </p:nvSpPr>
        <p:spPr>
          <a:xfrm>
            <a:off x="762000" y="762000"/>
            <a:ext cx="15494000" cy="520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a:solidFill>
                  <a:srgbClr val="64748B"/>
                </a:solidFill>
                <a:latin typeface="Inter SemiBold"/>
                <a:ea typeface="Inter SemiBold"/>
                <a:cs typeface="Inter SemiBold"/>
                <a:sym typeface="Inter SemiBold"/>
              </a:rPr>
              <a:t>05 Evaluation Framework | Methodology</a:t>
            </a:r>
            <a:endParaRPr/>
          </a:p>
        </p:txBody>
      </p:sp>
      <p:sp>
        <p:nvSpPr>
          <p:cNvPr id="428" name="Google Shape;123;p14"/>
          <p:cNvSpPr/>
          <p:nvPr/>
        </p:nvSpPr>
        <p:spPr>
          <a:xfrm>
            <a:off x="762000" y="1384300"/>
            <a:ext cx="16256000" cy="25400"/>
          </a:xfrm>
          <a:prstGeom prst="rect">
            <a:avLst/>
          </a:prstGeom>
          <a:solidFill>
            <a:srgbClr val="002B4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429" name="Google Shape;124;p14"/>
          <p:cNvSpPr txBox="1"/>
          <p:nvPr/>
        </p:nvSpPr>
        <p:spPr>
          <a:xfrm>
            <a:off x="641133" y="5938233"/>
            <a:ext cx="7400800" cy="4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a:solidFill>
                  <a:srgbClr val="002B49"/>
                </a:solidFill>
                <a:latin typeface="Inter"/>
                <a:ea typeface="Inter"/>
                <a:cs typeface="Inter"/>
                <a:sym typeface="Inter"/>
              </a:rPr>
              <a:t>Three-Stage Ablation Study Design</a:t>
            </a:r>
            <a:endParaRPr/>
          </a:p>
        </p:txBody>
      </p:sp>
      <p:sp>
        <p:nvSpPr>
          <p:cNvPr id="430" name="Google Shape;125;p14"/>
          <p:cNvSpPr txBox="1"/>
          <p:nvPr/>
        </p:nvSpPr>
        <p:spPr>
          <a:xfrm>
            <a:off x="761933" y="2184400"/>
            <a:ext cx="45888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B49"/>
                </a:solidFill>
                <a:latin typeface="Inter"/>
                <a:ea typeface="Inter"/>
                <a:cs typeface="Inter"/>
                <a:sym typeface="Inter"/>
              </a:rPr>
              <a:t>EXP 1: Baseline RAG</a:t>
            </a:r>
            <a:endParaRPr/>
          </a:p>
        </p:txBody>
      </p:sp>
      <p:sp>
        <p:nvSpPr>
          <p:cNvPr id="431" name="Google Shape;126;p14"/>
          <p:cNvSpPr txBox="1"/>
          <p:nvPr/>
        </p:nvSpPr>
        <p:spPr>
          <a:xfrm>
            <a:off x="6049333" y="2184400"/>
            <a:ext cx="45888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B49"/>
                </a:solidFill>
                <a:latin typeface="Inter"/>
                <a:ea typeface="Inter"/>
                <a:cs typeface="Inter"/>
                <a:sym typeface="Inter"/>
              </a:rPr>
              <a:t>EXP 2: GraphRAG (Standard)</a:t>
            </a:r>
            <a:endParaRPr/>
          </a:p>
        </p:txBody>
      </p:sp>
      <p:sp>
        <p:nvSpPr>
          <p:cNvPr id="432" name="Google Shape;127;p14"/>
          <p:cNvSpPr txBox="1"/>
          <p:nvPr/>
        </p:nvSpPr>
        <p:spPr>
          <a:xfrm>
            <a:off x="11336733" y="2184400"/>
            <a:ext cx="41572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002B49"/>
                </a:solidFill>
                <a:latin typeface="Inter"/>
                <a:ea typeface="Inter"/>
                <a:cs typeface="Inter"/>
                <a:sym typeface="Inter"/>
              </a:rPr>
              <a:t>EXP 3: GraphRAG + Toposort</a:t>
            </a:r>
            <a:endParaRPr/>
          </a:p>
        </p:txBody>
      </p:sp>
      <p:sp>
        <p:nvSpPr>
          <p:cNvPr id="433" name="Google Shape;128;p14"/>
          <p:cNvSpPr txBox="1"/>
          <p:nvPr/>
        </p:nvSpPr>
        <p:spPr>
          <a:xfrm>
            <a:off x="9982200" y="9042400"/>
            <a:ext cx="203200" cy="28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a:p>
        </p:txBody>
      </p:sp>
      <p:sp>
        <p:nvSpPr>
          <p:cNvPr id="434" name="Google Shape;129;p14"/>
          <p:cNvSpPr txBox="1"/>
          <p:nvPr/>
        </p:nvSpPr>
        <p:spPr>
          <a:xfrm>
            <a:off x="13157200" y="9042400"/>
            <a:ext cx="203200" cy="28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a:p>
        </p:txBody>
      </p:sp>
      <p:sp>
        <p:nvSpPr>
          <p:cNvPr id="435" name="Google Shape;130;p14"/>
          <p:cNvSpPr txBox="1"/>
          <p:nvPr/>
        </p:nvSpPr>
        <p:spPr>
          <a:xfrm>
            <a:off x="761933" y="3703438"/>
            <a:ext cx="4818400" cy="215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i="0" u="none" strike="noStrike" cap="none">
                <a:solidFill>
                  <a:srgbClr val="002B49"/>
                </a:solidFill>
                <a:latin typeface="Inter"/>
                <a:ea typeface="Inter"/>
                <a:cs typeface="Inter"/>
                <a:sym typeface="Inter"/>
              </a:rPr>
              <a:t>CORE RESEARCH GOAL</a:t>
            </a:r>
            <a:endParaRPr/>
          </a:p>
        </p:txBody>
      </p:sp>
      <p:sp>
        <p:nvSpPr>
          <p:cNvPr id="436" name="Google Shape;131;p14"/>
          <p:cNvSpPr txBox="1"/>
          <p:nvPr/>
        </p:nvSpPr>
        <p:spPr>
          <a:xfrm>
            <a:off x="761933" y="3982838"/>
            <a:ext cx="4588800" cy="877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334155"/>
                </a:solidFill>
                <a:latin typeface="Inter"/>
                <a:ea typeface="Inter"/>
                <a:cs typeface="Inter"/>
                <a:sym typeface="Inter"/>
              </a:rPr>
              <a:t>Establish a performance floor. Evaluate if pure semantic similarity can resolve multi-hop dependencies without structural context.</a:t>
            </a:r>
            <a:endParaRPr/>
          </a:p>
        </p:txBody>
      </p:sp>
      <p:sp>
        <p:nvSpPr>
          <p:cNvPr id="437" name="Google Shape;132;p14"/>
          <p:cNvSpPr txBox="1"/>
          <p:nvPr/>
        </p:nvSpPr>
        <p:spPr>
          <a:xfrm>
            <a:off x="6049333" y="3703438"/>
            <a:ext cx="4818400" cy="215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i="0" u="none" strike="noStrike" cap="none">
                <a:solidFill>
                  <a:srgbClr val="002B49"/>
                </a:solidFill>
                <a:latin typeface="Inter"/>
                <a:ea typeface="Inter"/>
                <a:cs typeface="Inter"/>
                <a:sym typeface="Inter"/>
              </a:rPr>
              <a:t>CORE RESEARCH GOAL</a:t>
            </a:r>
            <a:endParaRPr/>
          </a:p>
        </p:txBody>
      </p:sp>
      <p:sp>
        <p:nvSpPr>
          <p:cNvPr id="438" name="Google Shape;133;p14"/>
          <p:cNvSpPr txBox="1"/>
          <p:nvPr/>
        </p:nvSpPr>
        <p:spPr>
          <a:xfrm>
            <a:off x="6049333" y="3982838"/>
            <a:ext cx="4588800" cy="8772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334155"/>
                </a:solidFill>
                <a:latin typeface="Inter"/>
                <a:ea typeface="Inter"/>
                <a:cs typeface="Inter"/>
                <a:sym typeface="Inter"/>
              </a:rPr>
              <a:t>Measure the value of "Structural Knowledge Injection". Can explicit triples fill reasoning gaps missed by vector retrieval?</a:t>
            </a:r>
            <a:endParaRPr/>
          </a:p>
        </p:txBody>
      </p:sp>
      <p:sp>
        <p:nvSpPr>
          <p:cNvPr id="439" name="Google Shape;134;p14"/>
          <p:cNvSpPr txBox="1"/>
          <p:nvPr/>
        </p:nvSpPr>
        <p:spPr>
          <a:xfrm>
            <a:off x="11336733" y="3703438"/>
            <a:ext cx="4157200" cy="215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i="0" u="none" strike="noStrike" cap="none">
                <a:solidFill>
                  <a:srgbClr val="002B49"/>
                </a:solidFill>
                <a:latin typeface="Inter"/>
                <a:ea typeface="Inter"/>
                <a:cs typeface="Inter"/>
                <a:sym typeface="Inter"/>
              </a:rPr>
              <a:t>CORE RESEARCH GOAL</a:t>
            </a:r>
            <a:endParaRPr/>
          </a:p>
        </p:txBody>
      </p:sp>
      <p:sp>
        <p:nvSpPr>
          <p:cNvPr id="440" name="Google Shape;135;p14"/>
          <p:cNvSpPr txBox="1"/>
          <p:nvPr/>
        </p:nvSpPr>
        <p:spPr>
          <a:xfrm>
            <a:off x="11336733" y="3982838"/>
            <a:ext cx="4157200" cy="12008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334155"/>
                </a:solidFill>
                <a:latin typeface="Inter"/>
                <a:ea typeface="Inter"/>
                <a:cs typeface="Inter"/>
                <a:sym typeface="Inter"/>
              </a:rPr>
              <a:t>Verify if the </a:t>
            </a:r>
            <a:r>
              <a:rPr lang="en-US" sz="1500" b="1" i="0" u="none" strike="noStrike" cap="none">
                <a:solidFill>
                  <a:srgbClr val="334155"/>
                </a:solidFill>
                <a:latin typeface="Inter"/>
                <a:ea typeface="Inter"/>
                <a:cs typeface="Inter"/>
                <a:sym typeface="Inter"/>
              </a:rPr>
              <a:t>ordering</a:t>
            </a:r>
            <a:r>
              <a:rPr lang="en-US" sz="1500" b="0" i="0" u="none" strike="noStrike" cap="none">
                <a:solidFill>
                  <a:srgbClr val="334155"/>
                </a:solidFill>
                <a:latin typeface="Inter"/>
                <a:ea typeface="Inter"/>
                <a:cs typeface="Inter"/>
                <a:sym typeface="Inter"/>
              </a:rPr>
              <a:t> of multi-hop evidence matters. Does a topology-aware sequence reduce LLM cognitive load and hallucinations?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68" name="Google Shape;140;p15" descr="image.png"/>
          <p:cNvPicPr/>
          <p:nvPr/>
        </p:nvPicPr>
        <p:blipFill rotWithShape="1">
          <a:blip r:embed="rId3">
            <a:alphaModFix/>
          </a:blip>
          <a:srcRect/>
          <a:stretch/>
        </p:blipFill>
        <p:spPr>
          <a:xfrm>
            <a:off x="762000" y="9640093"/>
            <a:ext cx="14732000" cy="330200"/>
          </a:xfrm>
          <a:prstGeom prst="rect">
            <a:avLst/>
          </a:prstGeom>
          <a:noFill/>
          <a:ln>
            <a:noFill/>
          </a:ln>
        </p:spPr>
      </p:pic>
      <p:pic>
        <p:nvPicPr>
          <p:cNvPr id="469" name="Google Shape;141;p15" descr="image.png"/>
          <p:cNvPicPr/>
          <p:nvPr/>
        </p:nvPicPr>
        <p:blipFill rotWithShape="1">
          <a:blip r:embed="rId4">
            <a:alphaModFix/>
          </a:blip>
          <a:srcRect/>
          <a:stretch/>
        </p:blipFill>
        <p:spPr>
          <a:xfrm>
            <a:off x="762000" y="1854200"/>
            <a:ext cx="7207249" cy="3575446"/>
          </a:xfrm>
          <a:prstGeom prst="rect">
            <a:avLst/>
          </a:prstGeom>
          <a:noFill/>
          <a:ln>
            <a:noFill/>
          </a:ln>
        </p:spPr>
      </p:pic>
      <p:pic>
        <p:nvPicPr>
          <p:cNvPr id="470" name="Google Shape;142;p15" descr="image.png"/>
          <p:cNvPicPr/>
          <p:nvPr/>
        </p:nvPicPr>
        <p:blipFill rotWithShape="1">
          <a:blip r:embed="rId5">
            <a:alphaModFix/>
          </a:blip>
          <a:srcRect/>
          <a:stretch/>
        </p:blipFill>
        <p:spPr>
          <a:xfrm>
            <a:off x="8286749" y="1854200"/>
            <a:ext cx="7207249" cy="3575446"/>
          </a:xfrm>
          <a:prstGeom prst="rect">
            <a:avLst/>
          </a:prstGeom>
          <a:noFill/>
          <a:ln>
            <a:noFill/>
          </a:ln>
        </p:spPr>
      </p:pic>
      <p:pic>
        <p:nvPicPr>
          <p:cNvPr id="471" name="Google Shape;143;p15" descr="image.png"/>
          <p:cNvPicPr/>
          <p:nvPr/>
        </p:nvPicPr>
        <p:blipFill rotWithShape="1">
          <a:blip r:embed="rId6">
            <a:alphaModFix/>
          </a:blip>
          <a:srcRect/>
          <a:stretch/>
        </p:blipFill>
        <p:spPr>
          <a:xfrm>
            <a:off x="762000" y="5747146"/>
            <a:ext cx="7207249" cy="3575446"/>
          </a:xfrm>
          <a:prstGeom prst="rect">
            <a:avLst/>
          </a:prstGeom>
          <a:noFill/>
          <a:ln>
            <a:noFill/>
          </a:ln>
        </p:spPr>
      </p:pic>
      <p:pic>
        <p:nvPicPr>
          <p:cNvPr id="472" name="Google Shape;144;p15" descr="image.png"/>
          <p:cNvPicPr/>
          <p:nvPr/>
        </p:nvPicPr>
        <p:blipFill rotWithShape="1">
          <a:blip r:embed="rId7">
            <a:alphaModFix/>
          </a:blip>
          <a:srcRect/>
          <a:stretch/>
        </p:blipFill>
        <p:spPr>
          <a:xfrm>
            <a:off x="8286749" y="5747146"/>
            <a:ext cx="7207249" cy="3575446"/>
          </a:xfrm>
          <a:prstGeom prst="rect">
            <a:avLst/>
          </a:prstGeom>
          <a:noFill/>
          <a:ln>
            <a:noFill/>
          </a:ln>
        </p:spPr>
      </p:pic>
      <p:sp>
        <p:nvSpPr>
          <p:cNvPr id="473" name="Google Shape;145;p15"/>
          <p:cNvSpPr txBox="1"/>
          <p:nvPr/>
        </p:nvSpPr>
        <p:spPr>
          <a:xfrm>
            <a:off x="762000" y="635000"/>
            <a:ext cx="14732000" cy="584200"/>
          </a:xfrm>
          <a:prstGeom prst="rect">
            <a:avLst/>
          </a:prstGeom>
          <a:noFill/>
          <a:ln>
            <a:noFill/>
          </a:ln>
        </p:spPr>
        <p:txBody>
          <a:bodyPr spcFirstLastPara="1" wrap="square" lIns="0" tIns="0" rIns="0" bIns="0" anchor="b" anchorCtr="0">
            <a:spAutoFit/>
          </a:bodyPr>
          <a:lstStyle/>
          <a:p>
            <a:pPr marL="0" marR="0" lvl="0" indent="0" algn="l" rtl="0">
              <a:spcBef>
                <a:spcPts val="0"/>
              </a:spcBef>
              <a:spcAft>
                <a:spcPts val="0"/>
              </a:spcAft>
              <a:buNone/>
            </a:pPr>
            <a:r>
              <a:rPr lang="en-US" sz="1600" b="0" i="0" u="none" strike="noStrike" cap="none">
                <a:solidFill>
                  <a:srgbClr val="64748B"/>
                </a:solidFill>
                <a:latin typeface="Inter SemiBold"/>
                <a:ea typeface="Inter SemiBold"/>
                <a:cs typeface="Inter SemiBold"/>
                <a:sym typeface="Inter SemiBold"/>
              </a:rPr>
              <a:t>05 Evaluation Framework | Metrics System</a:t>
            </a:r>
            <a:endParaRPr/>
          </a:p>
        </p:txBody>
      </p:sp>
      <p:sp>
        <p:nvSpPr>
          <p:cNvPr id="474" name="Google Shape;146;p15"/>
          <p:cNvSpPr/>
          <p:nvPr/>
        </p:nvSpPr>
        <p:spPr>
          <a:xfrm>
            <a:off x="762000" y="1384300"/>
            <a:ext cx="14732000" cy="25400"/>
          </a:xfrm>
          <a:prstGeom prst="rect">
            <a:avLst/>
          </a:prstGeom>
          <a:solidFill>
            <a:srgbClr val="002B4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475" name="Google Shape;147;p15"/>
          <p:cNvSpPr txBox="1"/>
          <p:nvPr/>
        </p:nvSpPr>
        <p:spPr>
          <a:xfrm>
            <a:off x="681433" y="381000"/>
            <a:ext cx="5954000" cy="554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a:solidFill>
                  <a:srgbClr val="002B49"/>
                </a:solidFill>
                <a:latin typeface="Inter"/>
                <a:ea typeface="Inter"/>
                <a:cs typeface="Inter"/>
                <a:sym typeface="Inter"/>
              </a:rPr>
              <a:t>Evaluation Metrics Design</a:t>
            </a:r>
            <a:endParaRPr/>
          </a:p>
        </p:txBody>
      </p:sp>
      <p:sp>
        <p:nvSpPr>
          <p:cNvPr id="476" name="Google Shape;148;p15"/>
          <p:cNvSpPr/>
          <p:nvPr/>
        </p:nvSpPr>
        <p:spPr>
          <a:xfrm>
            <a:off x="774700" y="5347373"/>
            <a:ext cx="7182000" cy="50800"/>
          </a:xfrm>
          <a:prstGeom prst="roundRect">
            <a:avLst>
              <a:gd name="adj" fmla="val 50000"/>
            </a:avLst>
          </a:prstGeom>
          <a:solidFill>
            <a:srgbClr val="64748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477" name="Google Shape;149;p15"/>
          <p:cNvSpPr txBox="1"/>
          <p:nvPr/>
        </p:nvSpPr>
        <p:spPr>
          <a:xfrm>
            <a:off x="1092200" y="2692400"/>
            <a:ext cx="6546849" cy="368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2B49"/>
                </a:solidFill>
                <a:latin typeface="Inter"/>
                <a:ea typeface="Inter"/>
                <a:cs typeface="Inter"/>
                <a:sym typeface="Inter"/>
              </a:rPr>
              <a:t>Answer Quality</a:t>
            </a:r>
            <a:endParaRPr/>
          </a:p>
        </p:txBody>
      </p:sp>
      <p:sp>
        <p:nvSpPr>
          <p:cNvPr id="478" name="Google Shape;150;p15"/>
          <p:cNvSpPr/>
          <p:nvPr/>
        </p:nvSpPr>
        <p:spPr>
          <a:xfrm>
            <a:off x="8299449" y="5347373"/>
            <a:ext cx="7182000" cy="50800"/>
          </a:xfrm>
          <a:prstGeom prst="roundRect">
            <a:avLst>
              <a:gd name="adj" fmla="val 50000"/>
            </a:avLst>
          </a:prstGeom>
          <a:solidFill>
            <a:srgbClr val="64748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479" name="Google Shape;151;p15"/>
          <p:cNvSpPr txBox="1"/>
          <p:nvPr/>
        </p:nvSpPr>
        <p:spPr>
          <a:xfrm>
            <a:off x="8616949" y="2692400"/>
            <a:ext cx="6546849" cy="368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2B49"/>
                </a:solidFill>
                <a:latin typeface="Inter"/>
                <a:ea typeface="Inter"/>
                <a:cs typeface="Inter"/>
                <a:sym typeface="Inter"/>
              </a:rPr>
              <a:t>Retrieval Quality</a:t>
            </a:r>
            <a:endParaRPr/>
          </a:p>
        </p:txBody>
      </p:sp>
      <p:sp>
        <p:nvSpPr>
          <p:cNvPr id="480" name="Google Shape;152;p15"/>
          <p:cNvSpPr/>
          <p:nvPr/>
        </p:nvSpPr>
        <p:spPr>
          <a:xfrm>
            <a:off x="774700" y="8936720"/>
            <a:ext cx="7182000" cy="50800"/>
          </a:xfrm>
          <a:prstGeom prst="roundRect">
            <a:avLst>
              <a:gd name="adj" fmla="val 50000"/>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481" name="Google Shape;153;p15"/>
          <p:cNvSpPr txBox="1"/>
          <p:nvPr/>
        </p:nvSpPr>
        <p:spPr>
          <a:xfrm>
            <a:off x="1092200" y="6585346"/>
            <a:ext cx="6546849" cy="368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2B49"/>
                </a:solidFill>
                <a:latin typeface="Inter"/>
                <a:ea typeface="Inter"/>
                <a:cs typeface="Inter"/>
                <a:sym typeface="Inter"/>
              </a:rPr>
              <a:t>Evidence Coverage</a:t>
            </a:r>
            <a:endParaRPr/>
          </a:p>
        </p:txBody>
      </p:sp>
      <p:sp>
        <p:nvSpPr>
          <p:cNvPr id="482" name="Google Shape;154;p15"/>
          <p:cNvSpPr/>
          <p:nvPr/>
        </p:nvSpPr>
        <p:spPr>
          <a:xfrm>
            <a:off x="8299449" y="8983669"/>
            <a:ext cx="7182000" cy="50800"/>
          </a:xfrm>
          <a:prstGeom prst="roundRect">
            <a:avLst>
              <a:gd name="adj" fmla="val 50000"/>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483" name="Google Shape;155;p15"/>
          <p:cNvSpPr txBox="1"/>
          <p:nvPr/>
        </p:nvSpPr>
        <p:spPr>
          <a:xfrm>
            <a:off x="8616949" y="6585346"/>
            <a:ext cx="6546849" cy="368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02B49"/>
                </a:solidFill>
                <a:latin typeface="Inter"/>
                <a:ea typeface="Inter"/>
                <a:cs typeface="Inter"/>
                <a:sym typeface="Inter"/>
              </a:rPr>
              <a:t>Graph Utilization</a:t>
            </a:r>
            <a:endParaRPr/>
          </a:p>
        </p:txBody>
      </p:sp>
      <p:pic>
        <p:nvPicPr>
          <p:cNvPr id="484" name="Google Shape;156;p15" descr="image.png"/>
          <p:cNvPicPr/>
          <p:nvPr/>
        </p:nvPicPr>
        <p:blipFill rotWithShape="1">
          <a:blip r:embed="rId8">
            <a:alphaModFix/>
          </a:blip>
          <a:srcRect/>
          <a:stretch/>
        </p:blipFill>
        <p:spPr>
          <a:xfrm>
            <a:off x="1092200" y="2184400"/>
            <a:ext cx="228600" cy="254000"/>
          </a:xfrm>
          <a:prstGeom prst="rect">
            <a:avLst/>
          </a:prstGeom>
          <a:noFill/>
          <a:ln>
            <a:noFill/>
          </a:ln>
        </p:spPr>
      </p:pic>
      <p:sp>
        <p:nvSpPr>
          <p:cNvPr id="485" name="Google Shape;157;p15"/>
          <p:cNvSpPr txBox="1"/>
          <p:nvPr/>
        </p:nvSpPr>
        <p:spPr>
          <a:xfrm>
            <a:off x="1473200" y="2203449"/>
            <a:ext cx="1600200" cy="215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i="0" u="none" strike="noStrike" cap="none">
                <a:solidFill>
                  <a:srgbClr val="64748B"/>
                </a:solidFill>
                <a:latin typeface="Inter"/>
                <a:ea typeface="Inter"/>
                <a:cs typeface="Inter"/>
                <a:sym typeface="Inter"/>
              </a:rPr>
              <a:t>ANSWER-LEVEL</a:t>
            </a:r>
            <a:endParaRPr/>
          </a:p>
        </p:txBody>
      </p:sp>
      <p:sp>
        <p:nvSpPr>
          <p:cNvPr id="486" name="Google Shape;158;p15"/>
          <p:cNvSpPr txBox="1"/>
          <p:nvPr/>
        </p:nvSpPr>
        <p:spPr>
          <a:xfrm>
            <a:off x="1409700" y="3251200"/>
            <a:ext cx="6229200" cy="5408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600" b="1" i="0" u="none" strike="noStrike" cap="none">
                <a:solidFill>
                  <a:srgbClr val="002B49"/>
                </a:solidFill>
                <a:latin typeface="Inter"/>
                <a:ea typeface="Inter"/>
                <a:cs typeface="Inter"/>
                <a:sym typeface="Inter"/>
              </a:rPr>
              <a:t>Exact Match (EM)</a:t>
            </a:r>
            <a:r>
              <a:rPr lang="en-US" sz="1600" b="0" i="0" u="none" strike="noStrike" cap="none">
                <a:solidFill>
                  <a:srgbClr val="000000"/>
                </a:solidFill>
                <a:latin typeface="Inter"/>
                <a:ea typeface="Inter"/>
                <a:cs typeface="Inter"/>
                <a:sym typeface="Inter"/>
              </a:rPr>
              <a:t> </a:t>
            </a:r>
            <a:r>
              <a:rPr lang="en-US" sz="1600" b="0" i="0" u="none" strike="noStrike" cap="none">
                <a:solidFill>
                  <a:srgbClr val="64748B"/>
                </a:solidFill>
                <a:latin typeface="Inter"/>
                <a:ea typeface="Inter"/>
                <a:cs typeface="Inter"/>
                <a:sym typeface="Inter"/>
              </a:rPr>
              <a:t>Binary string matching after normalization for strict accuracy.</a:t>
            </a:r>
            <a:endParaRPr/>
          </a:p>
        </p:txBody>
      </p:sp>
      <p:sp>
        <p:nvSpPr>
          <p:cNvPr id="487" name="Google Shape;159;p15"/>
          <p:cNvSpPr txBox="1"/>
          <p:nvPr/>
        </p:nvSpPr>
        <p:spPr>
          <a:xfrm>
            <a:off x="1409700" y="3944341"/>
            <a:ext cx="6229349" cy="5407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600" b="1" i="0" u="none" strike="noStrike" cap="none">
                <a:solidFill>
                  <a:srgbClr val="002B49"/>
                </a:solidFill>
                <a:latin typeface="Inter"/>
                <a:ea typeface="Inter"/>
                <a:cs typeface="Inter"/>
                <a:sym typeface="Inter"/>
              </a:rPr>
              <a:t>Token F1 Score</a:t>
            </a:r>
            <a:r>
              <a:rPr lang="en-US" sz="1600" b="0" i="0" u="none" strike="noStrike" cap="none">
                <a:solidFill>
                  <a:srgbClr val="000000"/>
                </a:solidFill>
                <a:latin typeface="Inter"/>
                <a:ea typeface="Inter"/>
                <a:cs typeface="Inter"/>
                <a:sym typeface="Inter"/>
              </a:rPr>
              <a:t> </a:t>
            </a:r>
            <a:r>
              <a:rPr lang="en-US" sz="1600" b="0" i="0" u="none" strike="noStrike" cap="none">
                <a:solidFill>
                  <a:srgbClr val="64748B"/>
                </a:solidFill>
                <a:latin typeface="Inter"/>
                <a:ea typeface="Inter"/>
                <a:cs typeface="Inter"/>
                <a:sym typeface="Inter"/>
              </a:rPr>
              <a:t>Calculates harmonic mean of precision and recall for flexible semantic overlap.</a:t>
            </a:r>
            <a:endParaRPr/>
          </a:p>
        </p:txBody>
      </p:sp>
      <p:pic>
        <p:nvPicPr>
          <p:cNvPr id="488" name="Google Shape;160;p15" descr="image.png"/>
          <p:cNvPicPr/>
          <p:nvPr/>
        </p:nvPicPr>
        <p:blipFill rotWithShape="1">
          <a:blip r:embed="rId9">
            <a:alphaModFix/>
          </a:blip>
          <a:srcRect/>
          <a:stretch/>
        </p:blipFill>
        <p:spPr>
          <a:xfrm>
            <a:off x="8616949" y="2184400"/>
            <a:ext cx="254000" cy="254000"/>
          </a:xfrm>
          <a:prstGeom prst="rect">
            <a:avLst/>
          </a:prstGeom>
          <a:noFill/>
          <a:ln>
            <a:noFill/>
          </a:ln>
        </p:spPr>
      </p:pic>
      <p:sp>
        <p:nvSpPr>
          <p:cNvPr id="489" name="Google Shape;161;p15"/>
          <p:cNvSpPr txBox="1"/>
          <p:nvPr/>
        </p:nvSpPr>
        <p:spPr>
          <a:xfrm>
            <a:off x="9023349" y="2203449"/>
            <a:ext cx="1780221" cy="215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i="0" u="none" strike="noStrike" cap="none">
                <a:solidFill>
                  <a:srgbClr val="64748B"/>
                </a:solidFill>
                <a:latin typeface="Inter"/>
                <a:ea typeface="Inter"/>
                <a:cs typeface="Inter"/>
                <a:sym typeface="Inter"/>
              </a:rPr>
              <a:t>RETRIEVAL-LEVEL</a:t>
            </a:r>
            <a:endParaRPr/>
          </a:p>
        </p:txBody>
      </p:sp>
      <p:sp>
        <p:nvSpPr>
          <p:cNvPr id="490" name="Google Shape;162;p15"/>
          <p:cNvSpPr txBox="1"/>
          <p:nvPr/>
        </p:nvSpPr>
        <p:spPr>
          <a:xfrm>
            <a:off x="8934449" y="3251200"/>
            <a:ext cx="6229349" cy="5407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600" b="1" i="0" u="none" strike="noStrike" cap="none">
                <a:solidFill>
                  <a:srgbClr val="002B49"/>
                </a:solidFill>
                <a:latin typeface="Inter"/>
                <a:ea typeface="Inter"/>
                <a:cs typeface="Inter"/>
                <a:sym typeface="Inter"/>
              </a:rPr>
              <a:t>Support Title Recall</a:t>
            </a:r>
            <a:r>
              <a:rPr lang="en-US" sz="1600" b="0" i="0" u="none" strike="noStrike" cap="none">
                <a:solidFill>
                  <a:srgbClr val="000000"/>
                </a:solidFill>
                <a:latin typeface="Inter"/>
                <a:ea typeface="Inter"/>
                <a:cs typeface="Inter"/>
                <a:sym typeface="Inter"/>
              </a:rPr>
              <a:t> </a:t>
            </a:r>
            <a:r>
              <a:rPr lang="en-US" sz="1600" b="0" i="0" u="none" strike="noStrike" cap="none">
                <a:solidFill>
                  <a:srgbClr val="64748B"/>
                </a:solidFill>
                <a:latin typeface="Inter"/>
                <a:ea typeface="Inter"/>
                <a:cs typeface="Inter"/>
                <a:sym typeface="Inter"/>
              </a:rPr>
              <a:t>Measures if retrieved chunks cover the Wikipedia pages tagged in HotpotQA.</a:t>
            </a:r>
            <a:endParaRPr/>
          </a:p>
        </p:txBody>
      </p:sp>
      <p:sp>
        <p:nvSpPr>
          <p:cNvPr id="491" name="Google Shape;163;p15"/>
          <p:cNvSpPr txBox="1"/>
          <p:nvPr/>
        </p:nvSpPr>
        <p:spPr>
          <a:xfrm>
            <a:off x="8934449" y="3944341"/>
            <a:ext cx="6229349" cy="5407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600" b="1" i="0" u="none" strike="noStrike" cap="none">
                <a:solidFill>
                  <a:srgbClr val="002B49"/>
                </a:solidFill>
                <a:latin typeface="Inter"/>
                <a:ea typeface="Inter"/>
                <a:cs typeface="Inter"/>
                <a:sym typeface="Inter"/>
              </a:rPr>
              <a:t>Local Doc ID Recall</a:t>
            </a:r>
            <a:r>
              <a:rPr lang="en-US" sz="1600" b="0" i="0" u="none" strike="noStrike" cap="none">
                <a:solidFill>
                  <a:srgbClr val="000000"/>
                </a:solidFill>
                <a:latin typeface="Inter"/>
                <a:ea typeface="Inter"/>
                <a:cs typeface="Inter"/>
                <a:sym typeface="Inter"/>
              </a:rPr>
              <a:t> </a:t>
            </a:r>
            <a:r>
              <a:rPr lang="en-US" sz="1600" b="0" i="0" u="none" strike="noStrike" cap="none">
                <a:solidFill>
                  <a:srgbClr val="64748B"/>
                </a:solidFill>
                <a:latin typeface="Inter"/>
                <a:ea typeface="Inter"/>
                <a:cs typeface="Inter"/>
                <a:sym typeface="Inter"/>
              </a:rPr>
              <a:t>Precise alignment check using internal IDs to bypass title variation bias.</a:t>
            </a:r>
            <a:endParaRPr/>
          </a:p>
        </p:txBody>
      </p:sp>
      <p:pic>
        <p:nvPicPr>
          <p:cNvPr id="492" name="Google Shape;164;p15" descr="image.png"/>
          <p:cNvPicPr/>
          <p:nvPr/>
        </p:nvPicPr>
        <p:blipFill rotWithShape="1">
          <a:blip r:embed="rId10">
            <a:alphaModFix/>
          </a:blip>
          <a:srcRect/>
          <a:stretch/>
        </p:blipFill>
        <p:spPr>
          <a:xfrm>
            <a:off x="1092200" y="6077346"/>
            <a:ext cx="254000" cy="254000"/>
          </a:xfrm>
          <a:prstGeom prst="rect">
            <a:avLst/>
          </a:prstGeom>
          <a:noFill/>
          <a:ln>
            <a:noFill/>
          </a:ln>
        </p:spPr>
      </p:pic>
      <p:sp>
        <p:nvSpPr>
          <p:cNvPr id="493" name="Google Shape;165;p15"/>
          <p:cNvSpPr txBox="1"/>
          <p:nvPr/>
        </p:nvSpPr>
        <p:spPr>
          <a:xfrm>
            <a:off x="1498600" y="6096396"/>
            <a:ext cx="2393632" cy="215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i="0" u="none" strike="noStrike" cap="none">
                <a:solidFill>
                  <a:srgbClr val="64748B"/>
                </a:solidFill>
                <a:latin typeface="Inter"/>
                <a:ea typeface="Inter"/>
                <a:cs typeface="Inter"/>
                <a:sym typeface="Inter"/>
              </a:rPr>
              <a:t>EVIDENCE AVAILABILITY</a:t>
            </a:r>
            <a:endParaRPr/>
          </a:p>
        </p:txBody>
      </p:sp>
      <p:sp>
        <p:nvSpPr>
          <p:cNvPr id="494" name="Google Shape;166;p15"/>
          <p:cNvSpPr txBox="1"/>
          <p:nvPr/>
        </p:nvSpPr>
        <p:spPr>
          <a:xfrm>
            <a:off x="1409700" y="7144146"/>
            <a:ext cx="6229349" cy="771722"/>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600" b="1" i="0" u="none" strike="noStrike" cap="none">
                <a:solidFill>
                  <a:srgbClr val="002B49"/>
                </a:solidFill>
                <a:latin typeface="Inter"/>
                <a:ea typeface="Inter"/>
                <a:cs typeface="Inter"/>
                <a:sym typeface="Inter"/>
              </a:rPr>
              <a:t>Answer in Vector Context</a:t>
            </a:r>
            <a:r>
              <a:rPr lang="en-US" sz="1600" b="0" i="0" u="none" strike="noStrike" cap="none">
                <a:solidFill>
                  <a:srgbClr val="000000"/>
                </a:solidFill>
                <a:latin typeface="Inter"/>
                <a:ea typeface="Inter"/>
                <a:cs typeface="Inter"/>
                <a:sym typeface="Inter"/>
              </a:rPr>
              <a:t> </a:t>
            </a:r>
            <a:r>
              <a:rPr lang="en-US" sz="1600" b="0" i="0" u="none" strike="noStrike" cap="none">
                <a:solidFill>
                  <a:srgbClr val="64748B"/>
                </a:solidFill>
                <a:latin typeface="Inter"/>
                <a:ea typeface="Inter"/>
                <a:cs typeface="Inter"/>
                <a:sym typeface="Inter"/>
              </a:rPr>
              <a:t>Percentage of cases where the answer exists in top-k text chunks. (Baseline Floor)</a:t>
            </a:r>
            <a:endParaRPr/>
          </a:p>
        </p:txBody>
      </p:sp>
      <p:sp>
        <p:nvSpPr>
          <p:cNvPr id="495" name="Google Shape;167;p15"/>
          <p:cNvSpPr txBox="1"/>
          <p:nvPr/>
        </p:nvSpPr>
        <p:spPr>
          <a:xfrm>
            <a:off x="1409700" y="8068269"/>
            <a:ext cx="6229200" cy="771600"/>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600" b="1" i="0" u="none" strike="noStrike" cap="none">
                <a:solidFill>
                  <a:srgbClr val="002B49"/>
                </a:solidFill>
                <a:latin typeface="Inter"/>
                <a:ea typeface="Inter"/>
                <a:cs typeface="Inter"/>
                <a:sym typeface="Inter"/>
              </a:rPr>
              <a:t>Answer in Full Context</a:t>
            </a:r>
            <a:r>
              <a:rPr lang="en-US" sz="1600" b="0" i="0" u="none" strike="noStrike" cap="none">
                <a:solidFill>
                  <a:srgbClr val="000000"/>
                </a:solidFill>
                <a:latin typeface="Inter"/>
                <a:ea typeface="Inter"/>
                <a:cs typeface="Inter"/>
                <a:sym typeface="Inter"/>
              </a:rPr>
              <a:t> </a:t>
            </a:r>
            <a:r>
              <a:rPr lang="en-US" sz="1600" b="0" i="0" u="none" strike="noStrike" cap="none">
                <a:solidFill>
                  <a:srgbClr val="64748B"/>
                </a:solidFill>
                <a:latin typeface="Inter"/>
                <a:ea typeface="Inter"/>
                <a:cs typeface="Inter"/>
                <a:sym typeface="Inter"/>
              </a:rPr>
              <a:t>Detects if Graph Context supplements evidence missed by Vector search. (Graph Gain)</a:t>
            </a:r>
            <a:endParaRPr/>
          </a:p>
        </p:txBody>
      </p:sp>
      <p:pic>
        <p:nvPicPr>
          <p:cNvPr id="496" name="Google Shape;168;p15" descr="image.png"/>
          <p:cNvPicPr/>
          <p:nvPr/>
        </p:nvPicPr>
        <p:blipFill rotWithShape="1">
          <a:blip r:embed="rId11">
            <a:alphaModFix/>
          </a:blip>
          <a:srcRect/>
          <a:stretch/>
        </p:blipFill>
        <p:spPr>
          <a:xfrm>
            <a:off x="8616949" y="6077346"/>
            <a:ext cx="317500" cy="254000"/>
          </a:xfrm>
          <a:prstGeom prst="rect">
            <a:avLst/>
          </a:prstGeom>
          <a:noFill/>
          <a:ln>
            <a:noFill/>
          </a:ln>
        </p:spPr>
      </p:pic>
      <p:sp>
        <p:nvSpPr>
          <p:cNvPr id="497" name="Google Shape;169;p15"/>
          <p:cNvSpPr txBox="1"/>
          <p:nvPr/>
        </p:nvSpPr>
        <p:spPr>
          <a:xfrm>
            <a:off x="9086849" y="6096396"/>
            <a:ext cx="1406841" cy="215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i="0" u="none" strike="noStrike" cap="none">
                <a:solidFill>
                  <a:srgbClr val="64748B"/>
                </a:solidFill>
                <a:latin typeface="Inter"/>
                <a:ea typeface="Inter"/>
                <a:cs typeface="Inter"/>
                <a:sym typeface="Inter"/>
              </a:rPr>
              <a:t>GRAPH USAGE</a:t>
            </a:r>
            <a:endParaRPr/>
          </a:p>
        </p:txBody>
      </p:sp>
      <p:sp>
        <p:nvSpPr>
          <p:cNvPr id="498" name="Google Shape;170;p15"/>
          <p:cNvSpPr txBox="1"/>
          <p:nvPr/>
        </p:nvSpPr>
        <p:spPr>
          <a:xfrm>
            <a:off x="8934449" y="7144146"/>
            <a:ext cx="6229349" cy="5407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600" b="1" i="0" u="none" strike="noStrike" cap="none">
                <a:solidFill>
                  <a:srgbClr val="002B49"/>
                </a:solidFill>
                <a:latin typeface="Inter"/>
                <a:ea typeface="Inter"/>
                <a:cs typeface="Inter"/>
                <a:sym typeface="Inter"/>
              </a:rPr>
              <a:t>Graph Triple Density</a:t>
            </a:r>
            <a:r>
              <a:rPr lang="en-US" sz="1600" b="0" i="0" u="none" strike="noStrike" cap="none">
                <a:solidFill>
                  <a:srgbClr val="000000"/>
                </a:solidFill>
                <a:latin typeface="Inter"/>
                <a:ea typeface="Inter"/>
                <a:cs typeface="Inter"/>
                <a:sym typeface="Inter"/>
              </a:rPr>
              <a:t> </a:t>
            </a:r>
            <a:r>
              <a:rPr lang="en-US" sz="1600" b="0" i="0" u="none" strike="noStrike" cap="none">
                <a:solidFill>
                  <a:srgbClr val="64748B"/>
                </a:solidFill>
                <a:latin typeface="Inter"/>
                <a:ea typeface="Inter"/>
                <a:cs typeface="Inter"/>
                <a:sym typeface="Inter"/>
              </a:rPr>
              <a:t>Tracks the volume of structured reasoning paths provided to the LLM.</a:t>
            </a:r>
            <a:endParaRPr/>
          </a:p>
        </p:txBody>
      </p:sp>
      <p:sp>
        <p:nvSpPr>
          <p:cNvPr id="499" name="Google Shape;171;p15"/>
          <p:cNvSpPr txBox="1"/>
          <p:nvPr/>
        </p:nvSpPr>
        <p:spPr>
          <a:xfrm>
            <a:off x="8934449" y="7837288"/>
            <a:ext cx="6229349" cy="540741"/>
          </a:xfrm>
          <a:prstGeom prst="rect">
            <a:avLst/>
          </a:prstGeom>
          <a:noFill/>
          <a:ln>
            <a:noFill/>
          </a:ln>
        </p:spPr>
        <p:txBody>
          <a:bodyPr spcFirstLastPara="1" wrap="square" lIns="0" tIns="0" rIns="0" bIns="0" anchor="t" anchorCtr="0">
            <a:spAutoFit/>
          </a:bodyPr>
          <a:lstStyle/>
          <a:p>
            <a:pPr marL="0" marR="0" lvl="0" indent="0" algn="l" rtl="0">
              <a:lnSpc>
                <a:spcPct val="139916"/>
              </a:lnSpc>
              <a:spcBef>
                <a:spcPts val="0"/>
              </a:spcBef>
              <a:spcAft>
                <a:spcPts val="0"/>
              </a:spcAft>
              <a:buNone/>
            </a:pPr>
            <a:r>
              <a:rPr lang="en-US" sz="1600" b="1" i="0" u="none" strike="noStrike" cap="none">
                <a:solidFill>
                  <a:srgbClr val="002B49"/>
                </a:solidFill>
                <a:latin typeface="Inter"/>
                <a:ea typeface="Inter"/>
                <a:cs typeface="Inter"/>
                <a:sym typeface="Inter"/>
              </a:rPr>
              <a:t>Path Coverage Ratio</a:t>
            </a:r>
            <a:r>
              <a:rPr lang="en-US" sz="1600" b="0" i="0" u="none" strike="noStrike" cap="none">
                <a:solidFill>
                  <a:srgbClr val="000000"/>
                </a:solidFill>
                <a:latin typeface="Inter"/>
                <a:ea typeface="Inter"/>
                <a:cs typeface="Inter"/>
                <a:sym typeface="Inter"/>
              </a:rPr>
              <a:t> </a:t>
            </a:r>
            <a:r>
              <a:rPr lang="en-US" sz="1600" b="0" i="0" u="none" strike="noStrike" cap="none">
                <a:solidFill>
                  <a:srgbClr val="64748B"/>
                </a:solidFill>
                <a:latin typeface="Inter"/>
                <a:ea typeface="Inter"/>
                <a:cs typeface="Inter"/>
                <a:sym typeface="Inter"/>
              </a:rPr>
              <a:t>Diagnoses if a physical 1-hop/2-hop path exists between supporting entities.</a:t>
            </a:r>
            <a:endParaRPr/>
          </a:p>
        </p:txBody>
      </p:sp>
      <p:pic>
        <p:nvPicPr>
          <p:cNvPr id="500" name="Google Shape;172;p15" descr="image.png"/>
          <p:cNvPicPr/>
          <p:nvPr/>
        </p:nvPicPr>
        <p:blipFill rotWithShape="1">
          <a:blip r:embed="rId12">
            <a:alphaModFix/>
          </a:blip>
          <a:srcRect/>
          <a:stretch/>
        </p:blipFill>
        <p:spPr>
          <a:xfrm>
            <a:off x="1092200" y="3276600"/>
            <a:ext cx="177800" cy="190500"/>
          </a:xfrm>
          <a:prstGeom prst="rect">
            <a:avLst/>
          </a:prstGeom>
          <a:noFill/>
          <a:ln>
            <a:noFill/>
          </a:ln>
        </p:spPr>
      </p:pic>
      <p:pic>
        <p:nvPicPr>
          <p:cNvPr id="501" name="Google Shape;173;p15" descr="image.png"/>
          <p:cNvPicPr/>
          <p:nvPr/>
        </p:nvPicPr>
        <p:blipFill rotWithShape="1">
          <a:blip r:embed="rId12">
            <a:alphaModFix/>
          </a:blip>
          <a:srcRect/>
          <a:stretch/>
        </p:blipFill>
        <p:spPr>
          <a:xfrm>
            <a:off x="1092200" y="3969741"/>
            <a:ext cx="177800" cy="190500"/>
          </a:xfrm>
          <a:prstGeom prst="rect">
            <a:avLst/>
          </a:prstGeom>
          <a:noFill/>
          <a:ln>
            <a:noFill/>
          </a:ln>
        </p:spPr>
      </p:pic>
      <p:pic>
        <p:nvPicPr>
          <p:cNvPr id="502" name="Google Shape;174;p15" descr="image.png"/>
          <p:cNvPicPr/>
          <p:nvPr/>
        </p:nvPicPr>
        <p:blipFill rotWithShape="1">
          <a:blip r:embed="rId12">
            <a:alphaModFix/>
          </a:blip>
          <a:srcRect/>
          <a:stretch/>
        </p:blipFill>
        <p:spPr>
          <a:xfrm>
            <a:off x="8616949" y="3276600"/>
            <a:ext cx="177800" cy="190500"/>
          </a:xfrm>
          <a:prstGeom prst="rect">
            <a:avLst/>
          </a:prstGeom>
          <a:noFill/>
          <a:ln>
            <a:noFill/>
          </a:ln>
        </p:spPr>
      </p:pic>
      <p:pic>
        <p:nvPicPr>
          <p:cNvPr id="503" name="Google Shape;175;p15" descr="image.png"/>
          <p:cNvPicPr/>
          <p:nvPr/>
        </p:nvPicPr>
        <p:blipFill rotWithShape="1">
          <a:blip r:embed="rId12">
            <a:alphaModFix/>
          </a:blip>
          <a:srcRect/>
          <a:stretch/>
        </p:blipFill>
        <p:spPr>
          <a:xfrm>
            <a:off x="8616949" y="3969741"/>
            <a:ext cx="177800" cy="190500"/>
          </a:xfrm>
          <a:prstGeom prst="rect">
            <a:avLst/>
          </a:prstGeom>
          <a:noFill/>
          <a:ln>
            <a:noFill/>
          </a:ln>
        </p:spPr>
      </p:pic>
      <p:pic>
        <p:nvPicPr>
          <p:cNvPr id="504" name="Google Shape;176;p15" descr="image.png"/>
          <p:cNvPicPr/>
          <p:nvPr/>
        </p:nvPicPr>
        <p:blipFill rotWithShape="1">
          <a:blip r:embed="rId12">
            <a:alphaModFix/>
          </a:blip>
          <a:srcRect/>
          <a:stretch/>
        </p:blipFill>
        <p:spPr>
          <a:xfrm>
            <a:off x="1092200" y="7169546"/>
            <a:ext cx="177800" cy="190500"/>
          </a:xfrm>
          <a:prstGeom prst="rect">
            <a:avLst/>
          </a:prstGeom>
          <a:noFill/>
          <a:ln>
            <a:noFill/>
          </a:ln>
        </p:spPr>
      </p:pic>
      <p:pic>
        <p:nvPicPr>
          <p:cNvPr id="505" name="Google Shape;177;p15" descr="image.png"/>
          <p:cNvPicPr/>
          <p:nvPr/>
        </p:nvPicPr>
        <p:blipFill rotWithShape="1">
          <a:blip r:embed="rId12">
            <a:alphaModFix/>
          </a:blip>
          <a:srcRect/>
          <a:stretch/>
        </p:blipFill>
        <p:spPr>
          <a:xfrm>
            <a:off x="1092200" y="8093669"/>
            <a:ext cx="177800" cy="190500"/>
          </a:xfrm>
          <a:prstGeom prst="rect">
            <a:avLst/>
          </a:prstGeom>
          <a:noFill/>
          <a:ln>
            <a:noFill/>
          </a:ln>
        </p:spPr>
      </p:pic>
      <p:pic>
        <p:nvPicPr>
          <p:cNvPr id="506" name="Google Shape;178;p15" descr="image.png"/>
          <p:cNvPicPr/>
          <p:nvPr/>
        </p:nvPicPr>
        <p:blipFill rotWithShape="1">
          <a:blip r:embed="rId12">
            <a:alphaModFix/>
          </a:blip>
          <a:srcRect/>
          <a:stretch/>
        </p:blipFill>
        <p:spPr>
          <a:xfrm>
            <a:off x="8616949" y="7169546"/>
            <a:ext cx="177800" cy="190500"/>
          </a:xfrm>
          <a:prstGeom prst="rect">
            <a:avLst/>
          </a:prstGeom>
          <a:noFill/>
          <a:ln>
            <a:noFill/>
          </a:ln>
        </p:spPr>
      </p:pic>
      <p:pic>
        <p:nvPicPr>
          <p:cNvPr id="507" name="Google Shape;179;p15" descr="image.png"/>
          <p:cNvPicPr/>
          <p:nvPr/>
        </p:nvPicPr>
        <p:blipFill rotWithShape="1">
          <a:blip r:embed="rId12">
            <a:alphaModFix/>
          </a:blip>
          <a:srcRect/>
          <a:stretch/>
        </p:blipFill>
        <p:spPr>
          <a:xfrm>
            <a:off x="8616949" y="7862688"/>
            <a:ext cx="177800" cy="1905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09" name="Google Shape;184;p16" descr="image.png"/>
          <p:cNvPicPr/>
          <p:nvPr/>
        </p:nvPicPr>
        <p:blipFill rotWithShape="1">
          <a:blip r:embed="rId3">
            <a:alphaModFix/>
          </a:blip>
          <a:srcRect/>
          <a:stretch/>
        </p:blipFill>
        <p:spPr>
          <a:xfrm>
            <a:off x="762000" y="1752600"/>
            <a:ext cx="8534400" cy="6299200"/>
          </a:xfrm>
          <a:prstGeom prst="rect">
            <a:avLst/>
          </a:prstGeom>
          <a:noFill/>
          <a:ln>
            <a:noFill/>
          </a:ln>
        </p:spPr>
      </p:pic>
      <p:pic>
        <p:nvPicPr>
          <p:cNvPr id="510" name="Google Shape;185;p16" descr="image.png"/>
          <p:cNvPicPr/>
          <p:nvPr/>
        </p:nvPicPr>
        <p:blipFill rotWithShape="1">
          <a:blip r:embed="rId4">
            <a:alphaModFix/>
          </a:blip>
          <a:srcRect/>
          <a:stretch/>
        </p:blipFill>
        <p:spPr>
          <a:xfrm>
            <a:off x="9804400" y="1752600"/>
            <a:ext cx="5689600" cy="1663700"/>
          </a:xfrm>
          <a:prstGeom prst="rect">
            <a:avLst/>
          </a:prstGeom>
          <a:noFill/>
          <a:ln>
            <a:noFill/>
          </a:ln>
        </p:spPr>
      </p:pic>
      <p:pic>
        <p:nvPicPr>
          <p:cNvPr id="511" name="Google Shape;186;p16" descr="image.png"/>
          <p:cNvPicPr/>
          <p:nvPr/>
        </p:nvPicPr>
        <p:blipFill rotWithShape="1">
          <a:blip r:embed="rId5">
            <a:alphaModFix/>
          </a:blip>
          <a:srcRect/>
          <a:stretch/>
        </p:blipFill>
        <p:spPr>
          <a:xfrm>
            <a:off x="9804400" y="3670300"/>
            <a:ext cx="5689600" cy="1397000"/>
          </a:xfrm>
          <a:prstGeom prst="rect">
            <a:avLst/>
          </a:prstGeom>
          <a:noFill/>
          <a:ln>
            <a:noFill/>
          </a:ln>
        </p:spPr>
      </p:pic>
      <p:pic>
        <p:nvPicPr>
          <p:cNvPr id="512" name="Google Shape;187;p16" descr="image.png"/>
          <p:cNvPicPr/>
          <p:nvPr/>
        </p:nvPicPr>
        <p:blipFill rotWithShape="1">
          <a:blip r:embed="rId5">
            <a:alphaModFix/>
          </a:blip>
          <a:srcRect/>
          <a:stretch/>
        </p:blipFill>
        <p:spPr>
          <a:xfrm>
            <a:off x="9804400" y="5321300"/>
            <a:ext cx="5689600" cy="1397000"/>
          </a:xfrm>
          <a:prstGeom prst="rect">
            <a:avLst/>
          </a:prstGeom>
          <a:noFill/>
          <a:ln>
            <a:noFill/>
          </a:ln>
        </p:spPr>
      </p:pic>
      <p:sp>
        <p:nvSpPr>
          <p:cNvPr id="513" name="Google Shape;188;p16"/>
          <p:cNvSpPr txBox="1"/>
          <p:nvPr/>
        </p:nvSpPr>
        <p:spPr>
          <a:xfrm>
            <a:off x="762000" y="635000"/>
            <a:ext cx="14732000" cy="546100"/>
          </a:xfrm>
          <a:prstGeom prst="rect">
            <a:avLst/>
          </a:prstGeom>
          <a:noFill/>
          <a:ln>
            <a:noFill/>
          </a:ln>
        </p:spPr>
        <p:txBody>
          <a:bodyPr spcFirstLastPara="1" wrap="square" lIns="0" tIns="0" rIns="0" bIns="0" anchor="b" anchorCtr="0">
            <a:spAutoFit/>
          </a:bodyPr>
          <a:lstStyle/>
          <a:p>
            <a:pPr marL="0" marR="0" lvl="0" indent="0" algn="l" rtl="0">
              <a:spcBef>
                <a:spcPts val="0"/>
              </a:spcBef>
              <a:spcAft>
                <a:spcPts val="0"/>
              </a:spcAft>
              <a:buNone/>
            </a:pPr>
            <a:r>
              <a:rPr lang="en-US" sz="1600" b="0" i="0" u="none" strike="noStrike" cap="none">
                <a:solidFill>
                  <a:srgbClr val="64748B"/>
                </a:solidFill>
                <a:latin typeface="Inter SemiBold"/>
                <a:ea typeface="Inter SemiBold"/>
                <a:cs typeface="Inter SemiBold"/>
                <a:sym typeface="Inter SemiBold"/>
              </a:rPr>
              <a:t>05 Evaluation Framework | Analysis Plan</a:t>
            </a:r>
            <a:endParaRPr/>
          </a:p>
        </p:txBody>
      </p:sp>
      <p:sp>
        <p:nvSpPr>
          <p:cNvPr id="514" name="Google Shape;189;p16"/>
          <p:cNvSpPr/>
          <p:nvPr/>
        </p:nvSpPr>
        <p:spPr>
          <a:xfrm>
            <a:off x="762000" y="1346200"/>
            <a:ext cx="14732000" cy="25400"/>
          </a:xfrm>
          <a:prstGeom prst="rect">
            <a:avLst/>
          </a:prstGeom>
          <a:solidFill>
            <a:srgbClr val="002B4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15" name="Google Shape;190;p16"/>
          <p:cNvSpPr txBox="1"/>
          <p:nvPr/>
        </p:nvSpPr>
        <p:spPr>
          <a:xfrm>
            <a:off x="762000" y="8305800"/>
            <a:ext cx="14732000" cy="203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00" b="0" i="1" u="none" strike="noStrike" cap="none">
                <a:solidFill>
                  <a:srgbClr val="3B82F6"/>
                </a:solidFill>
                <a:latin typeface="Inter SemiBold"/>
                <a:ea typeface="Inter SemiBold"/>
                <a:cs typeface="Inter SemiBold"/>
                <a:sym typeface="Inter SemiBold"/>
              </a:rPr>
              <a:t> * Note: These are projected trends for the upcoming full-scale experiment. Final results are subject to the Knowledge Graph rebuild quality. </a:t>
            </a:r>
            <a:endParaRPr/>
          </a:p>
        </p:txBody>
      </p:sp>
      <p:sp>
        <p:nvSpPr>
          <p:cNvPr id="516" name="Google Shape;191;p16"/>
          <p:cNvSpPr txBox="1"/>
          <p:nvPr/>
        </p:nvSpPr>
        <p:spPr>
          <a:xfrm>
            <a:off x="702000" y="444500"/>
            <a:ext cx="8654400" cy="523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400" b="1" i="0" u="none" strike="noStrike" cap="none">
                <a:solidFill>
                  <a:srgbClr val="002B49"/>
                </a:solidFill>
                <a:latin typeface="Inter"/>
                <a:ea typeface="Inter"/>
                <a:cs typeface="Inter"/>
                <a:sym typeface="Inter"/>
              </a:rPr>
              <a:t>Performance Projections &amp; Hypotheses</a:t>
            </a:r>
            <a:endParaRPr/>
          </a:p>
        </p:txBody>
      </p:sp>
      <p:sp>
        <p:nvSpPr>
          <p:cNvPr id="517" name="Google Shape;192;p16"/>
          <p:cNvSpPr txBox="1"/>
          <p:nvPr/>
        </p:nvSpPr>
        <p:spPr>
          <a:xfrm>
            <a:off x="762000" y="1752600"/>
            <a:ext cx="896112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1E293B"/>
                </a:solidFill>
                <a:latin typeface="Inter"/>
                <a:ea typeface="Inter"/>
                <a:cs typeface="Inter"/>
                <a:sym typeface="Inter"/>
              </a:rPr>
              <a:t>Expected Performance Matrix (Preliminary Projections)</a:t>
            </a:r>
            <a:endParaRPr/>
          </a:p>
        </p:txBody>
      </p:sp>
      <p:sp>
        <p:nvSpPr>
          <p:cNvPr id="518" name="Google Shape;193;p16"/>
          <p:cNvSpPr/>
          <p:nvPr/>
        </p:nvSpPr>
        <p:spPr>
          <a:xfrm>
            <a:off x="762000" y="2209800"/>
            <a:ext cx="8534400" cy="2565400"/>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graphicFrame>
        <p:nvGraphicFramePr>
          <p:cNvPr id="519" name="Google Shape;194;p16"/>
          <p:cNvGraphicFramePr/>
          <p:nvPr/>
        </p:nvGraphicFramePr>
        <p:xfrm>
          <a:off x="762000" y="2209800"/>
          <a:ext cx="8534401" cy="2565366"/>
        </p:xfrm>
        <a:graphic>
          <a:graphicData uri="http://schemas.openxmlformats.org/drawingml/2006/table">
            <a:tbl>
              <a:tblPr firstRow="1" bandRow="1">
                <a:noFill/>
              </a:tblPr>
              <a:tblGrid>
                <a:gridCol w="3012867">
                  <a:extLst>
                    <a:ext uri="{9D8B030D-6E8A-4147-A177-3AD203B41FA5}">
                      <a16:colId xmlns:a16="http://schemas.microsoft.com/office/drawing/2014/main" val="1"/>
                    </a:ext>
                  </a:extLst>
                </a:gridCol>
                <a:gridCol w="994367">
                  <a:extLst>
                    <a:ext uri="{9D8B030D-6E8A-4147-A177-3AD203B41FA5}">
                      <a16:colId xmlns:a16="http://schemas.microsoft.com/office/drawing/2014/main" val="2"/>
                    </a:ext>
                  </a:extLst>
                </a:gridCol>
                <a:gridCol w="1320800">
                  <a:extLst>
                    <a:ext uri="{9D8B030D-6E8A-4147-A177-3AD203B41FA5}">
                      <a16:colId xmlns:a16="http://schemas.microsoft.com/office/drawing/2014/main" val="3"/>
                    </a:ext>
                  </a:extLst>
                </a:gridCol>
                <a:gridCol w="1706767">
                  <a:extLst>
                    <a:ext uri="{9D8B030D-6E8A-4147-A177-3AD203B41FA5}">
                      <a16:colId xmlns:a16="http://schemas.microsoft.com/office/drawing/2014/main" val="4"/>
                    </a:ext>
                  </a:extLst>
                </a:gridCol>
                <a:gridCol w="1499600">
                  <a:extLst>
                    <a:ext uri="{9D8B030D-6E8A-4147-A177-3AD203B41FA5}">
                      <a16:colId xmlns:a16="http://schemas.microsoft.com/office/drawing/2014/main" val="5"/>
                    </a:ext>
                  </a:extLst>
                </a:gridCol>
              </a:tblGrid>
              <a:tr h="641333">
                <a:tc>
                  <a:txBody>
                    <a:bodyPr/>
                    <a:lstStyle/>
                    <a:p>
                      <a:pPr marL="0" marR="0" lvl="0" indent="0" algn="ctr" rtl="0">
                        <a:spcBef>
                          <a:spcPts val="0"/>
                        </a:spcBef>
                        <a:spcAft>
                          <a:spcPts val="0"/>
                        </a:spcAft>
                        <a:buNone/>
                      </a:pPr>
                      <a:r>
                        <a:rPr lang="en-US" sz="1400" b="1" i="0" u="none" strike="noStrike" cap="none">
                          <a:solidFill>
                            <a:srgbClr val="002B49"/>
                          </a:solidFill>
                          <a:latin typeface="Inter"/>
                          <a:ea typeface="Inter"/>
                          <a:cs typeface="Inter"/>
                          <a:sym typeface="Inter"/>
                        </a:rPr>
                        <a:t>Method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None/>
                      </a:pPr>
                      <a:r>
                        <a:rPr lang="en-US" sz="1400" b="1" i="0" u="none" strike="noStrike" cap="none">
                          <a:solidFill>
                            <a:srgbClr val="002B49"/>
                          </a:solidFill>
                          <a:latin typeface="Inter"/>
                          <a:ea typeface="Inter"/>
                          <a:cs typeface="Inter"/>
                          <a:sym typeface="Inter"/>
                        </a:rPr>
                        <a:t>EM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None/>
                      </a:pPr>
                      <a:r>
                        <a:rPr lang="en-US" sz="1400" b="1" i="0" u="none" strike="noStrike" cap="none">
                          <a:solidFill>
                            <a:srgbClr val="002B49"/>
                          </a:solidFill>
                          <a:latin typeface="Inter"/>
                          <a:ea typeface="Inter"/>
                          <a:cs typeface="Inter"/>
                          <a:sym typeface="Inter"/>
                        </a:rPr>
                        <a:t>Token F1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None/>
                      </a:pPr>
                      <a:r>
                        <a:rPr lang="en-US" sz="1400" b="1" i="0" u="none" strike="noStrike" cap="none">
                          <a:solidFill>
                            <a:srgbClr val="002B49"/>
                          </a:solidFill>
                          <a:latin typeface="Inter"/>
                          <a:ea typeface="Inter"/>
                          <a:cs typeface="Inter"/>
                          <a:sym typeface="Inter"/>
                        </a:rPr>
                        <a:t>Supp. Recall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ctr" rtl="0">
                        <a:spcBef>
                          <a:spcPts val="0"/>
                        </a:spcBef>
                        <a:spcAft>
                          <a:spcPts val="0"/>
                        </a:spcAft>
                        <a:buNone/>
                      </a:pPr>
                      <a:r>
                        <a:rPr lang="en-US" sz="1400" b="1" i="0" u="none" strike="noStrike" cap="none">
                          <a:solidFill>
                            <a:srgbClr val="002B49"/>
                          </a:solidFill>
                          <a:latin typeface="Inter"/>
                          <a:ea typeface="Inter"/>
                          <a:cs typeface="Inter"/>
                          <a:sym typeface="Inter"/>
                        </a:rPr>
                        <a:t>Ans in Full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
                  </a:ext>
                </a:extLst>
              </a:tr>
              <a:tr h="641333">
                <a:tc>
                  <a:txBody>
                    <a:bodyPr/>
                    <a:lstStyle/>
                    <a:p>
                      <a:pPr marL="0" marR="0" lvl="0" indent="0" algn="ctr" rtl="0">
                        <a:spcBef>
                          <a:spcPts val="0"/>
                        </a:spcBef>
                        <a:spcAft>
                          <a:spcPts val="0"/>
                        </a:spcAft>
                        <a:buNone/>
                      </a:pPr>
                      <a:r>
                        <a:rPr lang="en-US" sz="1600" b="0" i="0" u="none" strike="noStrike" cap="none">
                          <a:solidFill>
                            <a:srgbClr val="1E293B"/>
                          </a:solidFill>
                          <a:latin typeface="Inter"/>
                          <a:ea typeface="Inter"/>
                          <a:cs typeface="Inter"/>
                          <a:sym typeface="Inter"/>
                        </a:rPr>
                        <a:t>Baseline RAG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i="0" u="none" strike="noStrike" cap="none">
                          <a:solidFill>
                            <a:srgbClr val="1E293B"/>
                          </a:solidFill>
                          <a:latin typeface="Inter"/>
                          <a:ea typeface="Inter"/>
                          <a:cs typeface="Inter"/>
                          <a:sym typeface="Inter"/>
                        </a:rPr>
                        <a:t>0.20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i="0" u="none" strike="noStrike" cap="none">
                          <a:solidFill>
                            <a:srgbClr val="1E293B"/>
                          </a:solidFill>
                          <a:latin typeface="Inter"/>
                          <a:ea typeface="Inter"/>
                          <a:cs typeface="Inter"/>
                          <a:sym typeface="Inter"/>
                        </a:rPr>
                        <a:t>0.32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i="0" u="none" strike="noStrike" cap="none">
                          <a:solidFill>
                            <a:srgbClr val="1E293B"/>
                          </a:solidFill>
                          <a:latin typeface="Inter"/>
                          <a:ea typeface="Inter"/>
                          <a:cs typeface="Inter"/>
                          <a:sym typeface="Inter"/>
                        </a:rPr>
                        <a:t>0.35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i="0" u="none" strike="noStrike" cap="none">
                          <a:solidFill>
                            <a:srgbClr val="1E293B"/>
                          </a:solidFill>
                          <a:latin typeface="Inter"/>
                          <a:ea typeface="Inter"/>
                          <a:cs typeface="Inter"/>
                          <a:sym typeface="Inter"/>
                        </a:rPr>
                        <a:t>0.40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2"/>
                  </a:ext>
                </a:extLst>
              </a:tr>
              <a:tr h="641333">
                <a:tc>
                  <a:txBody>
                    <a:bodyPr/>
                    <a:lstStyle/>
                    <a:p>
                      <a:pPr marL="0" marR="0" lvl="0" indent="0" algn="ctr" rtl="0">
                        <a:spcBef>
                          <a:spcPts val="0"/>
                        </a:spcBef>
                        <a:spcAft>
                          <a:spcPts val="0"/>
                        </a:spcAft>
                        <a:buNone/>
                      </a:pPr>
                      <a:r>
                        <a:rPr lang="en-US" sz="1600" b="0" i="0" u="none" strike="noStrike" cap="none">
                          <a:solidFill>
                            <a:srgbClr val="1E293B"/>
                          </a:solidFill>
                          <a:latin typeface="Inter"/>
                          <a:ea typeface="Inter"/>
                          <a:cs typeface="Inter"/>
                          <a:sym typeface="Inter"/>
                        </a:rPr>
                        <a:t>GraphRAG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i="0" u="none" strike="noStrike" cap="none">
                          <a:solidFill>
                            <a:srgbClr val="1E293B"/>
                          </a:solidFill>
                          <a:latin typeface="Inter"/>
                          <a:ea typeface="Inter"/>
                          <a:cs typeface="Inter"/>
                          <a:sym typeface="Inter"/>
                        </a:rPr>
                        <a:t>0.26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i="0" u="none" strike="noStrike" cap="none">
                          <a:solidFill>
                            <a:srgbClr val="1E293B"/>
                          </a:solidFill>
                          <a:latin typeface="Inter"/>
                          <a:ea typeface="Inter"/>
                          <a:cs typeface="Inter"/>
                          <a:sym typeface="Inter"/>
                        </a:rPr>
                        <a:t>0.41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i="0" u="none" strike="noStrike" cap="none">
                          <a:solidFill>
                            <a:srgbClr val="1E293B"/>
                          </a:solidFill>
                          <a:latin typeface="Inter"/>
                          <a:ea typeface="Inter"/>
                          <a:cs typeface="Inter"/>
                          <a:sym typeface="Inter"/>
                        </a:rPr>
                        <a:t>0.45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0" i="0" u="none" strike="noStrike" cap="none">
                          <a:solidFill>
                            <a:srgbClr val="1E293B"/>
                          </a:solidFill>
                          <a:latin typeface="Inter"/>
                          <a:ea typeface="Inter"/>
                          <a:cs typeface="Inter"/>
                          <a:sym typeface="Inter"/>
                        </a:rPr>
                        <a:t>0.58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3"/>
                  </a:ext>
                </a:extLst>
              </a:tr>
              <a:tr h="641367">
                <a:tc>
                  <a:txBody>
                    <a:bodyPr/>
                    <a:lstStyle/>
                    <a:p>
                      <a:pPr marL="0" marR="0" lvl="0" indent="0" algn="ctr" rtl="0">
                        <a:spcBef>
                          <a:spcPts val="0"/>
                        </a:spcBef>
                        <a:spcAft>
                          <a:spcPts val="0"/>
                        </a:spcAft>
                        <a:buNone/>
                      </a:pPr>
                      <a:r>
                        <a:rPr lang="en-US" sz="1600" b="1" i="0" u="none" strike="noStrike" cap="none">
                          <a:solidFill>
                            <a:srgbClr val="1E293B"/>
                          </a:solidFill>
                          <a:latin typeface="Inter"/>
                          <a:ea typeface="Inter"/>
                          <a:cs typeface="Inter"/>
                          <a:sym typeface="Inter"/>
                        </a:rPr>
                        <a:t>GraphRAG + Toposort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FF6FF"/>
                    </a:solidFill>
                  </a:tcPr>
                </a:tc>
                <a:tc>
                  <a:txBody>
                    <a:bodyPr/>
                    <a:lstStyle/>
                    <a:p>
                      <a:pPr marL="0" marR="0" lvl="0" indent="0" algn="ctr" rtl="0">
                        <a:spcBef>
                          <a:spcPts val="0"/>
                        </a:spcBef>
                        <a:spcAft>
                          <a:spcPts val="0"/>
                        </a:spcAft>
                        <a:buNone/>
                      </a:pPr>
                      <a:r>
                        <a:rPr lang="en-US" sz="1600" b="1" i="0" u="none" strike="noStrike" cap="none">
                          <a:solidFill>
                            <a:srgbClr val="1E293B"/>
                          </a:solidFill>
                          <a:latin typeface="Inter"/>
                          <a:ea typeface="Inter"/>
                          <a:cs typeface="Inter"/>
                          <a:sym typeface="Inter"/>
                        </a:rPr>
                        <a:t>0.30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FF6FF"/>
                    </a:solidFill>
                  </a:tcPr>
                </a:tc>
                <a:tc>
                  <a:txBody>
                    <a:bodyPr/>
                    <a:lstStyle/>
                    <a:p>
                      <a:pPr marL="0" marR="0" lvl="0" indent="0" algn="ctr" rtl="0">
                        <a:spcBef>
                          <a:spcPts val="0"/>
                        </a:spcBef>
                        <a:spcAft>
                          <a:spcPts val="0"/>
                        </a:spcAft>
                        <a:buNone/>
                      </a:pPr>
                      <a:r>
                        <a:rPr lang="en-US" sz="1600" b="1" i="0" u="none" strike="noStrike" cap="none">
                          <a:solidFill>
                            <a:srgbClr val="1E293B"/>
                          </a:solidFill>
                          <a:latin typeface="Inter"/>
                          <a:ea typeface="Inter"/>
                          <a:cs typeface="Inter"/>
                          <a:sym typeface="Inter"/>
                        </a:rPr>
                        <a:t>0.46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FF6FF"/>
                    </a:solidFill>
                  </a:tcPr>
                </a:tc>
                <a:tc>
                  <a:txBody>
                    <a:bodyPr/>
                    <a:lstStyle/>
                    <a:p>
                      <a:pPr marL="0" marR="0" lvl="0" indent="0" algn="ctr" rtl="0">
                        <a:spcBef>
                          <a:spcPts val="0"/>
                        </a:spcBef>
                        <a:spcAft>
                          <a:spcPts val="0"/>
                        </a:spcAft>
                        <a:buNone/>
                      </a:pPr>
                      <a:r>
                        <a:rPr lang="en-US" sz="1600" b="1" i="0" u="none" strike="noStrike" cap="none">
                          <a:solidFill>
                            <a:srgbClr val="1E293B"/>
                          </a:solidFill>
                          <a:latin typeface="Inter"/>
                          <a:ea typeface="Inter"/>
                          <a:cs typeface="Inter"/>
                          <a:sym typeface="Inter"/>
                        </a:rPr>
                        <a:t>0.45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FF6FF"/>
                    </a:solidFill>
                  </a:tcPr>
                </a:tc>
                <a:tc>
                  <a:txBody>
                    <a:bodyPr/>
                    <a:lstStyle/>
                    <a:p>
                      <a:pPr marL="0" marR="0" lvl="0" indent="0" algn="ctr" rtl="0">
                        <a:spcBef>
                          <a:spcPts val="0"/>
                        </a:spcBef>
                        <a:spcAft>
                          <a:spcPts val="0"/>
                        </a:spcAft>
                        <a:buNone/>
                      </a:pPr>
                      <a:r>
                        <a:rPr lang="en-US" sz="1600" b="1" i="0" u="none" strike="noStrike" cap="none">
                          <a:solidFill>
                            <a:srgbClr val="1E293B"/>
                          </a:solidFill>
                          <a:latin typeface="Inter"/>
                          <a:ea typeface="Inter"/>
                          <a:cs typeface="Inter"/>
                          <a:sym typeface="Inter"/>
                        </a:rPr>
                        <a:t>0.58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EFF6FF"/>
                    </a:solidFill>
                  </a:tcPr>
                </a:tc>
                <a:extLst>
                  <a:ext uri="{0D108BD9-81ED-4DB2-BD59-A6C34878D82A}">
                    <a16:rowId xmlns:a16="http://schemas.microsoft.com/office/drawing/2014/main" val="4"/>
                  </a:ext>
                </a:extLst>
              </a:tr>
            </a:tbl>
          </a:graphicData>
        </a:graphic>
      </p:graphicFrame>
      <p:sp>
        <p:nvSpPr>
          <p:cNvPr id="520" name="Google Shape;195;p16"/>
          <p:cNvSpPr/>
          <p:nvPr/>
        </p:nvSpPr>
        <p:spPr>
          <a:xfrm>
            <a:off x="762000" y="2794000"/>
            <a:ext cx="3012876" cy="25400"/>
          </a:xfrm>
          <a:prstGeom prst="rect">
            <a:avLst/>
          </a:prstGeom>
          <a:solidFill>
            <a:srgbClr val="002B4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21" name="Google Shape;196;p16"/>
          <p:cNvSpPr/>
          <p:nvPr/>
        </p:nvSpPr>
        <p:spPr>
          <a:xfrm>
            <a:off x="3774876" y="2794000"/>
            <a:ext cx="994369" cy="25400"/>
          </a:xfrm>
          <a:prstGeom prst="rect">
            <a:avLst/>
          </a:prstGeom>
          <a:solidFill>
            <a:srgbClr val="002B4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22" name="Google Shape;197;p16"/>
          <p:cNvSpPr/>
          <p:nvPr/>
        </p:nvSpPr>
        <p:spPr>
          <a:xfrm>
            <a:off x="4769246" y="2794000"/>
            <a:ext cx="1320800" cy="25400"/>
          </a:xfrm>
          <a:prstGeom prst="rect">
            <a:avLst/>
          </a:prstGeom>
          <a:solidFill>
            <a:srgbClr val="002B4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23" name="Google Shape;198;p16"/>
          <p:cNvSpPr/>
          <p:nvPr/>
        </p:nvSpPr>
        <p:spPr>
          <a:xfrm>
            <a:off x="6090046" y="2794000"/>
            <a:ext cx="1706760" cy="25400"/>
          </a:xfrm>
          <a:prstGeom prst="rect">
            <a:avLst/>
          </a:prstGeom>
          <a:solidFill>
            <a:srgbClr val="002B4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24" name="Google Shape;199;p16"/>
          <p:cNvSpPr/>
          <p:nvPr/>
        </p:nvSpPr>
        <p:spPr>
          <a:xfrm>
            <a:off x="7796806" y="2794000"/>
            <a:ext cx="1499592" cy="25400"/>
          </a:xfrm>
          <a:prstGeom prst="rect">
            <a:avLst/>
          </a:prstGeom>
          <a:solidFill>
            <a:srgbClr val="002B4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25" name="Google Shape;200;p16"/>
          <p:cNvSpPr txBox="1"/>
          <p:nvPr/>
        </p:nvSpPr>
        <p:spPr>
          <a:xfrm>
            <a:off x="10452100" y="2006600"/>
            <a:ext cx="5027294" cy="254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00" b="1" i="0" u="none" strike="noStrike" cap="none">
                <a:solidFill>
                  <a:srgbClr val="002B49"/>
                </a:solidFill>
                <a:latin typeface="Inter"/>
                <a:ea typeface="Inter"/>
                <a:cs typeface="Inter"/>
                <a:sym typeface="Inter"/>
              </a:rPr>
              <a:t>H1: Connectivity Gain</a:t>
            </a:r>
            <a:endParaRPr/>
          </a:p>
        </p:txBody>
      </p:sp>
      <p:sp>
        <p:nvSpPr>
          <p:cNvPr id="526" name="Google Shape;201;p16"/>
          <p:cNvSpPr txBox="1"/>
          <p:nvPr/>
        </p:nvSpPr>
        <p:spPr>
          <a:xfrm>
            <a:off x="10121900" y="2362200"/>
            <a:ext cx="5118100" cy="800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00" b="0" i="0" u="none" strike="noStrike" cap="none">
                <a:solidFill>
                  <a:srgbClr val="000000"/>
                </a:solidFill>
                <a:latin typeface="Inter"/>
                <a:ea typeface="Inter"/>
                <a:cs typeface="Inter"/>
                <a:sym typeface="Inter"/>
              </a:rPr>
              <a:t>Knowledge graph bridging will bypass "Semantic Gaps" in vector space, significantly increasing Supporting Document Recall.</a:t>
            </a:r>
            <a:endParaRPr/>
          </a:p>
        </p:txBody>
      </p:sp>
      <p:sp>
        <p:nvSpPr>
          <p:cNvPr id="527" name="Google Shape;202;p16"/>
          <p:cNvSpPr txBox="1"/>
          <p:nvPr/>
        </p:nvSpPr>
        <p:spPr>
          <a:xfrm>
            <a:off x="10452100" y="3924300"/>
            <a:ext cx="5027294" cy="254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00" b="1" i="0" u="none" strike="noStrike" cap="none">
                <a:solidFill>
                  <a:srgbClr val="002B49"/>
                </a:solidFill>
                <a:latin typeface="Inter"/>
                <a:ea typeface="Inter"/>
                <a:cs typeface="Inter"/>
                <a:sym typeface="Inter"/>
              </a:rPr>
              <a:t>H2: Evidence Backfill</a:t>
            </a:r>
            <a:endParaRPr/>
          </a:p>
        </p:txBody>
      </p:sp>
      <p:sp>
        <p:nvSpPr>
          <p:cNvPr id="528" name="Google Shape;203;p16"/>
          <p:cNvSpPr txBox="1"/>
          <p:nvPr/>
        </p:nvSpPr>
        <p:spPr>
          <a:xfrm>
            <a:off x="10121900" y="4279900"/>
            <a:ext cx="5118100" cy="5334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00" b="0" i="0" u="none" strike="noStrike" cap="none">
                <a:solidFill>
                  <a:srgbClr val="000000"/>
                </a:solidFill>
                <a:latin typeface="Inter"/>
                <a:ea typeface="Inter"/>
                <a:cs typeface="Inter"/>
                <a:sym typeface="Inter"/>
              </a:rPr>
              <a:t>Explicit triples will provide "Ghost Evidence" missed by chunk retrieval, boosting the presence of answers in context.</a:t>
            </a:r>
            <a:endParaRPr/>
          </a:p>
        </p:txBody>
      </p:sp>
      <p:sp>
        <p:nvSpPr>
          <p:cNvPr id="529" name="Google Shape;204;p16"/>
          <p:cNvSpPr txBox="1"/>
          <p:nvPr/>
        </p:nvSpPr>
        <p:spPr>
          <a:xfrm>
            <a:off x="10477500" y="5575300"/>
            <a:ext cx="5000624" cy="2540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600" b="1" i="0" u="none" strike="noStrike" cap="none">
                <a:solidFill>
                  <a:srgbClr val="002B49"/>
                </a:solidFill>
                <a:latin typeface="Inter"/>
                <a:ea typeface="Inter"/>
                <a:cs typeface="Inter"/>
                <a:sym typeface="Inter"/>
              </a:rPr>
              <a:t>H3: Ordering Efficiency</a:t>
            </a:r>
            <a:endParaRPr/>
          </a:p>
        </p:txBody>
      </p:sp>
      <p:sp>
        <p:nvSpPr>
          <p:cNvPr id="530" name="Google Shape;205;p16"/>
          <p:cNvSpPr txBox="1"/>
          <p:nvPr/>
        </p:nvSpPr>
        <p:spPr>
          <a:xfrm>
            <a:off x="10121900" y="5930900"/>
            <a:ext cx="5118100" cy="5334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400" b="0" i="0" u="none" strike="noStrike" cap="none">
                <a:solidFill>
                  <a:srgbClr val="000000"/>
                </a:solidFill>
                <a:latin typeface="Inter"/>
                <a:ea typeface="Inter"/>
                <a:cs typeface="Inter"/>
                <a:sym typeface="Inter"/>
              </a:rPr>
              <a:t>Topological sorting aligns context with human reasoning chains, reducing LLM cognitive load and hallucination rates.</a:t>
            </a:r>
            <a:endParaRPr/>
          </a:p>
        </p:txBody>
      </p:sp>
      <p:sp>
        <p:nvSpPr>
          <p:cNvPr id="531" name="Google Shape;206;p16"/>
          <p:cNvSpPr/>
          <p:nvPr/>
        </p:nvSpPr>
        <p:spPr>
          <a:xfrm>
            <a:off x="762000" y="3460749"/>
            <a:ext cx="3012876"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32" name="Google Shape;207;p16"/>
          <p:cNvSpPr/>
          <p:nvPr/>
        </p:nvSpPr>
        <p:spPr>
          <a:xfrm>
            <a:off x="3774876" y="3460749"/>
            <a:ext cx="994369"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33" name="Google Shape;208;p16"/>
          <p:cNvSpPr/>
          <p:nvPr/>
        </p:nvSpPr>
        <p:spPr>
          <a:xfrm>
            <a:off x="4769246" y="3460749"/>
            <a:ext cx="1320800"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34" name="Google Shape;209;p16"/>
          <p:cNvSpPr/>
          <p:nvPr/>
        </p:nvSpPr>
        <p:spPr>
          <a:xfrm>
            <a:off x="6090046" y="3460749"/>
            <a:ext cx="1706760"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35" name="Google Shape;210;p16"/>
          <p:cNvSpPr/>
          <p:nvPr/>
        </p:nvSpPr>
        <p:spPr>
          <a:xfrm>
            <a:off x="7796806" y="3460749"/>
            <a:ext cx="1499592"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36" name="Google Shape;211;p16"/>
          <p:cNvSpPr/>
          <p:nvPr/>
        </p:nvSpPr>
        <p:spPr>
          <a:xfrm>
            <a:off x="762000" y="4108449"/>
            <a:ext cx="3012876"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37" name="Google Shape;212;p16"/>
          <p:cNvSpPr/>
          <p:nvPr/>
        </p:nvSpPr>
        <p:spPr>
          <a:xfrm>
            <a:off x="3774876" y="4108449"/>
            <a:ext cx="994369"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38" name="Google Shape;213;p16"/>
          <p:cNvSpPr/>
          <p:nvPr/>
        </p:nvSpPr>
        <p:spPr>
          <a:xfrm>
            <a:off x="4769246" y="4108449"/>
            <a:ext cx="1320800"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39" name="Google Shape;214;p16"/>
          <p:cNvSpPr/>
          <p:nvPr/>
        </p:nvSpPr>
        <p:spPr>
          <a:xfrm>
            <a:off x="6090046" y="4108449"/>
            <a:ext cx="1706760"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40" name="Google Shape;215;p16"/>
          <p:cNvSpPr/>
          <p:nvPr/>
        </p:nvSpPr>
        <p:spPr>
          <a:xfrm>
            <a:off x="7796806" y="4108449"/>
            <a:ext cx="1499592"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41" name="Google Shape;216;p16"/>
          <p:cNvSpPr/>
          <p:nvPr/>
        </p:nvSpPr>
        <p:spPr>
          <a:xfrm>
            <a:off x="762000" y="4756149"/>
            <a:ext cx="3012876"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42" name="Google Shape;217;p16"/>
          <p:cNvSpPr/>
          <p:nvPr/>
        </p:nvSpPr>
        <p:spPr>
          <a:xfrm>
            <a:off x="3774876" y="4756149"/>
            <a:ext cx="994369"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43" name="Google Shape;218;p16"/>
          <p:cNvSpPr/>
          <p:nvPr/>
        </p:nvSpPr>
        <p:spPr>
          <a:xfrm>
            <a:off x="4769246" y="4756149"/>
            <a:ext cx="1320800"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44" name="Google Shape;219;p16"/>
          <p:cNvSpPr/>
          <p:nvPr/>
        </p:nvSpPr>
        <p:spPr>
          <a:xfrm>
            <a:off x="6090046" y="4756149"/>
            <a:ext cx="1706760"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sp>
        <p:nvSpPr>
          <p:cNvPr id="545" name="Google Shape;220;p16"/>
          <p:cNvSpPr/>
          <p:nvPr/>
        </p:nvSpPr>
        <p:spPr>
          <a:xfrm>
            <a:off x="7796806" y="4756149"/>
            <a:ext cx="1499592" cy="1270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Calibri"/>
              <a:ea typeface="Calibri"/>
              <a:cs typeface="Calibri"/>
              <a:sym typeface="Calibri"/>
            </a:endParaRPr>
          </a:p>
        </p:txBody>
      </p:sp>
      <p:pic>
        <p:nvPicPr>
          <p:cNvPr id="546" name="Google Shape;221;p16" descr="image.png"/>
          <p:cNvPicPr/>
          <p:nvPr/>
        </p:nvPicPr>
        <p:blipFill rotWithShape="1">
          <a:blip r:embed="rId6">
            <a:alphaModFix/>
          </a:blip>
          <a:srcRect/>
          <a:stretch/>
        </p:blipFill>
        <p:spPr>
          <a:xfrm>
            <a:off x="10121900" y="2032000"/>
            <a:ext cx="203200" cy="203200"/>
          </a:xfrm>
          <a:prstGeom prst="rect">
            <a:avLst/>
          </a:prstGeom>
          <a:noFill/>
          <a:ln>
            <a:noFill/>
          </a:ln>
        </p:spPr>
      </p:pic>
      <p:pic>
        <p:nvPicPr>
          <p:cNvPr id="547" name="Google Shape;222;p16" descr="image.png"/>
          <p:cNvPicPr/>
          <p:nvPr/>
        </p:nvPicPr>
        <p:blipFill rotWithShape="1">
          <a:blip r:embed="rId7">
            <a:alphaModFix/>
          </a:blip>
          <a:srcRect/>
          <a:stretch/>
        </p:blipFill>
        <p:spPr>
          <a:xfrm>
            <a:off x="10121900" y="3949700"/>
            <a:ext cx="203200" cy="203200"/>
          </a:xfrm>
          <a:prstGeom prst="rect">
            <a:avLst/>
          </a:prstGeom>
          <a:noFill/>
          <a:ln>
            <a:noFill/>
          </a:ln>
        </p:spPr>
      </p:pic>
      <p:pic>
        <p:nvPicPr>
          <p:cNvPr id="548" name="Google Shape;223;p16" descr="image.png"/>
          <p:cNvPicPr/>
          <p:nvPr/>
        </p:nvPicPr>
        <p:blipFill rotWithShape="1">
          <a:blip r:embed="rId8">
            <a:alphaModFix/>
          </a:blip>
          <a:srcRect/>
          <a:stretch/>
        </p:blipFill>
        <p:spPr>
          <a:xfrm>
            <a:off x="10121900" y="5600700"/>
            <a:ext cx="228600" cy="203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6">
    <p:bg>
      <p:bgPr>
        <a:solidFill>
          <a:srgbClr val="F6F9FC"/>
        </a:solidFill>
        <a:effectLst/>
      </p:bgPr>
    </p:bg>
    <p:spTree>
      <p:nvGrpSpPr>
        <p:cNvPr id="1" name=""/>
        <p:cNvGrpSpPr/>
        <p:nvPr/>
      </p:nvGrpSpPr>
      <p:grpSpPr>
        <a:xfrm>
          <a:off x="0" y="0"/>
          <a:ext cx="0" cy="0"/>
          <a:chOff x="0" y="0"/>
          <a:chExt cx="0" cy="0"/>
        </a:xfrm>
      </p:grpSpPr>
      <p:sp>
        <p:nvSpPr>
          <p:cNvPr id="550" name="Shape 0"/>
          <p:cNvSpPr/>
          <p:nvPr/>
        </p:nvSpPr>
        <p:spPr>
          <a:xfrm>
            <a:off x="0" y="0"/>
            <a:ext cx="76200" cy="9144000"/>
          </a:xfrm>
          <a:prstGeom prst="rect">
            <a:avLst/>
          </a:prstGeom>
          <a:solidFill>
            <a:srgbClr val="1A4A7A"/>
          </a:solidFill>
          <a:ln/>
        </p:spPr>
        <p:txBody>
          <a:bodyPr/>
          <a:lstStyle/>
          <a:p>
            <a:endParaRPr/>
          </a:p>
        </p:txBody>
      </p:sp>
      <p:sp>
        <p:nvSpPr>
          <p:cNvPr id="551" name="Shape 1"/>
          <p:cNvSpPr/>
          <p:nvPr/>
        </p:nvSpPr>
        <p:spPr>
          <a:xfrm>
            <a:off x="0" y="0"/>
            <a:ext cx="16256000" cy="38100"/>
          </a:xfrm>
          <a:prstGeom prst="rect">
            <a:avLst/>
          </a:prstGeom>
          <a:solidFill>
            <a:srgbClr val="1A4A7A"/>
          </a:solidFill>
          <a:ln/>
        </p:spPr>
        <p:txBody>
          <a:bodyPr/>
          <a:lstStyle/>
          <a:p>
            <a:endParaRPr/>
          </a:p>
        </p:txBody>
      </p:sp>
      <p:sp>
        <p:nvSpPr>
          <p:cNvPr id="552" name="Text 2"/>
          <p:cNvSpPr/>
          <p:nvPr/>
        </p:nvSpPr>
        <p:spPr>
          <a:xfrm>
            <a:off x="11430000" y="203200"/>
            <a:ext cx="4318000" cy="279400"/>
          </a:xfrm>
          <a:prstGeom prst="rect">
            <a:avLst/>
          </a:prstGeom>
          <a:noFill/>
          <a:ln/>
        </p:spPr>
        <p:txBody>
          <a:bodyPr wrap="none" lIns="0" tIns="0" rIns="0" bIns="0" rtlCol="0" anchor="ctr"/>
          <a:lstStyle/>
          <a:p>
            <a:pPr algn="r">
              <a:lnSpc>
                <a:spcPct val="100000"/>
              </a:lnSpc>
            </a:pPr>
            <a:r>
              <a:rPr lang="en-US" sz="1200" dirty="0">
                <a:solidFill>
                  <a:srgbClr val="5B9BD5"/>
                </a:solidFill>
                <a:latin typeface="Quattrocento Sans" pitchFamily="34" charset="0"/>
                <a:ea typeface="Quattrocento Sans" pitchFamily="34" charset="-122"/>
                <a:cs typeface="Quattrocento Sans" pitchFamily="34" charset="-120"/>
              </a:rPr>
              <a:t>05 Evaluation Framework</a:t>
            </a:r>
            <a:endParaRPr lang="en-US" sz="1600" dirty="0"/>
          </a:p>
        </p:txBody>
      </p:sp>
      <p:sp>
        <p:nvSpPr>
          <p:cNvPr id="553" name="Text 3"/>
          <p:cNvSpPr/>
          <p:nvPr/>
        </p:nvSpPr>
        <p:spPr>
          <a:xfrm>
            <a:off x="508000" y="304800"/>
            <a:ext cx="10668000" cy="457200"/>
          </a:xfrm>
          <a:prstGeom prst="rect">
            <a:avLst/>
          </a:prstGeom>
          <a:noFill/>
          <a:ln/>
        </p:spPr>
        <p:txBody>
          <a:bodyPr wrap="none" lIns="0" tIns="0" rIns="0" bIns="0" rtlCol="0" anchor="ctr"/>
          <a:lstStyle/>
          <a:p>
            <a:pPr>
              <a:lnSpc>
                <a:spcPct val="100000"/>
              </a:lnSpc>
            </a:pPr>
            <a:r>
              <a:rPr lang="en-US" sz="2600" b="1" dirty="0">
                <a:solidFill>
                  <a:srgbClr val="1A4A7A"/>
                </a:solidFill>
                <a:latin typeface="Quattrocento Sans" pitchFamily="34" charset="0"/>
                <a:ea typeface="Quattrocento Sans" pitchFamily="34" charset="-122"/>
                <a:cs typeface="Quattrocento Sans" pitchFamily="34" charset="-120"/>
              </a:rPr>
              <a:t>Limitations &amp; Next Steps</a:t>
            </a:r>
            <a:endParaRPr lang="en-US" sz="1600" dirty="0"/>
          </a:p>
        </p:txBody>
      </p:sp>
      <p:sp>
        <p:nvSpPr>
          <p:cNvPr id="554" name="Shape 4"/>
          <p:cNvSpPr/>
          <p:nvPr/>
        </p:nvSpPr>
        <p:spPr>
          <a:xfrm>
            <a:off x="508000" y="863600"/>
            <a:ext cx="15240000" cy="12700"/>
          </a:xfrm>
          <a:prstGeom prst="rect">
            <a:avLst/>
          </a:prstGeom>
          <a:solidFill>
            <a:srgbClr val="E0E0E0"/>
          </a:solidFill>
          <a:ln/>
        </p:spPr>
        <p:txBody>
          <a:bodyPr/>
          <a:lstStyle/>
          <a:p>
            <a:endParaRPr/>
          </a:p>
        </p:txBody>
      </p:sp>
      <p:sp>
        <p:nvSpPr>
          <p:cNvPr id="555" name="Shape 5"/>
          <p:cNvSpPr/>
          <p:nvPr/>
        </p:nvSpPr>
        <p:spPr>
          <a:xfrm>
            <a:off x="508000" y="1117600"/>
            <a:ext cx="7302500" cy="533400"/>
          </a:xfrm>
          <a:prstGeom prst="roundRect">
            <a:avLst>
              <a:gd name="adj" fmla="val 4000"/>
            </a:avLst>
          </a:prstGeom>
          <a:solidFill>
            <a:srgbClr val="C62828"/>
          </a:solidFill>
          <a:ln/>
        </p:spPr>
        <p:txBody>
          <a:bodyPr/>
          <a:lstStyle/>
          <a:p>
            <a:endParaRPr/>
          </a:p>
        </p:txBody>
      </p:sp>
      <p:sp>
        <p:nvSpPr>
          <p:cNvPr id="556" name="Text 6"/>
          <p:cNvSpPr/>
          <p:nvPr/>
        </p:nvSpPr>
        <p:spPr>
          <a:xfrm>
            <a:off x="508000" y="1117600"/>
            <a:ext cx="7302500" cy="5334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Current Limitations</a:t>
            </a:r>
            <a:endParaRPr lang="en-US" sz="1600" dirty="0"/>
          </a:p>
        </p:txBody>
      </p:sp>
      <p:sp>
        <p:nvSpPr>
          <p:cNvPr id="557" name="Shape 7"/>
          <p:cNvSpPr/>
          <p:nvPr/>
        </p:nvSpPr>
        <p:spPr>
          <a:xfrm>
            <a:off x="508000" y="1651000"/>
            <a:ext cx="7302500" cy="5842000"/>
          </a:xfrm>
          <a:prstGeom prst="roundRect">
            <a:avLst>
              <a:gd name="adj" fmla="val 4000"/>
            </a:avLst>
          </a:prstGeom>
          <a:solidFill>
            <a:srgbClr val="F5F5F5"/>
          </a:solidFill>
          <a:ln/>
        </p:spPr>
        <p:txBody>
          <a:bodyPr/>
          <a:lstStyle/>
          <a:p>
            <a:endParaRPr/>
          </a:p>
        </p:txBody>
      </p:sp>
      <p:sp>
        <p:nvSpPr>
          <p:cNvPr id="558" name="Text 8"/>
          <p:cNvSpPr/>
          <p:nvPr/>
        </p:nvSpPr>
        <p:spPr>
          <a:xfrm>
            <a:off x="762000" y="1905000"/>
            <a:ext cx="6794500" cy="5334000"/>
          </a:xfrm>
          <a:prstGeom prst="rect">
            <a:avLst/>
          </a:prstGeom>
          <a:noFill/>
          <a:ln/>
        </p:spPr>
        <p:txBody>
          <a:bodyPr wrap="square" lIns="0" tIns="0" rIns="0" bIns="0" rtlCol="0" anchor="ctr"/>
          <a:lstStyle/>
          <a:p>
            <a:pPr>
              <a:lnSpc>
                <a:spcPct val="170000"/>
              </a:lnSpc>
            </a:pPr>
            <a:r>
              <a:rPr lang="en-US" sz="1800" dirty="0">
                <a:solidFill>
                  <a:srgbClr val="2C2C2C"/>
                </a:solidFill>
                <a:latin typeface="Quattrocento Sans" pitchFamily="34" charset="0"/>
                <a:ea typeface="Quattrocento Sans" pitchFamily="34" charset="-122"/>
                <a:cs typeface="Quattrocento Sans" pitchFamily="34" charset="-120"/>
              </a:rPr>
              <a:t>• Graph coverage limited (50K articles, 115K edges)</a:t>
            </a:r>
            <a:endParaRPr lang="en-US" sz="1600" dirty="0"/>
          </a:p>
          <a:p>
            <a:pPr>
              <a:lnSpc>
                <a:spcPct val="170000"/>
              </a:lnSpc>
            </a:pPr>
            <a:r>
              <a:rPr lang="en-US" sz="1800" dirty="0">
                <a:solidFill>
                  <a:srgbClr val="2C2C2C"/>
                </a:solidFill>
                <a:latin typeface="Quattrocento Sans" pitchFamily="34" charset="0"/>
                <a:ea typeface="Quattrocento Sans" pitchFamily="34" charset="-122"/>
                <a:cs typeface="Quattrocento Sans" pitchFamily="34" charset="-120"/>
              </a:rPr>
              <a:t>• GraphRAG uses graph context only, not full graph-guided chunk retrieval</a:t>
            </a:r>
            <a:endParaRPr lang="en-US" sz="1600" dirty="0"/>
          </a:p>
          <a:p>
            <a:pPr>
              <a:lnSpc>
                <a:spcPct val="170000"/>
              </a:lnSpc>
            </a:pPr>
            <a:r>
              <a:rPr lang="en-US" sz="1800" dirty="0">
                <a:solidFill>
                  <a:srgbClr val="2C2C2C"/>
                </a:solidFill>
                <a:latin typeface="Quattrocento Sans" pitchFamily="34" charset="0"/>
                <a:ea typeface="Quattrocento Sans" pitchFamily="34" charset="-122"/>
                <a:cs typeface="Quattrocento Sans" pitchFamily="34" charset="-120"/>
              </a:rPr>
              <a:t>• Full results depend on rebuilt graph quality</a:t>
            </a:r>
            <a:endParaRPr lang="en-US" sz="1600" dirty="0"/>
          </a:p>
          <a:p>
            <a:pPr>
              <a:lnSpc>
                <a:spcPct val="170000"/>
              </a:lnSpc>
            </a:pPr>
            <a:r>
              <a:rPr lang="en-US" sz="1800" dirty="0">
                <a:solidFill>
                  <a:srgbClr val="2C2C2C"/>
                </a:solidFill>
                <a:latin typeface="Quattrocento Sans" pitchFamily="34" charset="0"/>
                <a:ea typeface="Quattrocento Sans" pitchFamily="34" charset="-122"/>
                <a:cs typeface="Quattrocento Sans" pitchFamily="34" charset="-120"/>
              </a:rPr>
              <a:t>• Louvain runs on single machine — not distributed</a:t>
            </a:r>
            <a:endParaRPr lang="en-US" sz="1600" dirty="0"/>
          </a:p>
          <a:p>
            <a:pPr>
              <a:lnSpc>
                <a:spcPct val="170000"/>
              </a:lnSpc>
            </a:pPr>
            <a:r>
              <a:rPr lang="en-US" sz="1800" dirty="0">
                <a:solidFill>
                  <a:srgbClr val="2C2C2C"/>
                </a:solidFill>
                <a:latin typeface="Quattrocento Sans" pitchFamily="34" charset="0"/>
                <a:ea typeface="Quattrocento Sans" pitchFamily="34" charset="-122"/>
                <a:cs typeface="Quattrocento Sans" pitchFamily="34" charset="-120"/>
              </a:rPr>
              <a:t>• Evaluation on local subset, not full HotpotQA</a:t>
            </a:r>
            <a:endParaRPr lang="en-US" sz="1600" dirty="0"/>
          </a:p>
          <a:p>
            <a:pPr>
              <a:lnSpc>
                <a:spcPct val="170000"/>
              </a:lnSpc>
            </a:pPr>
            <a:r>
              <a:rPr lang="en-US" sz="1800" dirty="0">
                <a:solidFill>
                  <a:srgbClr val="2C2C2C"/>
                </a:solidFill>
                <a:latin typeface="Quattrocento Sans" pitchFamily="34" charset="0"/>
                <a:ea typeface="Quattrocento Sans" pitchFamily="34" charset="-122"/>
                <a:cs typeface="Quattrocento Sans" pitchFamily="34" charset="-120"/>
              </a:rPr>
              <a:t>• Expected results are hypotheses, not validated</a:t>
            </a:r>
            <a:endParaRPr lang="en-US" sz="1600" dirty="0"/>
          </a:p>
        </p:txBody>
      </p:sp>
      <p:sp>
        <p:nvSpPr>
          <p:cNvPr id="559" name="Shape 9"/>
          <p:cNvSpPr/>
          <p:nvPr/>
        </p:nvSpPr>
        <p:spPr>
          <a:xfrm>
            <a:off x="8445500" y="1117600"/>
            <a:ext cx="7302500" cy="533400"/>
          </a:xfrm>
          <a:prstGeom prst="roundRect">
            <a:avLst>
              <a:gd name="adj" fmla="val 4000"/>
            </a:avLst>
          </a:prstGeom>
          <a:solidFill>
            <a:srgbClr val="1A4A7A"/>
          </a:solidFill>
          <a:ln/>
        </p:spPr>
        <p:txBody>
          <a:bodyPr/>
          <a:lstStyle/>
          <a:p>
            <a:endParaRPr/>
          </a:p>
        </p:txBody>
      </p:sp>
      <p:sp>
        <p:nvSpPr>
          <p:cNvPr id="560" name="Text 10"/>
          <p:cNvSpPr/>
          <p:nvPr/>
        </p:nvSpPr>
        <p:spPr>
          <a:xfrm>
            <a:off x="8445500" y="1117600"/>
            <a:ext cx="7302500" cy="533400"/>
          </a:xfrm>
          <a:prstGeom prst="rect">
            <a:avLst/>
          </a:prstGeom>
          <a:noFill/>
          <a:ln/>
        </p:spPr>
        <p:txBody>
          <a:bodyPr wrap="none" lIns="0" tIns="0" rIns="0" bIns="0" rtlCol="0" anchor="ctr"/>
          <a:lstStyle/>
          <a:p>
            <a:pPr algn="ctr">
              <a:lnSpc>
                <a:spcPct val="100000"/>
              </a:lnSpc>
            </a:pPr>
            <a:r>
              <a:rPr lang="en-US" sz="1600" b="1" dirty="0">
                <a:solidFill>
                  <a:srgbClr val="FFFFFF"/>
                </a:solidFill>
                <a:latin typeface="Quattrocento Sans" pitchFamily="34" charset="0"/>
                <a:ea typeface="Quattrocento Sans" pitchFamily="34" charset="-122"/>
                <a:cs typeface="Quattrocento Sans" pitchFamily="34" charset="-120"/>
              </a:rPr>
              <a:t>Next Steps</a:t>
            </a:r>
            <a:endParaRPr lang="en-US" sz="1600" dirty="0"/>
          </a:p>
        </p:txBody>
      </p:sp>
      <p:sp>
        <p:nvSpPr>
          <p:cNvPr id="561" name="Shape 11"/>
          <p:cNvSpPr/>
          <p:nvPr/>
        </p:nvSpPr>
        <p:spPr>
          <a:xfrm>
            <a:off x="8445500" y="1651000"/>
            <a:ext cx="7302500" cy="5842000"/>
          </a:xfrm>
          <a:prstGeom prst="roundRect">
            <a:avLst>
              <a:gd name="adj" fmla="val 4000"/>
            </a:avLst>
          </a:prstGeom>
          <a:solidFill>
            <a:srgbClr val="F5F5F5"/>
          </a:solidFill>
          <a:ln/>
        </p:spPr>
        <p:txBody>
          <a:bodyPr/>
          <a:lstStyle/>
          <a:p>
            <a:endParaRPr/>
          </a:p>
        </p:txBody>
      </p:sp>
      <p:sp>
        <p:nvSpPr>
          <p:cNvPr id="562" name="Text 12"/>
          <p:cNvSpPr/>
          <p:nvPr/>
        </p:nvSpPr>
        <p:spPr>
          <a:xfrm>
            <a:off x="8699500" y="1905000"/>
            <a:ext cx="6794500" cy="5334000"/>
          </a:xfrm>
          <a:prstGeom prst="rect">
            <a:avLst/>
          </a:prstGeom>
          <a:noFill/>
          <a:ln/>
        </p:spPr>
        <p:txBody>
          <a:bodyPr wrap="square" lIns="0" tIns="0" rIns="0" bIns="0" rtlCol="0" anchor="ctr"/>
          <a:lstStyle/>
          <a:p>
            <a:pPr>
              <a:lnSpc>
                <a:spcPct val="170000"/>
              </a:lnSpc>
            </a:pPr>
            <a:r>
              <a:rPr lang="en-US" sz="1800" dirty="0">
                <a:solidFill>
                  <a:srgbClr val="2C2C2C"/>
                </a:solidFill>
                <a:latin typeface="Quattrocento Sans" pitchFamily="34" charset="0"/>
                <a:ea typeface="Quattrocento Sans" pitchFamily="34" charset="-122"/>
                <a:cs typeface="Quattrocento Sans" pitchFamily="34" charset="-120"/>
              </a:rPr>
              <a:t>• Run experiments after graph rebuild</a:t>
            </a:r>
            <a:endParaRPr lang="en-US" sz="1600" dirty="0"/>
          </a:p>
          <a:p>
            <a:pPr>
              <a:lnSpc>
                <a:spcPct val="170000"/>
              </a:lnSpc>
            </a:pPr>
            <a:r>
              <a:rPr lang="en-US" sz="1800" dirty="0">
                <a:solidFill>
                  <a:srgbClr val="2C2C2C"/>
                </a:solidFill>
                <a:latin typeface="Quattrocento Sans" pitchFamily="34" charset="0"/>
                <a:ea typeface="Quattrocento Sans" pitchFamily="34" charset="-122"/>
                <a:cs typeface="Quattrocento Sans" pitchFamily="34" charset="-120"/>
              </a:rPr>
              <a:t>• Add 2-hop graph-guided chunk retrieval</a:t>
            </a:r>
            <a:endParaRPr lang="en-US" sz="1600" dirty="0"/>
          </a:p>
          <a:p>
            <a:pPr>
              <a:lnSpc>
                <a:spcPct val="170000"/>
              </a:lnSpc>
            </a:pPr>
            <a:r>
              <a:rPr lang="en-US" sz="1800" dirty="0">
                <a:solidFill>
                  <a:srgbClr val="2C2C2C"/>
                </a:solidFill>
                <a:latin typeface="Quattrocento Sans" pitchFamily="34" charset="0"/>
                <a:ea typeface="Quattrocento Sans" pitchFamily="34" charset="-122"/>
                <a:cs typeface="Quattrocento Sans" pitchFamily="34" charset="-120"/>
              </a:rPr>
              <a:t>• Analyze failure cases by coverage bucket</a:t>
            </a:r>
            <a:endParaRPr lang="en-US" sz="1600" dirty="0"/>
          </a:p>
          <a:p>
            <a:pPr>
              <a:lnSpc>
                <a:spcPct val="170000"/>
              </a:lnSpc>
            </a:pPr>
            <a:r>
              <a:rPr lang="en-US" sz="1800" dirty="0">
                <a:solidFill>
                  <a:srgbClr val="2C2C2C"/>
                </a:solidFill>
                <a:latin typeface="Quattrocento Sans" pitchFamily="34" charset="0"/>
                <a:ea typeface="Quattrocento Sans" pitchFamily="34" charset="-122"/>
                <a:cs typeface="Quattrocento Sans" pitchFamily="34" charset="-120"/>
              </a:rPr>
              <a:t>• Compare answer accuracy and evidence recall</a:t>
            </a:r>
            <a:endParaRPr lang="en-US" sz="1600" dirty="0"/>
          </a:p>
          <a:p>
            <a:pPr>
              <a:lnSpc>
                <a:spcPct val="170000"/>
              </a:lnSpc>
            </a:pPr>
            <a:r>
              <a:rPr lang="en-US" sz="1800" dirty="0">
                <a:solidFill>
                  <a:srgbClr val="2C2C2C"/>
                </a:solidFill>
                <a:latin typeface="Quattrocento Sans" pitchFamily="34" charset="0"/>
                <a:ea typeface="Quattrocento Sans" pitchFamily="34" charset="-122"/>
                <a:cs typeface="Quattrocento Sans" pitchFamily="34" charset="-120"/>
              </a:rPr>
              <a:t>• Migrate Louvain to Spark for scalability</a:t>
            </a:r>
            <a:endParaRPr lang="en-US" sz="1600" dirty="0"/>
          </a:p>
          <a:p>
            <a:pPr>
              <a:lnSpc>
                <a:spcPct val="170000"/>
              </a:lnSpc>
            </a:pPr>
            <a:r>
              <a:rPr lang="en-US" sz="1800" dirty="0">
                <a:solidFill>
                  <a:srgbClr val="2C2C2C"/>
                </a:solidFill>
                <a:latin typeface="Quattrocento Sans" pitchFamily="34" charset="0"/>
                <a:ea typeface="Quattrocento Sans" pitchFamily="34" charset="-122"/>
                <a:cs typeface="Quattrocento Sans" pitchFamily="34" charset="-120"/>
              </a:rPr>
              <a:t>• Expand corpus beyond 50K articles</a:t>
            </a:r>
            <a:endParaRPr lang="en-US" sz="1600" dirty="0"/>
          </a:p>
        </p:txBody>
      </p:sp>
      <p:sp>
        <p:nvSpPr>
          <p:cNvPr id="563" name="Text 14"/>
          <p:cNvSpPr/>
          <p:nvPr/>
        </p:nvSpPr>
        <p:spPr>
          <a:xfrm>
            <a:off x="762000" y="7747000"/>
            <a:ext cx="14732000" cy="635000"/>
          </a:xfrm>
          <a:prstGeom prst="rect">
            <a:avLst/>
          </a:prstGeom>
          <a:noFill/>
          <a:ln/>
        </p:spPr>
        <p:txBody>
          <a:bodyPr wrap="square" lIns="0" tIns="0" rIns="0" bIns="0" rtlCol="0" anchor="ctr"/>
          <a:lstStyle/>
          <a:p>
            <a:pPr>
              <a:lnSpc>
                <a:spcPct val="150000"/>
              </a:lnSpc>
            </a:pPr>
            <a:endParaRPr lang="en-US" sz="1600" b="1">
              <a:solidFill>
                <a:srgbClr val="1A4A7A">
                  <a:alpha val="100000"/>
                </a:srgbClr>
              </a:solidFill>
              <a:latin typeface="Quattrocento Sans"/>
              <a:ea typeface="Quattrocento Sans"/>
              <a:cs typeface="Quattrocento Sans"/>
            </a:endParaRPr>
          </a:p>
        </p:txBody>
      </p:sp>
      <p:sp>
        <p:nvSpPr>
          <p:cNvPr id="564" name="Text 15"/>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5B9BD5"/>
                </a:solidFill>
                <a:latin typeface="Quattrocento Sans" pitchFamily="34" charset="0"/>
                <a:ea typeface="Quattrocento Sans" pitchFamily="34" charset="-122"/>
                <a:cs typeface="Quattrocento Sans" pitchFamily="34" charset="-120"/>
              </a:rPr>
              <a:t>36</a:t>
            </a:r>
            <a:endParaRPr lang="en-US" sz="1600" dirty="0"/>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7">
    <p:bg>
      <p:bgPr>
        <a:solidFill>
          <a:srgbClr val="F6F9FC"/>
        </a:solidFill>
        <a:effectLst/>
      </p:bgPr>
    </p:bg>
    <p:spTree>
      <p:nvGrpSpPr>
        <p:cNvPr id="1" name=""/>
        <p:cNvGrpSpPr/>
        <p:nvPr/>
      </p:nvGrpSpPr>
      <p:grpSpPr>
        <a:xfrm>
          <a:off x="0" y="0"/>
          <a:ext cx="0" cy="0"/>
          <a:chOff x="0" y="0"/>
          <a:chExt cx="0" cy="0"/>
        </a:xfrm>
      </p:grpSpPr>
      <p:sp>
        <p:nvSpPr>
          <p:cNvPr id="566" name="Shape 0"/>
          <p:cNvSpPr/>
          <p:nvPr/>
        </p:nvSpPr>
        <p:spPr>
          <a:xfrm>
            <a:off x="0" y="0"/>
            <a:ext cx="76200" cy="9144000"/>
          </a:xfrm>
          <a:prstGeom prst="rect">
            <a:avLst/>
          </a:prstGeom>
          <a:solidFill>
            <a:srgbClr val="1A4A7A"/>
          </a:solidFill>
          <a:ln/>
        </p:spPr>
        <p:txBody>
          <a:bodyPr/>
          <a:lstStyle/>
          <a:p>
            <a:endParaRPr/>
          </a:p>
        </p:txBody>
      </p:sp>
      <p:sp>
        <p:nvSpPr>
          <p:cNvPr id="567" name="Shape 1"/>
          <p:cNvSpPr/>
          <p:nvPr/>
        </p:nvSpPr>
        <p:spPr>
          <a:xfrm>
            <a:off x="0" y="5842000"/>
            <a:ext cx="16256000" cy="3302000"/>
          </a:xfrm>
          <a:prstGeom prst="rect">
            <a:avLst/>
          </a:prstGeom>
          <a:solidFill>
            <a:srgbClr val="1A4A7A"/>
          </a:solidFill>
          <a:ln/>
        </p:spPr>
        <p:txBody>
          <a:bodyPr/>
          <a:lstStyle/>
          <a:p>
            <a:endParaRPr/>
          </a:p>
        </p:txBody>
      </p:sp>
      <p:sp>
        <p:nvSpPr>
          <p:cNvPr id="568" name="Text 2"/>
          <p:cNvSpPr/>
          <p:nvPr/>
        </p:nvSpPr>
        <p:spPr>
          <a:xfrm>
            <a:off x="1016000" y="1270000"/>
            <a:ext cx="13970000" cy="1219200"/>
          </a:xfrm>
          <a:prstGeom prst="rect">
            <a:avLst/>
          </a:prstGeom>
          <a:noFill/>
          <a:ln/>
        </p:spPr>
        <p:txBody>
          <a:bodyPr wrap="none" lIns="0" tIns="0" rIns="0" bIns="0" rtlCol="0" anchor="ctr"/>
          <a:lstStyle/>
          <a:p>
            <a:pPr>
              <a:lnSpc>
                <a:spcPct val="100000"/>
              </a:lnSpc>
            </a:pPr>
            <a:r>
              <a:rPr lang="en-US" sz="7200" b="1" dirty="0">
                <a:solidFill>
                  <a:srgbClr val="1A4A7A"/>
                </a:solidFill>
                <a:latin typeface="Quattrocento Sans" pitchFamily="34" charset="0"/>
                <a:ea typeface="Quattrocento Sans" pitchFamily="34" charset="-122"/>
                <a:cs typeface="Quattrocento Sans" pitchFamily="34" charset="-120"/>
              </a:rPr>
              <a:t>Conclusion</a:t>
            </a:r>
            <a:endParaRPr lang="en-US" sz="1600" dirty="0"/>
          </a:p>
        </p:txBody>
      </p:sp>
      <p:sp>
        <p:nvSpPr>
          <p:cNvPr id="569" name="Text 3"/>
          <p:cNvSpPr/>
          <p:nvPr/>
        </p:nvSpPr>
        <p:spPr>
          <a:xfrm>
            <a:off x="1016000" y="2616200"/>
            <a:ext cx="11430000" cy="406400"/>
          </a:xfrm>
          <a:prstGeom prst="rect">
            <a:avLst/>
          </a:prstGeom>
          <a:noFill/>
          <a:ln/>
        </p:spPr>
        <p:txBody>
          <a:bodyPr wrap="none" lIns="0" tIns="0" rIns="0" bIns="0" rtlCol="0" anchor="ctr"/>
          <a:lstStyle/>
          <a:p>
            <a:pPr>
              <a:lnSpc>
                <a:spcPct val="100000"/>
              </a:lnSpc>
            </a:pPr>
            <a:r>
              <a:rPr lang="en-US" sz="2000" kern="0" spc="500" dirty="0">
                <a:solidFill>
                  <a:srgbClr val="5B9BD5"/>
                </a:solidFill>
                <a:latin typeface="Quattrocento Sans" pitchFamily="34" charset="0"/>
                <a:ea typeface="Quattrocento Sans" pitchFamily="34" charset="-122"/>
                <a:cs typeface="Quattrocento Sans" pitchFamily="34" charset="-120"/>
              </a:rPr>
              <a:t>THANK YOU FOR YOUR ATTENTION</a:t>
            </a:r>
            <a:endParaRPr lang="en-US" sz="1600" dirty="0"/>
          </a:p>
        </p:txBody>
      </p:sp>
      <p:sp>
        <p:nvSpPr>
          <p:cNvPr id="570" name="Shape 4"/>
          <p:cNvSpPr/>
          <p:nvPr/>
        </p:nvSpPr>
        <p:spPr>
          <a:xfrm>
            <a:off x="1016000" y="3251200"/>
            <a:ext cx="14224000" cy="12700"/>
          </a:xfrm>
          <a:prstGeom prst="rect">
            <a:avLst/>
          </a:prstGeom>
          <a:solidFill>
            <a:srgbClr val="E0E0E0"/>
          </a:solidFill>
          <a:ln/>
        </p:spPr>
        <p:txBody>
          <a:bodyPr/>
          <a:lstStyle/>
          <a:p>
            <a:endParaRPr/>
          </a:p>
        </p:txBody>
      </p:sp>
      <p:sp>
        <p:nvSpPr>
          <p:cNvPr id="571" name="Text 5"/>
          <p:cNvSpPr/>
          <p:nvPr/>
        </p:nvSpPr>
        <p:spPr>
          <a:xfrm>
            <a:off x="1016000" y="3530600"/>
            <a:ext cx="13970000" cy="2159000"/>
          </a:xfrm>
          <a:prstGeom prst="rect">
            <a:avLst/>
          </a:prstGeom>
          <a:noFill/>
          <a:ln/>
        </p:spPr>
        <p:txBody>
          <a:bodyPr wrap="square" lIns="0" tIns="0" rIns="0" bIns="0" rtlCol="0" anchor="ctr"/>
          <a:lstStyle/>
          <a:p>
            <a:pPr>
              <a:lnSpc>
                <a:spcPct val="160000"/>
              </a:lnSpc>
            </a:pPr>
            <a:r>
              <a:rPr lang="en-US" sz="1600" dirty="0">
                <a:solidFill>
                  <a:srgbClr val="2C2C2C"/>
                </a:solidFill>
                <a:latin typeface="Quattrocento Sans" pitchFamily="34" charset="0"/>
                <a:ea typeface="Quattrocento Sans" pitchFamily="34" charset="-122"/>
                <a:cs typeface="Quattrocento Sans" pitchFamily="34" charset="-120"/>
              </a:rPr>
              <a:t>• Built a scalable GraphRAG / Hybrid Retrieval system on Apache Spark</a:t>
            </a:r>
            <a:endParaRPr lang="en-US" sz="1600" dirty="0"/>
          </a:p>
          <a:p>
            <a:pPr>
              <a:lnSpc>
                <a:spcPct val="160000"/>
              </a:lnSpc>
            </a:pPr>
            <a:r>
              <a:rPr lang="en-US" sz="1600" dirty="0">
                <a:solidFill>
                  <a:srgbClr val="2C2C2C"/>
                </a:solidFill>
                <a:latin typeface="Quattrocento Sans" pitchFamily="34" charset="0"/>
                <a:ea typeface="Quattrocento Sans" pitchFamily="34" charset="-122"/>
                <a:cs typeface="Quattrocento Sans" pitchFamily="34" charset="-120"/>
              </a:rPr>
              <a:t>• Integrated Wikipedia + DBpedia dual-source KG (153K nodes, 115K edges)</a:t>
            </a:r>
            <a:endParaRPr lang="en-US" sz="1600" dirty="0"/>
          </a:p>
          <a:p>
            <a:pPr>
              <a:lnSpc>
                <a:spcPct val="160000"/>
              </a:lnSpc>
            </a:pPr>
            <a:r>
              <a:rPr lang="en-US" sz="1600" dirty="0">
                <a:solidFill>
                  <a:srgbClr val="2C2C2C"/>
                </a:solidFill>
                <a:latin typeface="Quattrocento Sans" pitchFamily="34" charset="0"/>
                <a:ea typeface="Quattrocento Sans" pitchFamily="34" charset="-122"/>
                <a:cs typeface="Quattrocento Sans" pitchFamily="34" charset="-120"/>
              </a:rPr>
              <a:t>• Applied PageRank + Louvain for topology-aware ranking and community expansion</a:t>
            </a:r>
            <a:endParaRPr lang="en-US" sz="1600" dirty="0"/>
          </a:p>
          <a:p>
            <a:pPr>
              <a:lnSpc>
                <a:spcPct val="160000"/>
              </a:lnSpc>
            </a:pPr>
            <a:r>
              <a:rPr lang="en-US" sz="1600" dirty="0">
                <a:solidFill>
                  <a:srgbClr val="2C2C2C"/>
                </a:solidFill>
                <a:latin typeface="Quattrocento Sans" pitchFamily="34" charset="0"/>
                <a:ea typeface="Quattrocento Sans" pitchFamily="34" charset="-122"/>
                <a:cs typeface="Quattrocento Sans" pitchFamily="34" charset="-120"/>
              </a:rPr>
              <a:t>• Designed graph-guided retrieval: graph produces paths, evidence chunks are primary context</a:t>
            </a:r>
            <a:endParaRPr lang="en-US" sz="1600" dirty="0"/>
          </a:p>
          <a:p>
            <a:pPr>
              <a:lnSpc>
                <a:spcPct val="160000"/>
              </a:lnSpc>
            </a:pPr>
            <a:r>
              <a:rPr lang="en-US" sz="1600" dirty="0">
                <a:solidFill>
                  <a:srgbClr val="2C2C2C"/>
                </a:solidFill>
                <a:latin typeface="Quattrocento Sans" pitchFamily="34" charset="0"/>
                <a:ea typeface="Quattrocento Sans" pitchFamily="34" charset="-122"/>
                <a:cs typeface="Quattrocento Sans" pitchFamily="34" charset="-120"/>
              </a:rPr>
              <a:t>• Established reproducible HotpotQA-based local benchmark for controlled ablation study</a:t>
            </a:r>
            <a:endParaRPr lang="en-US" sz="1600" dirty="0"/>
          </a:p>
        </p:txBody>
      </p:sp>
      <p:sp>
        <p:nvSpPr>
          <p:cNvPr id="572" name="Text 6"/>
          <p:cNvSpPr/>
          <p:nvPr/>
        </p:nvSpPr>
        <p:spPr>
          <a:xfrm>
            <a:off x="1016000" y="6070600"/>
            <a:ext cx="10160000" cy="711200"/>
          </a:xfrm>
          <a:prstGeom prst="rect">
            <a:avLst/>
          </a:prstGeom>
          <a:noFill/>
          <a:ln/>
        </p:spPr>
        <p:txBody>
          <a:bodyPr wrap="none" lIns="0" tIns="0" rIns="0" bIns="0" rtlCol="0" anchor="ctr"/>
          <a:lstStyle/>
          <a:p>
            <a:pPr>
              <a:lnSpc>
                <a:spcPct val="100000"/>
              </a:lnSpc>
            </a:pPr>
            <a:r>
              <a:rPr lang="en-US" sz="3600" dirty="0">
                <a:solidFill>
                  <a:srgbClr val="FFFFFF"/>
                </a:solidFill>
                <a:latin typeface="Quattrocento Sans" pitchFamily="34" charset="0"/>
                <a:ea typeface="Quattrocento Sans" pitchFamily="34" charset="-122"/>
                <a:cs typeface="Quattrocento Sans" pitchFamily="34" charset="-120"/>
              </a:rPr>
              <a:t>Q &amp; A</a:t>
            </a:r>
            <a:endParaRPr lang="en-US" sz="1600" dirty="0"/>
          </a:p>
        </p:txBody>
      </p:sp>
      <p:sp>
        <p:nvSpPr>
          <p:cNvPr id="573" name="Text 7"/>
          <p:cNvSpPr/>
          <p:nvPr/>
        </p:nvSpPr>
        <p:spPr>
          <a:xfrm>
            <a:off x="1016000" y="6908800"/>
            <a:ext cx="10160000" cy="355600"/>
          </a:xfrm>
          <a:prstGeom prst="rect">
            <a:avLst/>
          </a:prstGeom>
          <a:noFill/>
          <a:ln/>
        </p:spPr>
        <p:txBody>
          <a:bodyPr wrap="none" lIns="0" tIns="0" rIns="0" bIns="0" rtlCol="0" anchor="ctr"/>
          <a:lstStyle/>
          <a:p>
            <a:pPr>
              <a:lnSpc>
                <a:spcPct val="10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Questions &amp; Discussion</a:t>
            </a:r>
            <a:endParaRPr lang="en-US" sz="1600" dirty="0"/>
          </a:p>
        </p:txBody>
      </p:sp>
      <p:sp>
        <p:nvSpPr>
          <p:cNvPr id="574" name="Text 8"/>
          <p:cNvSpPr/>
          <p:nvPr/>
        </p:nvSpPr>
        <p:spPr>
          <a:xfrm>
            <a:off x="15240000" y="8636000"/>
            <a:ext cx="635000" cy="304800"/>
          </a:xfrm>
          <a:prstGeom prst="rect">
            <a:avLst/>
          </a:prstGeom>
          <a:noFill/>
          <a:ln/>
        </p:spPr>
        <p:txBody>
          <a:bodyPr wrap="none" lIns="0" tIns="0" rIns="0" bIns="0" rtlCol="0" anchor="ctr"/>
          <a:lstStyle/>
          <a:p>
            <a:pPr algn="r">
              <a:lnSpc>
                <a:spcPct val="100000"/>
              </a:lnSpc>
            </a:pPr>
            <a:r>
              <a:rPr lang="en-US" sz="1400" dirty="0">
                <a:solidFill>
                  <a:srgbClr val="FFFFFF">
                    <a:alpha val="53333"/>
                  </a:srgbClr>
                </a:solidFill>
                <a:latin typeface="Quattrocento Sans" pitchFamily="34" charset="0"/>
                <a:ea typeface="Quattrocento Sans" pitchFamily="34" charset="-122"/>
                <a:cs typeface="Quattrocento Sans" pitchFamily="34" charset="-120"/>
              </a:rPr>
              <a:t>37</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2959</Words>
  <Application>Microsoft Macintosh PowerPoint</Application>
  <PresentationFormat>自訂</PresentationFormat>
  <Paragraphs>426</Paragraphs>
  <Slides>32</Slides>
  <Notes>27</Notes>
  <HiddenSlides>0</HiddenSlides>
  <MMClips>0</MMClips>
  <ScaleCrop>false</ScaleCrop>
  <HeadingPairs>
    <vt:vector size="6" baseType="variant">
      <vt:variant>
        <vt:lpstr>使用字型</vt:lpstr>
      </vt:variant>
      <vt:variant>
        <vt:i4>6</vt:i4>
      </vt:variant>
      <vt:variant>
        <vt:lpstr>佈景主題</vt:lpstr>
      </vt:variant>
      <vt:variant>
        <vt:i4>2</vt:i4>
      </vt:variant>
      <vt:variant>
        <vt:lpstr>投影片標題</vt:lpstr>
      </vt:variant>
      <vt:variant>
        <vt:i4>32</vt:i4>
      </vt:variant>
    </vt:vector>
  </HeadingPairs>
  <TitlesOfParts>
    <vt:vector size="40" baseType="lpstr">
      <vt:lpstr>等线</vt:lpstr>
      <vt:lpstr>Inter</vt:lpstr>
      <vt:lpstr>Inter SemiBold</vt:lpstr>
      <vt:lpstr>Arial</vt:lpstr>
      <vt:lpstr>Calibri</vt:lpstr>
      <vt:lpstr>Quattrocento Sans</vt:lpstr>
      <vt:lpstr>Custom Theme</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Jennia Hu</cp:lastModifiedBy>
  <cp:revision>6</cp:revision>
  <dcterms:created xsi:type="dcterms:W3CDTF">2026-04-27T23:51:47Z</dcterms:created>
  <dcterms:modified xsi:type="dcterms:W3CDTF">2026-04-28T03:39:15Z</dcterms:modified>
</cp:coreProperties>
</file>